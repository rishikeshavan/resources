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5143500" cx="9144000"/>
  <p:notesSz cx="6858000" cy="9144000"/>
  <p:embeddedFontLst>
    <p:embeddedFont>
      <p:font typeface="Inconsolata"/>
      <p:regular r:id="rId28"/>
      <p:bold r:id="rId29"/>
    </p:embeddedFont>
    <p:embeddedFont>
      <p:font typeface="Montserrat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Inconsolata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Inconsolata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ontserrat-bold.fntdata"/><Relationship Id="rId30" Type="http://schemas.openxmlformats.org/officeDocument/2006/relationships/font" Target="fonts/Montserrat-regular.fntdata"/><Relationship Id="rId11" Type="http://schemas.openxmlformats.org/officeDocument/2006/relationships/slide" Target="slides/slide7.xml"/><Relationship Id="rId33" Type="http://schemas.openxmlformats.org/officeDocument/2006/relationships/font" Target="fonts/Montserrat-boldItalic.fntdata"/><Relationship Id="rId10" Type="http://schemas.openxmlformats.org/officeDocument/2006/relationships/slide" Target="slides/slide6.xml"/><Relationship Id="rId32" Type="http://schemas.openxmlformats.org/officeDocument/2006/relationships/font" Target="fonts/Montserrat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c4e07dad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c4e07dad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3ce15dbd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3ce15dbd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3ce15dbd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3ce15dbd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3ce15dbd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3ce15dbd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3ce15dbd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3ce15dbd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3ce15dbd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3ce15dbd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3ce15dbd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3ce15dbd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3ce15dbd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3ce15dbd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2ade95b7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2ade95b7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3ce15dbd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3ce15dbd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3ce15dbd3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3ce15dbd3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3ce15dbd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23ce15dbd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3ce15dbd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3ce15dbd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3ce15dbd3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3ce15dbd3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3ce15dbd3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3ce15dbd3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3ce15dbd3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3ce15dbd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23ce15dbd3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23ce15dbd3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3ce15dbd3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23ce15dbd3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23ce15dbd3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23ce15dbd3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23ce15dbd3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23ce15dbd3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3ce15dbd3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3ce15dbd3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23ce15dbd3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23ce15dbd3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Stock Market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Capstone Project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Welcome to your first large project!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project will guide you through using all the skills we’ve covered in the first half of the course.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7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Everything you need is located under the folder: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Stock-Market-Analysis-Capstone-Project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is an exercise notebook and a solutions notebook, as well as csv files for you to use.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87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 that this project exercise is optional.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You can treat it as an exercise or jump to the solutions lecture and treat it as a code along project!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152475"/>
            <a:ext cx="87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a few bonus tasks (such as the candlestick visualization) that require exploring the documentation, feel free to skip these.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7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Another major part of this project is to slowly introduce a few new financial concepts, basic things like returns and cumulative daily returns.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7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methods for these financial analysis techniques are described thoroughly in the notebooks, so quite a bit of reading will be involved with this project to make it a full learning experience!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7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One last note, the notebook will want you to use pandas-datareader, however, some geographical locations, firewalls, or computer settings may limit your use of pandas-datareader, so all csv files are provided just in case!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7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the exercise notebook so you can decide how you would like to approach the project!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ctrTitle"/>
          </p:nvPr>
        </p:nvSpPr>
        <p:spPr>
          <a:xfrm>
            <a:off x="311708" y="15454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Stock Market Analysis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Solutions Part Four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311700" y="1152475"/>
            <a:ext cx="87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last part of the project focuses on cumulative returns, let’s discuss what that actually means!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3" name="Google Shape;143;p2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4" name="Google Shape;144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152475"/>
            <a:ext cx="87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cumulative return is the aggregate amount an investment has gained or lost over time, independent of the period of time involved. 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1" name="Google Shape;151;p2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2" name="Google Shape;152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6"/>
          <p:cNvSpPr txBox="1"/>
          <p:nvPr>
            <p:ph idx="1" type="body"/>
          </p:nvPr>
        </p:nvSpPr>
        <p:spPr>
          <a:xfrm>
            <a:off x="311700" y="1152475"/>
            <a:ext cx="87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is different than just the stock price at the current day, because it will take into account the daily returns. 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Keep in mind, our simple calculation here won't take into account stocks that give back a dividend.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9" name="Google Shape;159;p26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0" name="Google Shape;160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152475"/>
            <a:ext cx="87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Lets us say there is a stock 'ABC' that is being actively traded on an exchange. 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ABC has the following prices corresponding to the dates given…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26670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1600"/>
              </a:spcAft>
              <a:buNone/>
            </a:pPr>
            <a:r>
              <a:t/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7" name="Google Shape;167;p27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8" name="Google Shape;168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7"/>
          <p:cNvSpPr txBox="1"/>
          <p:nvPr>
            <p:ph idx="1" type="body"/>
          </p:nvPr>
        </p:nvSpPr>
        <p:spPr>
          <a:xfrm>
            <a:off x="3061450" y="3243275"/>
            <a:ext cx="4920600" cy="18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6670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Date                        Price</a:t>
            </a:r>
            <a:br>
              <a:rPr lang="en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01/01/2018                   10</a:t>
            </a:r>
            <a:br>
              <a:rPr lang="en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01/02/2018                   15</a:t>
            </a:r>
            <a:br>
              <a:rPr lang="en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01/03/2018                   20</a:t>
            </a:r>
            <a:br>
              <a:rPr lang="en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">
                <a:solidFill>
                  <a:schemeClr val="dk1"/>
                </a:solidFill>
                <a:highlight>
                  <a:srgbClr val="FFFFFF"/>
                </a:highlight>
              </a:rPr>
              <a:t>01/04/2018                   25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311700" y="1152475"/>
            <a:ext cx="87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Daily Return : Daily return is the profit/loss made by the stock compared to the previous day. 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 value above one indicates profit, similarly a value below one indicates loss. 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76" name="Google Shape;176;p28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7" name="Google Shape;177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9"/>
          <p:cNvSpPr txBox="1"/>
          <p:nvPr>
            <p:ph idx="1" type="body"/>
          </p:nvPr>
        </p:nvSpPr>
        <p:spPr>
          <a:xfrm>
            <a:off x="311700" y="1152475"/>
            <a:ext cx="87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also expressed in percentage to convey the information better. 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When expressed as percentage, if the value is above 0, the stock has given you profit otherwise it is a loss. 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4" name="Google Shape;184;p29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5" name="Google Shape;185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311700" y="1152475"/>
            <a:ext cx="87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Date                         Daily Return                  %Daily Return</a:t>
            </a:r>
            <a:b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</a:b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01/01/2018                 10/10 =  1                          -   </a:t>
            </a:r>
            <a:b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</a:b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01/02/2018                 15/10 =  3/2                       50%</a:t>
            </a:r>
            <a:b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</a:b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01/03/2018                 20/15 =  4/3                       33%</a:t>
            </a:r>
            <a:b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</a:br>
            <a:r>
              <a:rPr lang="en" sz="21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01/04/2018                 25/20 =  5/4                       20%</a:t>
            </a:r>
            <a:endParaRPr sz="21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2" name="Google Shape;192;p30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3" name="Google Shape;193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311700" y="1152475"/>
            <a:ext cx="87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Cumulative Return: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○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While daily returns are useful, it doesn't give the investor an immediate insight into the gains he or she had made till date, especially if the stock is very volatile.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0" name="Google Shape;200;p31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1" name="Google Shape;201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32"/>
          <p:cNvSpPr txBox="1"/>
          <p:nvPr>
            <p:ph idx="1" type="body"/>
          </p:nvPr>
        </p:nvSpPr>
        <p:spPr>
          <a:xfrm>
            <a:off x="311700" y="1152475"/>
            <a:ext cx="87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Cumulative return is computed relative to the day investment is made. 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If cumulative return is above one, you are making profits else you are in loss.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8" name="Google Shape;208;p32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9" name="Google Shape;209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33"/>
          <p:cNvSpPr txBox="1"/>
          <p:nvPr>
            <p:ph idx="1" type="body"/>
          </p:nvPr>
        </p:nvSpPr>
        <p:spPr>
          <a:xfrm>
            <a:off x="311700" y="1152475"/>
            <a:ext cx="8832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Date                       Cumulative Return         %Cumulative Return</a:t>
            </a:r>
            <a:b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</a:b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01/01/2018                  10/10 =  1                         100 %   </a:t>
            </a:r>
            <a:b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</a:b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01/02/2018                  15/10 =  3/2                      150 %</a:t>
            </a:r>
            <a:b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</a:b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01/03/2018                  20/10 =  2                         200 %</a:t>
            </a:r>
            <a:b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</a:br>
            <a:r>
              <a:rPr lang="en" sz="2000">
                <a:solidFill>
                  <a:schemeClr val="dk1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01/04/2018                  25/10 =  5/2                      250 %</a:t>
            </a:r>
            <a:endParaRPr sz="2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6" name="Google Shape;216;p33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7" name="Google Shape;217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34"/>
          <p:cNvSpPr txBox="1"/>
          <p:nvPr>
            <p:ph idx="1" type="body"/>
          </p:nvPr>
        </p:nvSpPr>
        <p:spPr>
          <a:xfrm>
            <a:off x="311700" y="1152475"/>
            <a:ext cx="87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formula for a cumulative daily return is: </a:t>
            </a:r>
            <a:r>
              <a:rPr b="1" lang="en" sz="2350">
                <a:solidFill>
                  <a:schemeClr val="dk1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</a:t>
            </a:r>
            <a:r>
              <a:rPr b="1" lang="en" sz="1650">
                <a:solidFill>
                  <a:schemeClr val="dk1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i</a:t>
            </a:r>
            <a:r>
              <a:rPr b="1" lang="en" sz="2350">
                <a:solidFill>
                  <a:schemeClr val="dk1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=(1+r</a:t>
            </a:r>
            <a:r>
              <a:rPr b="1" lang="en" sz="1650">
                <a:solidFill>
                  <a:schemeClr val="dk1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t</a:t>
            </a:r>
            <a:r>
              <a:rPr b="1" lang="en" sz="2350">
                <a:solidFill>
                  <a:schemeClr val="dk1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)∗i</a:t>
            </a:r>
            <a:r>
              <a:rPr b="1" lang="en" sz="1650">
                <a:solidFill>
                  <a:schemeClr val="dk1"/>
                </a:solidFill>
                <a:highlight>
                  <a:srgbClr val="FFFFFF"/>
                </a:highlight>
                <a:latin typeface="Inconsolata"/>
                <a:ea typeface="Inconsolata"/>
                <a:cs typeface="Inconsolata"/>
                <a:sym typeface="Inconsolata"/>
              </a:rPr>
              <a:t>t−1</a:t>
            </a:r>
            <a:endParaRPr b="1" sz="1650">
              <a:solidFill>
                <a:schemeClr val="dk1"/>
              </a:solidFill>
              <a:highlight>
                <a:srgbClr val="FFFFFF"/>
              </a:highlight>
              <a:latin typeface="Inconsolata"/>
              <a:ea typeface="Inconsolata"/>
              <a:cs typeface="Inconsolata"/>
              <a:sym typeface="Inconsolata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Here we can see we are just multiplying our previous investment at i at t-1 by 1+our percent returns.</a:t>
            </a:r>
            <a:endParaRPr sz="3000">
              <a:solidFill>
                <a:srgbClr val="434343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Pandas makes this very simple to calculate with its cumprod() method.</a:t>
            </a:r>
            <a:r>
              <a:rPr b="1" lang="en" sz="3000">
                <a:solidFill>
                  <a:schemeClr val="dk1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 sz="30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4" name="Google Shape;224;p34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5" name="Google Shape;225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Python for Finance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35"/>
          <p:cNvSpPr txBox="1"/>
          <p:nvPr>
            <p:ph idx="1" type="body"/>
          </p:nvPr>
        </p:nvSpPr>
        <p:spPr>
          <a:xfrm>
            <a:off x="311700" y="1152475"/>
            <a:ext cx="8708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Font typeface="Montserrat"/>
              <a:buChar char="●"/>
            </a:pPr>
            <a:r>
              <a:rPr lang="en" sz="30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jump to the jupyter notebook and code through this!</a:t>
            </a:r>
            <a:endParaRPr sz="30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2" name="Google Shape;232;p35"/>
          <p:cNvPicPr preferRelativeResize="0"/>
          <p:nvPr/>
        </p:nvPicPr>
        <p:blipFill rotWithShape="1">
          <a:blip r:embed="rId3">
            <a:alphaModFix/>
          </a:blip>
          <a:srcRect b="38251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3" name="Google Shape;233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