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Lst>
  <p:sldSz cy="5143500" cx="9144000"/>
  <p:notesSz cx="6858000" cy="9144000"/>
  <p:embeddedFontLst>
    <p:embeddedFont>
      <p:font typeface="Montserrat"/>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font" Target="fonts/Montserrat-boldItalic.fntdata"/><Relationship Id="rId70" Type="http://schemas.openxmlformats.org/officeDocument/2006/relationships/font" Target="fonts/Montserrat-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font" Target="fonts/Montserrat-regular.fntdata"/><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Montserrat-bold.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 name="Shape 58"/>
        <p:cNvGrpSpPr/>
        <p:nvPr/>
      </p:nvGrpSpPr>
      <p:grpSpPr>
        <a:xfrm>
          <a:off x="0" y="0"/>
          <a:ext cx="0" cy="0"/>
          <a:chOff x="0" y="0"/>
          <a:chExt cx="0" cy="0"/>
        </a:xfrm>
      </p:grpSpPr>
      <p:sp>
        <p:nvSpPr>
          <p:cNvPr id="59" name="Google Shape;59;g1c4e07dad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c4e07dad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 name="Shape 66"/>
        <p:cNvGrpSpPr/>
        <p:nvPr/>
      </p:nvGrpSpPr>
      <p:grpSpPr>
        <a:xfrm>
          <a:off x="0" y="0"/>
          <a:ext cx="0" cy="0"/>
          <a:chOff x="0" y="0"/>
          <a:chExt cx="0" cy="0"/>
        </a:xfrm>
      </p:grpSpPr>
      <p:sp>
        <p:nvSpPr>
          <p:cNvPr id="67" name="Google Shape;67;g22ade95b7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2ade95b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24af4970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4af4970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g22ade95b7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2ade95b7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g24af49702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4af49702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22ade95b7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2ade95b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g24af49702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4af49702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g24af49702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4af49702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g24af49702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4af49702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g24af49702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4af49702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5" name="Shape 135"/>
        <p:cNvGrpSpPr/>
        <p:nvPr/>
      </p:nvGrpSpPr>
      <p:grpSpPr>
        <a:xfrm>
          <a:off x="0" y="0"/>
          <a:ext cx="0" cy="0"/>
          <a:chOff x="0" y="0"/>
          <a:chExt cx="0" cy="0"/>
        </a:xfrm>
      </p:grpSpPr>
      <p:sp>
        <p:nvSpPr>
          <p:cNvPr id="136" name="Google Shape;136;g24af49702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4af49702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24af49702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4af49702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24af49702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4af49702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1fa98a97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fa98a97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g1fa98a974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fa98a974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3" name="Shape 173"/>
        <p:cNvGrpSpPr/>
        <p:nvPr/>
      </p:nvGrpSpPr>
      <p:grpSpPr>
        <a:xfrm>
          <a:off x="0" y="0"/>
          <a:ext cx="0" cy="0"/>
          <a:chOff x="0" y="0"/>
          <a:chExt cx="0" cy="0"/>
        </a:xfrm>
      </p:grpSpPr>
      <p:sp>
        <p:nvSpPr>
          <p:cNvPr id="174" name="Google Shape;174;g1fa98a974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fa98a974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1fa98a974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fa98a974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g1fa98a974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fa98a974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Google Shape;198;g1fa98a974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fa98a974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5" name="Shape 205"/>
        <p:cNvGrpSpPr/>
        <p:nvPr/>
      </p:nvGrpSpPr>
      <p:grpSpPr>
        <a:xfrm>
          <a:off x="0" y="0"/>
          <a:ext cx="0" cy="0"/>
          <a:chOff x="0" y="0"/>
          <a:chExt cx="0" cy="0"/>
        </a:xfrm>
      </p:grpSpPr>
      <p:sp>
        <p:nvSpPr>
          <p:cNvPr id="206" name="Google Shape;206;g1fa98a974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fa98a974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Google Shape;214;g1fa98a974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fa98a974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g1fa98a974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fa98a974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5" name="Shape 235"/>
        <p:cNvGrpSpPr/>
        <p:nvPr/>
      </p:nvGrpSpPr>
      <p:grpSpPr>
        <a:xfrm>
          <a:off x="0" y="0"/>
          <a:ext cx="0" cy="0"/>
          <a:chOff x="0" y="0"/>
          <a:chExt cx="0" cy="0"/>
        </a:xfrm>
      </p:grpSpPr>
      <p:sp>
        <p:nvSpPr>
          <p:cNvPr id="236" name="Google Shape;236;g1fa98a974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fa98a974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3" name="Shape 243"/>
        <p:cNvGrpSpPr/>
        <p:nvPr/>
      </p:nvGrpSpPr>
      <p:grpSpPr>
        <a:xfrm>
          <a:off x="0" y="0"/>
          <a:ext cx="0" cy="0"/>
          <a:chOff x="0" y="0"/>
          <a:chExt cx="0" cy="0"/>
        </a:xfrm>
      </p:grpSpPr>
      <p:sp>
        <p:nvSpPr>
          <p:cNvPr id="244" name="Google Shape;244;g1fa98a974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a98a974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1" name="Shape 251"/>
        <p:cNvGrpSpPr/>
        <p:nvPr/>
      </p:nvGrpSpPr>
      <p:grpSpPr>
        <a:xfrm>
          <a:off x="0" y="0"/>
          <a:ext cx="0" cy="0"/>
          <a:chOff x="0" y="0"/>
          <a:chExt cx="0" cy="0"/>
        </a:xfrm>
      </p:grpSpPr>
      <p:sp>
        <p:nvSpPr>
          <p:cNvPr id="252" name="Google Shape;252;g1fa98a974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fa98a974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9" name="Shape 259"/>
        <p:cNvGrpSpPr/>
        <p:nvPr/>
      </p:nvGrpSpPr>
      <p:grpSpPr>
        <a:xfrm>
          <a:off x="0" y="0"/>
          <a:ext cx="0" cy="0"/>
          <a:chOff x="0" y="0"/>
          <a:chExt cx="0" cy="0"/>
        </a:xfrm>
      </p:grpSpPr>
      <p:sp>
        <p:nvSpPr>
          <p:cNvPr id="260" name="Google Shape;260;g1fa98a974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fa98a974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Google Shape;276;g1fa98a974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fa98a974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g1fa98a974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fa98a974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9" name="Shape 299"/>
        <p:cNvGrpSpPr/>
        <p:nvPr/>
      </p:nvGrpSpPr>
      <p:grpSpPr>
        <a:xfrm>
          <a:off x="0" y="0"/>
          <a:ext cx="0" cy="0"/>
          <a:chOff x="0" y="0"/>
          <a:chExt cx="0" cy="0"/>
        </a:xfrm>
      </p:grpSpPr>
      <p:sp>
        <p:nvSpPr>
          <p:cNvPr id="300" name="Google Shape;300;g1fa98a974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fa98a974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7" name="Shape 307"/>
        <p:cNvGrpSpPr/>
        <p:nvPr/>
      </p:nvGrpSpPr>
      <p:grpSpPr>
        <a:xfrm>
          <a:off x="0" y="0"/>
          <a:ext cx="0" cy="0"/>
          <a:chOff x="0" y="0"/>
          <a:chExt cx="0" cy="0"/>
        </a:xfrm>
      </p:grpSpPr>
      <p:sp>
        <p:nvSpPr>
          <p:cNvPr id="308" name="Google Shape;308;g1fa98a974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fa98a974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4" name="Shape 314"/>
        <p:cNvGrpSpPr/>
        <p:nvPr/>
      </p:nvGrpSpPr>
      <p:grpSpPr>
        <a:xfrm>
          <a:off x="0" y="0"/>
          <a:ext cx="0" cy="0"/>
          <a:chOff x="0" y="0"/>
          <a:chExt cx="0" cy="0"/>
        </a:xfrm>
      </p:grpSpPr>
      <p:sp>
        <p:nvSpPr>
          <p:cNvPr id="315" name="Google Shape;315;g1fa98a9741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fa98a9741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Google Shape;322;g1fa98a9741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fa98a9741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9" name="Shape 329"/>
        <p:cNvGrpSpPr/>
        <p:nvPr/>
      </p:nvGrpSpPr>
      <p:grpSpPr>
        <a:xfrm>
          <a:off x="0" y="0"/>
          <a:ext cx="0" cy="0"/>
          <a:chOff x="0" y="0"/>
          <a:chExt cx="0" cy="0"/>
        </a:xfrm>
      </p:grpSpPr>
      <p:sp>
        <p:nvSpPr>
          <p:cNvPr id="330" name="Google Shape;330;g1fa98a974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fa98a9741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7" name="Shape 337"/>
        <p:cNvGrpSpPr/>
        <p:nvPr/>
      </p:nvGrpSpPr>
      <p:grpSpPr>
        <a:xfrm>
          <a:off x="0" y="0"/>
          <a:ext cx="0" cy="0"/>
          <a:chOff x="0" y="0"/>
          <a:chExt cx="0" cy="0"/>
        </a:xfrm>
      </p:grpSpPr>
      <p:sp>
        <p:nvSpPr>
          <p:cNvPr id="338" name="Google Shape;338;g1fa98a9741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fa98a9741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5" name="Shape 345"/>
        <p:cNvGrpSpPr/>
        <p:nvPr/>
      </p:nvGrpSpPr>
      <p:grpSpPr>
        <a:xfrm>
          <a:off x="0" y="0"/>
          <a:ext cx="0" cy="0"/>
          <a:chOff x="0" y="0"/>
          <a:chExt cx="0" cy="0"/>
        </a:xfrm>
      </p:grpSpPr>
      <p:sp>
        <p:nvSpPr>
          <p:cNvPr id="346" name="Google Shape;346;g1fa98a9741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fa98a9741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3" name="Shape 353"/>
        <p:cNvGrpSpPr/>
        <p:nvPr/>
      </p:nvGrpSpPr>
      <p:grpSpPr>
        <a:xfrm>
          <a:off x="0" y="0"/>
          <a:ext cx="0" cy="0"/>
          <a:chOff x="0" y="0"/>
          <a:chExt cx="0" cy="0"/>
        </a:xfrm>
      </p:grpSpPr>
      <p:sp>
        <p:nvSpPr>
          <p:cNvPr id="354" name="Google Shape;354;g1fa98a9741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fa98a9741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1" name="Shape 361"/>
        <p:cNvGrpSpPr/>
        <p:nvPr/>
      </p:nvGrpSpPr>
      <p:grpSpPr>
        <a:xfrm>
          <a:off x="0" y="0"/>
          <a:ext cx="0" cy="0"/>
          <a:chOff x="0" y="0"/>
          <a:chExt cx="0" cy="0"/>
        </a:xfrm>
      </p:grpSpPr>
      <p:sp>
        <p:nvSpPr>
          <p:cNvPr id="362" name="Google Shape;362;g241895be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41895be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8" name="Shape 368"/>
        <p:cNvGrpSpPr/>
        <p:nvPr/>
      </p:nvGrpSpPr>
      <p:grpSpPr>
        <a:xfrm>
          <a:off x="0" y="0"/>
          <a:ext cx="0" cy="0"/>
          <a:chOff x="0" y="0"/>
          <a:chExt cx="0" cy="0"/>
        </a:xfrm>
      </p:grpSpPr>
      <p:sp>
        <p:nvSpPr>
          <p:cNvPr id="369" name="Google Shape;369;g241895be4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41895be4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6" name="Shape 376"/>
        <p:cNvGrpSpPr/>
        <p:nvPr/>
      </p:nvGrpSpPr>
      <p:grpSpPr>
        <a:xfrm>
          <a:off x="0" y="0"/>
          <a:ext cx="0" cy="0"/>
          <a:chOff x="0" y="0"/>
          <a:chExt cx="0" cy="0"/>
        </a:xfrm>
      </p:grpSpPr>
      <p:sp>
        <p:nvSpPr>
          <p:cNvPr id="377" name="Google Shape;377;g241895be4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41895be4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4" name="Shape 384"/>
        <p:cNvGrpSpPr/>
        <p:nvPr/>
      </p:nvGrpSpPr>
      <p:grpSpPr>
        <a:xfrm>
          <a:off x="0" y="0"/>
          <a:ext cx="0" cy="0"/>
          <a:chOff x="0" y="0"/>
          <a:chExt cx="0" cy="0"/>
        </a:xfrm>
      </p:grpSpPr>
      <p:sp>
        <p:nvSpPr>
          <p:cNvPr id="385" name="Google Shape;385;g241895be4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41895be4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2" name="Shape 392"/>
        <p:cNvGrpSpPr/>
        <p:nvPr/>
      </p:nvGrpSpPr>
      <p:grpSpPr>
        <a:xfrm>
          <a:off x="0" y="0"/>
          <a:ext cx="0" cy="0"/>
          <a:chOff x="0" y="0"/>
          <a:chExt cx="0" cy="0"/>
        </a:xfrm>
      </p:grpSpPr>
      <p:sp>
        <p:nvSpPr>
          <p:cNvPr id="393" name="Google Shape;393;g241895be4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41895be4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0" name="Shape 400"/>
        <p:cNvGrpSpPr/>
        <p:nvPr/>
      </p:nvGrpSpPr>
      <p:grpSpPr>
        <a:xfrm>
          <a:off x="0" y="0"/>
          <a:ext cx="0" cy="0"/>
          <a:chOff x="0" y="0"/>
          <a:chExt cx="0" cy="0"/>
        </a:xfrm>
      </p:grpSpPr>
      <p:sp>
        <p:nvSpPr>
          <p:cNvPr id="401" name="Google Shape;401;g241895be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41895be4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8" name="Shape 408"/>
        <p:cNvGrpSpPr/>
        <p:nvPr/>
      </p:nvGrpSpPr>
      <p:grpSpPr>
        <a:xfrm>
          <a:off x="0" y="0"/>
          <a:ext cx="0" cy="0"/>
          <a:chOff x="0" y="0"/>
          <a:chExt cx="0" cy="0"/>
        </a:xfrm>
      </p:grpSpPr>
      <p:sp>
        <p:nvSpPr>
          <p:cNvPr id="409" name="Google Shape;409;g241895be4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41895be4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6" name="Shape 416"/>
        <p:cNvGrpSpPr/>
        <p:nvPr/>
      </p:nvGrpSpPr>
      <p:grpSpPr>
        <a:xfrm>
          <a:off x="0" y="0"/>
          <a:ext cx="0" cy="0"/>
          <a:chOff x="0" y="0"/>
          <a:chExt cx="0" cy="0"/>
        </a:xfrm>
      </p:grpSpPr>
      <p:sp>
        <p:nvSpPr>
          <p:cNvPr id="417" name="Google Shape;417;g241895be4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41895be4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3" name="Shape 423"/>
        <p:cNvGrpSpPr/>
        <p:nvPr/>
      </p:nvGrpSpPr>
      <p:grpSpPr>
        <a:xfrm>
          <a:off x="0" y="0"/>
          <a:ext cx="0" cy="0"/>
          <a:chOff x="0" y="0"/>
          <a:chExt cx="0" cy="0"/>
        </a:xfrm>
      </p:grpSpPr>
      <p:sp>
        <p:nvSpPr>
          <p:cNvPr id="424" name="Google Shape;424;g241895be4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41895be4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1" name="Shape 431"/>
        <p:cNvGrpSpPr/>
        <p:nvPr/>
      </p:nvGrpSpPr>
      <p:grpSpPr>
        <a:xfrm>
          <a:off x="0" y="0"/>
          <a:ext cx="0" cy="0"/>
          <a:chOff x="0" y="0"/>
          <a:chExt cx="0" cy="0"/>
        </a:xfrm>
      </p:grpSpPr>
      <p:sp>
        <p:nvSpPr>
          <p:cNvPr id="432" name="Google Shape;432;g241895be4e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41895be4e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8" name="Shape 438"/>
        <p:cNvGrpSpPr/>
        <p:nvPr/>
      </p:nvGrpSpPr>
      <p:grpSpPr>
        <a:xfrm>
          <a:off x="0" y="0"/>
          <a:ext cx="0" cy="0"/>
          <a:chOff x="0" y="0"/>
          <a:chExt cx="0" cy="0"/>
        </a:xfrm>
      </p:grpSpPr>
      <p:sp>
        <p:nvSpPr>
          <p:cNvPr id="439" name="Google Shape;439;g241895be4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241895be4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6" name="Shape 446"/>
        <p:cNvGrpSpPr/>
        <p:nvPr/>
      </p:nvGrpSpPr>
      <p:grpSpPr>
        <a:xfrm>
          <a:off x="0" y="0"/>
          <a:ext cx="0" cy="0"/>
          <a:chOff x="0" y="0"/>
          <a:chExt cx="0" cy="0"/>
        </a:xfrm>
      </p:grpSpPr>
      <p:sp>
        <p:nvSpPr>
          <p:cNvPr id="447" name="Google Shape;447;g241895be4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41895be4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4" name="Shape 454"/>
        <p:cNvGrpSpPr/>
        <p:nvPr/>
      </p:nvGrpSpPr>
      <p:grpSpPr>
        <a:xfrm>
          <a:off x="0" y="0"/>
          <a:ext cx="0" cy="0"/>
          <a:chOff x="0" y="0"/>
          <a:chExt cx="0" cy="0"/>
        </a:xfrm>
      </p:grpSpPr>
      <p:sp>
        <p:nvSpPr>
          <p:cNvPr id="455" name="Google Shape;455;g24af49702e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4af49702e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1" name="Shape 461"/>
        <p:cNvGrpSpPr/>
        <p:nvPr/>
      </p:nvGrpSpPr>
      <p:grpSpPr>
        <a:xfrm>
          <a:off x="0" y="0"/>
          <a:ext cx="0" cy="0"/>
          <a:chOff x="0" y="0"/>
          <a:chExt cx="0" cy="0"/>
        </a:xfrm>
      </p:grpSpPr>
      <p:sp>
        <p:nvSpPr>
          <p:cNvPr id="462" name="Google Shape;462;g24af49702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4af49702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9" name="Shape 469"/>
        <p:cNvGrpSpPr/>
        <p:nvPr/>
      </p:nvGrpSpPr>
      <p:grpSpPr>
        <a:xfrm>
          <a:off x="0" y="0"/>
          <a:ext cx="0" cy="0"/>
          <a:chOff x="0" y="0"/>
          <a:chExt cx="0" cy="0"/>
        </a:xfrm>
      </p:grpSpPr>
      <p:sp>
        <p:nvSpPr>
          <p:cNvPr id="470" name="Google Shape;470;g24af49702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4af49702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7" name="Shape 477"/>
        <p:cNvGrpSpPr/>
        <p:nvPr/>
      </p:nvGrpSpPr>
      <p:grpSpPr>
        <a:xfrm>
          <a:off x="0" y="0"/>
          <a:ext cx="0" cy="0"/>
          <a:chOff x="0" y="0"/>
          <a:chExt cx="0" cy="0"/>
        </a:xfrm>
      </p:grpSpPr>
      <p:sp>
        <p:nvSpPr>
          <p:cNvPr id="478" name="Google Shape;478;g24af49702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4af49702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5" name="Shape 485"/>
        <p:cNvGrpSpPr/>
        <p:nvPr/>
      </p:nvGrpSpPr>
      <p:grpSpPr>
        <a:xfrm>
          <a:off x="0" y="0"/>
          <a:ext cx="0" cy="0"/>
          <a:chOff x="0" y="0"/>
          <a:chExt cx="0" cy="0"/>
        </a:xfrm>
      </p:grpSpPr>
      <p:sp>
        <p:nvSpPr>
          <p:cNvPr id="486" name="Google Shape;486;g24af49702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4af49702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93" name="Shape 493"/>
        <p:cNvGrpSpPr/>
        <p:nvPr/>
      </p:nvGrpSpPr>
      <p:grpSpPr>
        <a:xfrm>
          <a:off x="0" y="0"/>
          <a:ext cx="0" cy="0"/>
          <a:chOff x="0" y="0"/>
          <a:chExt cx="0" cy="0"/>
        </a:xfrm>
      </p:grpSpPr>
      <p:sp>
        <p:nvSpPr>
          <p:cNvPr id="494" name="Google Shape;494;g24af49702e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4af49702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1" name="Shape 501"/>
        <p:cNvGrpSpPr/>
        <p:nvPr/>
      </p:nvGrpSpPr>
      <p:grpSpPr>
        <a:xfrm>
          <a:off x="0" y="0"/>
          <a:ext cx="0" cy="0"/>
          <a:chOff x="0" y="0"/>
          <a:chExt cx="0" cy="0"/>
        </a:xfrm>
      </p:grpSpPr>
      <p:sp>
        <p:nvSpPr>
          <p:cNvPr id="502" name="Google Shape;502;g24af49702e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4af49702e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9" name="Shape 509"/>
        <p:cNvGrpSpPr/>
        <p:nvPr/>
      </p:nvGrpSpPr>
      <p:grpSpPr>
        <a:xfrm>
          <a:off x="0" y="0"/>
          <a:ext cx="0" cy="0"/>
          <a:chOff x="0" y="0"/>
          <a:chExt cx="0" cy="0"/>
        </a:xfrm>
      </p:grpSpPr>
      <p:sp>
        <p:nvSpPr>
          <p:cNvPr id="510" name="Google Shape;510;g24af49702e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24af49702e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7" name="Shape 517"/>
        <p:cNvGrpSpPr/>
        <p:nvPr/>
      </p:nvGrpSpPr>
      <p:grpSpPr>
        <a:xfrm>
          <a:off x="0" y="0"/>
          <a:ext cx="0" cy="0"/>
          <a:chOff x="0" y="0"/>
          <a:chExt cx="0" cy="0"/>
        </a:xfrm>
      </p:grpSpPr>
      <p:sp>
        <p:nvSpPr>
          <p:cNvPr id="518" name="Google Shape;518;g24af49702e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4af49702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5" name="Shape 525"/>
        <p:cNvGrpSpPr/>
        <p:nvPr/>
      </p:nvGrpSpPr>
      <p:grpSpPr>
        <a:xfrm>
          <a:off x="0" y="0"/>
          <a:ext cx="0" cy="0"/>
          <a:chOff x="0" y="0"/>
          <a:chExt cx="0" cy="0"/>
        </a:xfrm>
      </p:grpSpPr>
      <p:sp>
        <p:nvSpPr>
          <p:cNvPr id="526" name="Google Shape;526;g24af49702e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4af49702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3" name="Shape 533"/>
        <p:cNvGrpSpPr/>
        <p:nvPr/>
      </p:nvGrpSpPr>
      <p:grpSpPr>
        <a:xfrm>
          <a:off x="0" y="0"/>
          <a:ext cx="0" cy="0"/>
          <a:chOff x="0" y="0"/>
          <a:chExt cx="0" cy="0"/>
        </a:xfrm>
      </p:grpSpPr>
      <p:sp>
        <p:nvSpPr>
          <p:cNvPr id="534" name="Google Shape;534;g24af49702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4af49702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1" name="Shape 541"/>
        <p:cNvGrpSpPr/>
        <p:nvPr/>
      </p:nvGrpSpPr>
      <p:grpSpPr>
        <a:xfrm>
          <a:off x="0" y="0"/>
          <a:ext cx="0" cy="0"/>
          <a:chOff x="0" y="0"/>
          <a:chExt cx="0" cy="0"/>
        </a:xfrm>
      </p:grpSpPr>
      <p:sp>
        <p:nvSpPr>
          <p:cNvPr id="542" name="Google Shape;542;g24af49702e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4af49702e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9" name="Shape 549"/>
        <p:cNvGrpSpPr/>
        <p:nvPr/>
      </p:nvGrpSpPr>
      <p:grpSpPr>
        <a:xfrm>
          <a:off x="0" y="0"/>
          <a:ext cx="0" cy="0"/>
          <a:chOff x="0" y="0"/>
          <a:chExt cx="0" cy="0"/>
        </a:xfrm>
      </p:grpSpPr>
      <p:sp>
        <p:nvSpPr>
          <p:cNvPr id="550" name="Google Shape;550;g24af49702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4af49702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7" name="Shape 557"/>
        <p:cNvGrpSpPr/>
        <p:nvPr/>
      </p:nvGrpSpPr>
      <p:grpSpPr>
        <a:xfrm>
          <a:off x="0" y="0"/>
          <a:ext cx="0" cy="0"/>
          <a:chOff x="0" y="0"/>
          <a:chExt cx="0" cy="0"/>
        </a:xfrm>
      </p:grpSpPr>
      <p:sp>
        <p:nvSpPr>
          <p:cNvPr id="558" name="Google Shape;558;g24af49702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24af49702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quantopian.com"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Platform</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understand the basics of finance and portfolios, it is time to learn how to use the Quantopian Platform for Algorithmic Trading!</a:t>
            </a:r>
            <a:endParaRPr sz="30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section will cover the following:</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Review of Quantopian</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Algorithm Methods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Building Trading Algorithms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Trading Algorithm Exercise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Quantopian Pipelines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Before we begin with the more technical topics, let’s go ahead and jump to </a:t>
            </a:r>
            <a:r>
              <a:rPr lang="en" sz="3000" u="sng">
                <a:solidFill>
                  <a:schemeClr val="hlink"/>
                </a:solidFill>
                <a:latin typeface="Montserrat"/>
                <a:ea typeface="Montserrat"/>
                <a:cs typeface="Montserrat"/>
                <a:sym typeface="Montserrat"/>
                <a:hlinkClick r:id="rId3"/>
              </a:rPr>
              <a:t>www.quantopian.com</a:t>
            </a:r>
            <a:r>
              <a:rPr lang="en" sz="3000">
                <a:solidFill>
                  <a:srgbClr val="434343"/>
                </a:solidFill>
                <a:latin typeface="Montserrat"/>
                <a:ea typeface="Montserrat"/>
                <a:cs typeface="Montserrat"/>
                <a:sym typeface="Montserrat"/>
              </a:rPr>
              <a:t> and explore the site a bit!</a:t>
            </a:r>
            <a:endParaRPr sz="3000">
              <a:solidFill>
                <a:srgbClr val="434343"/>
              </a:solidFill>
              <a:latin typeface="Montserrat"/>
              <a:ea typeface="Montserrat"/>
              <a:cs typeface="Montserrat"/>
              <a:sym typeface="Montserrat"/>
            </a:endParaRPr>
          </a:p>
        </p:txBody>
      </p:sp>
      <p:pic>
        <p:nvPicPr>
          <p:cNvPr descr="watermark.jpg" id="80" name="Google Shape;80;p16"/>
          <p:cNvPicPr preferRelativeResize="0"/>
          <p:nvPr/>
        </p:nvPicPr>
        <p:blipFill rotWithShape="1">
          <a:blip r:embed="rId4">
            <a:alphaModFix/>
          </a:blip>
          <a:srcRect b="38251"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7"/>
          <p:cNvSpPr txBox="1"/>
          <p:nvPr>
            <p:ph type="ctrTitle"/>
          </p:nvPr>
        </p:nvSpPr>
        <p:spPr>
          <a:xfrm>
            <a:off x="311708" y="1545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Research Basics</a:t>
            </a:r>
            <a:endParaRPr b="1">
              <a:latin typeface="Montserrat"/>
              <a:ea typeface="Montserrat"/>
              <a:cs typeface="Montserrat"/>
              <a:sym typeface="Montserrat"/>
            </a:endParaRPr>
          </a:p>
        </p:txBody>
      </p:sp>
      <p:sp>
        <p:nvSpPr>
          <p:cNvPr id="87" name="Google Shape;87;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88" name="Google Shape;88;p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9" name="Google Shape;89;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95" name="Google Shape;9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follow along with this lecture, make sure you’ve created an account on Quantopian!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start off by using the Research Notebook format, then move on to using the Quantopian IDE.</a:t>
            </a:r>
            <a:endParaRPr sz="3000">
              <a:solidFill>
                <a:srgbClr val="434343"/>
              </a:solidFill>
              <a:latin typeface="Montserrat"/>
              <a:ea typeface="Montserrat"/>
              <a:cs typeface="Montserrat"/>
              <a:sym typeface="Montserrat"/>
            </a:endParaRPr>
          </a:p>
        </p:txBody>
      </p:sp>
      <p:pic>
        <p:nvPicPr>
          <p:cNvPr descr="watermark.jpg" id="96" name="Google Shape;96;p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7" name="Google Shape;97;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9"/>
          <p:cNvSpPr txBox="1"/>
          <p:nvPr>
            <p:ph type="ctrTitle"/>
          </p:nvPr>
        </p:nvSpPr>
        <p:spPr>
          <a:xfrm>
            <a:off x="311708" y="1545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Basic</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Algorithm Methods</a:t>
            </a:r>
            <a:endParaRPr b="1">
              <a:latin typeface="Montserrat"/>
              <a:ea typeface="Montserrat"/>
              <a:cs typeface="Montserrat"/>
              <a:sym typeface="Montserrat"/>
            </a:endParaRPr>
          </a:p>
        </p:txBody>
      </p:sp>
      <p:pic>
        <p:nvPicPr>
          <p:cNvPr descr="watermark.jpg" id="103" name="Google Shape;103;p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4" name="Google Shape;104;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10" name="Google Shape;110;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Remember that the corresponding code in this notebook will only work inside the Quantopian IDE.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begin exploring how to create trading algorithms!</a:t>
            </a:r>
            <a:endParaRPr sz="3000">
              <a:solidFill>
                <a:srgbClr val="434343"/>
              </a:solidFill>
              <a:latin typeface="Montserrat"/>
              <a:ea typeface="Montserrat"/>
              <a:cs typeface="Montserrat"/>
              <a:sym typeface="Montserrat"/>
            </a:endParaRPr>
          </a:p>
        </p:txBody>
      </p:sp>
      <p:pic>
        <p:nvPicPr>
          <p:cNvPr descr="watermark.jpg" id="111" name="Google Shape;111;p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2" name="Google Shape;112;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21"/>
          <p:cNvSpPr txBox="1"/>
          <p:nvPr>
            <p:ph type="ctrTitle"/>
          </p:nvPr>
        </p:nvSpPr>
        <p:spPr>
          <a:xfrm>
            <a:off x="311708" y="1545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Basic</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Algorithm Methods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Part Two</a:t>
            </a:r>
            <a:endParaRPr b="1">
              <a:latin typeface="Montserrat"/>
              <a:ea typeface="Montserrat"/>
              <a:cs typeface="Montserrat"/>
              <a:sym typeface="Montserrat"/>
            </a:endParaRPr>
          </a:p>
        </p:txBody>
      </p:sp>
      <p:pic>
        <p:nvPicPr>
          <p:cNvPr descr="watermark.jpg" id="118" name="Google Shape;118;p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9" name="Google Shape;119;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sp>
        <p:nvSpPr>
          <p:cNvPr id="124" name="Google Shape;124;p22"/>
          <p:cNvSpPr txBox="1"/>
          <p:nvPr>
            <p:ph type="ctrTitle"/>
          </p:nvPr>
        </p:nvSpPr>
        <p:spPr>
          <a:xfrm>
            <a:off x="311700" y="1965900"/>
            <a:ext cx="8520600" cy="121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First Trading Algorithm</a:t>
            </a:r>
            <a:endParaRPr b="1">
              <a:latin typeface="Montserrat"/>
              <a:ea typeface="Montserrat"/>
              <a:cs typeface="Montserrat"/>
              <a:sym typeface="Montserrat"/>
            </a:endParaRPr>
          </a:p>
        </p:txBody>
      </p:sp>
      <p:pic>
        <p:nvPicPr>
          <p:cNvPr descr="watermark.jpg" id="125" name="Google Shape;125;p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6" name="Google Shape;126;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32" name="Google Shape;132;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now apply what we’ve learned about Quantopian Research and the IDE to create our first Trading Algorithm!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conduct a strategy known as pairs trading.</a:t>
            </a:r>
            <a:endParaRPr sz="3000">
              <a:solidFill>
                <a:srgbClr val="434343"/>
              </a:solidFill>
              <a:latin typeface="Montserrat"/>
              <a:ea typeface="Montserrat"/>
              <a:cs typeface="Montserrat"/>
              <a:sym typeface="Montserrat"/>
            </a:endParaRPr>
          </a:p>
        </p:txBody>
      </p:sp>
      <p:pic>
        <p:nvPicPr>
          <p:cNvPr descr="watermark.jpg" id="133" name="Google Shape;133;p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34" name="Google Shape;134;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40" name="Google Shape;140;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implement a simplified approach of this strategy.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Keep in mind this approach is not something you should trade with!</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Instead we’ll be focusing on understanding Quantopian’s platform.</a:t>
            </a:r>
            <a:endParaRPr sz="3000">
              <a:solidFill>
                <a:srgbClr val="434343"/>
              </a:solidFill>
              <a:latin typeface="Montserrat"/>
              <a:ea typeface="Montserrat"/>
              <a:cs typeface="Montserrat"/>
              <a:sym typeface="Montserrat"/>
            </a:endParaRPr>
          </a:p>
        </p:txBody>
      </p:sp>
      <p:pic>
        <p:nvPicPr>
          <p:cNvPr descr="watermark.jpg" id="141" name="Google Shape;141;p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2" name="Google Shape;142;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48" name="Google Shape;148;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Make sure to do the additional reading in the resources if you are further interested in Pairs Trading.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first part will focus on conducting research, the second part will focus on implementing the strategy!</a:t>
            </a:r>
            <a:endParaRPr sz="3000">
              <a:solidFill>
                <a:srgbClr val="434343"/>
              </a:solidFill>
              <a:latin typeface="Montserrat"/>
              <a:ea typeface="Montserrat"/>
              <a:cs typeface="Montserrat"/>
              <a:sym typeface="Montserrat"/>
            </a:endParaRPr>
          </a:p>
        </p:txBody>
      </p:sp>
      <p:pic>
        <p:nvPicPr>
          <p:cNvPr descr="watermark.jpg" id="149" name="Google Shape;149;p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0" name="Google Shape;150;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p26"/>
          <p:cNvSpPr txBox="1"/>
          <p:nvPr>
            <p:ph type="ctrTitle"/>
          </p:nvPr>
        </p:nvSpPr>
        <p:spPr>
          <a:xfrm>
            <a:off x="311700" y="1965900"/>
            <a:ext cx="8520600" cy="121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First Trading Algorithm</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Part Two</a:t>
            </a:r>
            <a:endParaRPr b="1">
              <a:latin typeface="Montserrat"/>
              <a:ea typeface="Montserrat"/>
              <a:cs typeface="Montserrat"/>
              <a:sym typeface="Montserrat"/>
            </a:endParaRPr>
          </a:p>
        </p:txBody>
      </p:sp>
      <p:pic>
        <p:nvPicPr>
          <p:cNvPr descr="watermark.jpg" id="156" name="Google Shape;156;p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7" name="Google Shape;157;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p27"/>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Trading Algorithm Exercise</a:t>
            </a:r>
            <a:endParaRPr b="1">
              <a:latin typeface="Montserrat"/>
              <a:ea typeface="Montserrat"/>
              <a:cs typeface="Montserrat"/>
              <a:sym typeface="Montserrat"/>
            </a:endParaRPr>
          </a:p>
        </p:txBody>
      </p:sp>
      <p:pic>
        <p:nvPicPr>
          <p:cNvPr descr="watermark.jpg" id="163" name="Google Shape;163;p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64" name="Google Shape;164;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70" name="Google Shape;170;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Welcome to your trading algorithm exercise!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will be an exercise in using the Quantopian Platform, do not take this as a exercise in learning a real trading strategy!</a:t>
            </a:r>
            <a:endParaRPr sz="3000">
              <a:solidFill>
                <a:srgbClr val="434343"/>
              </a:solidFill>
              <a:latin typeface="Montserrat"/>
              <a:ea typeface="Montserrat"/>
              <a:cs typeface="Montserrat"/>
              <a:sym typeface="Montserrat"/>
            </a:endParaRPr>
          </a:p>
        </p:txBody>
      </p:sp>
      <p:pic>
        <p:nvPicPr>
          <p:cNvPr descr="watermark.jpg" id="171" name="Google Shape;171;p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2" name="Google Shape;172;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78" name="Google Shape;178;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We’re going to have you execute a very basic Bollinger Bands trading strategy!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review what Bollinger Bands are (we discussed them previously during the Rolling Mean lectures)</a:t>
            </a:r>
            <a:endParaRPr sz="3000">
              <a:solidFill>
                <a:srgbClr val="434343"/>
              </a:solidFill>
              <a:latin typeface="Montserrat"/>
              <a:ea typeface="Montserrat"/>
              <a:cs typeface="Montserrat"/>
              <a:sym typeface="Montserrat"/>
            </a:endParaRPr>
          </a:p>
        </p:txBody>
      </p:sp>
      <p:pic>
        <p:nvPicPr>
          <p:cNvPr descr="watermark.jpg" id="179" name="Google Shape;179;p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0" name="Google Shape;180;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86" name="Google Shape;186;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We’re going to have you execute a very basic Bollinger Bands trading strategy!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review what Bollinger Bands are (we discussed them previously during the Rolling Mean lectures)</a:t>
            </a:r>
            <a:endParaRPr sz="3000">
              <a:solidFill>
                <a:srgbClr val="434343"/>
              </a:solidFill>
              <a:latin typeface="Montserrat"/>
              <a:ea typeface="Montserrat"/>
              <a:cs typeface="Montserrat"/>
              <a:sym typeface="Montserrat"/>
            </a:endParaRPr>
          </a:p>
        </p:txBody>
      </p:sp>
      <p:pic>
        <p:nvPicPr>
          <p:cNvPr descr="watermark.jpg" id="187" name="Google Shape;187;p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8" name="Google Shape;188;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94" name="Google Shape;194;p31"/>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Bollinger Bands record bounds above and below the 20 day rolling mean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Bollinger Bands consist of two bands, an upper and lower bound.</a:t>
            </a:r>
            <a:endParaRPr sz="3000">
              <a:solidFill>
                <a:srgbClr val="434343"/>
              </a:solidFill>
              <a:latin typeface="Montserrat"/>
              <a:ea typeface="Montserrat"/>
              <a:cs typeface="Montserrat"/>
              <a:sym typeface="Montserrat"/>
            </a:endParaRPr>
          </a:p>
        </p:txBody>
      </p:sp>
      <p:pic>
        <p:nvPicPr>
          <p:cNvPr descr="watermark.jpg" id="195" name="Google Shape;195;p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96" name="Google Shape;196;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02" name="Google Shape;202;p32"/>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bands are calculated from the 20 day rolling mean and 20 day rolling Standard Deviation.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20 Day Mean +/- (2 * 20 Day Std. Dev.)</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use these bands and compare them to the current price as a signal.</a:t>
            </a:r>
            <a:endParaRPr sz="3000">
              <a:solidFill>
                <a:srgbClr val="434343"/>
              </a:solidFill>
              <a:latin typeface="Montserrat"/>
              <a:ea typeface="Montserrat"/>
              <a:cs typeface="Montserrat"/>
              <a:sym typeface="Montserrat"/>
            </a:endParaRPr>
          </a:p>
        </p:txBody>
      </p:sp>
      <p:pic>
        <p:nvPicPr>
          <p:cNvPr descr="watermark.jpg" id="203" name="Google Shape;203;p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04" name="Google Shape;204;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10" name="Google Shape;210;p33"/>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a visual representation of the bands...</a:t>
            </a:r>
            <a:endParaRPr sz="3000">
              <a:solidFill>
                <a:srgbClr val="434343"/>
              </a:solidFill>
              <a:latin typeface="Montserrat"/>
              <a:ea typeface="Montserrat"/>
              <a:cs typeface="Montserrat"/>
              <a:sym typeface="Montserrat"/>
            </a:endParaRPr>
          </a:p>
        </p:txBody>
      </p:sp>
      <p:pic>
        <p:nvPicPr>
          <p:cNvPr descr="watermark.jpg" id="211" name="Google Shape;211;p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2" name="Google Shape;212;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18" name="Google Shape;218;p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9" name="Google Shape;219;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0" name="Google Shape;220;p34"/>
          <p:cNvSpPr/>
          <p:nvPr/>
        </p:nvSpPr>
        <p:spPr>
          <a:xfrm>
            <a:off x="270625" y="1075888"/>
            <a:ext cx="8668200" cy="35181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a:off x="293250" y="1747725"/>
            <a:ext cx="8633100" cy="2510175"/>
          </a:xfrm>
          <a:custGeom>
            <a:rect b="b" l="l" r="r" t="t"/>
            <a:pathLst>
              <a:path extrusionOk="0" h="100407" w="345324">
                <a:moveTo>
                  <a:pt x="0" y="73194"/>
                </a:moveTo>
                <a:lnTo>
                  <a:pt x="91257" y="42931"/>
                </a:lnTo>
                <a:lnTo>
                  <a:pt x="178058" y="65218"/>
                </a:lnTo>
                <a:lnTo>
                  <a:pt x="201752" y="0"/>
                </a:lnTo>
                <a:lnTo>
                  <a:pt x="224038" y="23460"/>
                </a:lnTo>
                <a:lnTo>
                  <a:pt x="256178" y="100407"/>
                </a:lnTo>
                <a:lnTo>
                  <a:pt x="285971" y="22522"/>
                </a:lnTo>
                <a:lnTo>
                  <a:pt x="314357" y="35424"/>
                </a:lnTo>
                <a:lnTo>
                  <a:pt x="345324" y="24164"/>
                </a:lnTo>
              </a:path>
            </a:pathLst>
          </a:custGeom>
          <a:noFill/>
          <a:ln cap="flat" cmpd="sng" w="28575">
            <a:solidFill>
              <a:srgbClr val="9900FF"/>
            </a:solidFill>
            <a:prstDash val="solid"/>
            <a:round/>
            <a:headEnd len="med" w="med" type="none"/>
            <a:tailEnd len="med" w="med" type="none"/>
          </a:ln>
        </p:spPr>
      </p:sp>
      <p:sp>
        <p:nvSpPr>
          <p:cNvPr id="222" name="Google Shape;222;p34"/>
          <p:cNvSpPr/>
          <p:nvPr/>
        </p:nvSpPr>
        <p:spPr>
          <a:xfrm>
            <a:off x="1272675" y="2076175"/>
            <a:ext cx="7653675" cy="774150"/>
          </a:xfrm>
          <a:custGeom>
            <a:rect b="b" l="l" r="r" t="t"/>
            <a:pathLst>
              <a:path extrusionOk="0" h="30966" w="306147">
                <a:moveTo>
                  <a:pt x="0" y="25101"/>
                </a:moveTo>
                <a:lnTo>
                  <a:pt x="34016" y="16421"/>
                </a:lnTo>
                <a:lnTo>
                  <a:pt x="51846" y="10087"/>
                </a:lnTo>
                <a:lnTo>
                  <a:pt x="116594" y="29090"/>
                </a:lnTo>
                <a:lnTo>
                  <a:pt x="140757" y="7976"/>
                </a:lnTo>
                <a:lnTo>
                  <a:pt x="188849" y="469"/>
                </a:lnTo>
                <a:lnTo>
                  <a:pt x="212543" y="30966"/>
                </a:lnTo>
                <a:lnTo>
                  <a:pt x="237411" y="7507"/>
                </a:lnTo>
                <a:lnTo>
                  <a:pt x="247029" y="0"/>
                </a:lnTo>
                <a:lnTo>
                  <a:pt x="275884" y="13372"/>
                </a:lnTo>
                <a:lnTo>
                  <a:pt x="306147" y="0"/>
                </a:lnTo>
              </a:path>
            </a:pathLst>
          </a:custGeom>
          <a:noFill/>
          <a:ln cap="flat" cmpd="sng" w="76200">
            <a:solidFill>
              <a:schemeClr val="dk2"/>
            </a:solidFill>
            <a:prstDash val="solid"/>
            <a:round/>
            <a:headEnd len="med" w="med" type="none"/>
            <a:tailEnd len="med" w="med" type="none"/>
          </a:ln>
        </p:spPr>
      </p:sp>
      <p:sp>
        <p:nvSpPr>
          <p:cNvPr id="223" name="Google Shape;223;p34"/>
          <p:cNvSpPr/>
          <p:nvPr/>
        </p:nvSpPr>
        <p:spPr>
          <a:xfrm>
            <a:off x="1442750" y="2621600"/>
            <a:ext cx="7495325" cy="1302000"/>
          </a:xfrm>
          <a:custGeom>
            <a:rect b="b" l="l" r="r" t="t"/>
            <a:pathLst>
              <a:path extrusionOk="0" h="52080" w="299813">
                <a:moveTo>
                  <a:pt x="0" y="39412"/>
                </a:moveTo>
                <a:lnTo>
                  <a:pt x="43401" y="21817"/>
                </a:lnTo>
                <a:lnTo>
                  <a:pt x="130670" y="45981"/>
                </a:lnTo>
                <a:lnTo>
                  <a:pt x="154833" y="13841"/>
                </a:lnTo>
                <a:lnTo>
                  <a:pt x="170551" y="11026"/>
                </a:lnTo>
                <a:lnTo>
                  <a:pt x="193541" y="42931"/>
                </a:lnTo>
                <a:lnTo>
                  <a:pt x="210902" y="52080"/>
                </a:lnTo>
                <a:lnTo>
                  <a:pt x="237880" y="26979"/>
                </a:lnTo>
                <a:lnTo>
                  <a:pt x="250548" y="4927"/>
                </a:lnTo>
                <a:lnTo>
                  <a:pt x="269316" y="12434"/>
                </a:lnTo>
                <a:lnTo>
                  <a:pt x="299813" y="0"/>
                </a:lnTo>
              </a:path>
            </a:pathLst>
          </a:custGeom>
          <a:noFill/>
          <a:ln cap="flat" cmpd="sng" w="76200">
            <a:solidFill>
              <a:schemeClr val="dk2"/>
            </a:solidFill>
            <a:prstDash val="solid"/>
            <a:round/>
            <a:headEnd len="med" w="med" type="none"/>
            <a:tailEnd len="med" w="med" type="none"/>
          </a:ln>
        </p:spPr>
      </p:sp>
      <p:sp>
        <p:nvSpPr>
          <p:cNvPr id="224" name="Google Shape;224;p34"/>
          <p:cNvSpPr txBox="1"/>
          <p:nvPr/>
        </p:nvSpPr>
        <p:spPr>
          <a:xfrm>
            <a:off x="340175" y="1976475"/>
            <a:ext cx="3753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
        <p:nvSpPr>
          <p:cNvPr id="225" name="Google Shape;225;p34"/>
          <p:cNvSpPr txBox="1"/>
          <p:nvPr/>
        </p:nvSpPr>
        <p:spPr>
          <a:xfrm>
            <a:off x="369475" y="3554000"/>
            <a:ext cx="35835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
        <p:nvSpPr>
          <p:cNvPr id="226" name="Google Shape;226;p34"/>
          <p:cNvSpPr txBox="1"/>
          <p:nvPr/>
        </p:nvSpPr>
        <p:spPr>
          <a:xfrm>
            <a:off x="340175" y="2792225"/>
            <a:ext cx="2838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9900FF"/>
                </a:solidFill>
              </a:rPr>
              <a:t>Current Price</a:t>
            </a:r>
            <a:endParaRPr b="1" sz="1600">
              <a:solidFill>
                <a:srgbClr val="99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32" name="Google Shape;232;p35"/>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be implementing an “extreme” version of the Bollinger Band strategy.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Our basic idea is if the current price is ever above the upper band, we will short the stock. If it is below the lower band, we will go long on the stock.</a:t>
            </a:r>
            <a:endParaRPr sz="3000">
              <a:solidFill>
                <a:srgbClr val="434343"/>
              </a:solidFill>
              <a:latin typeface="Montserrat"/>
              <a:ea typeface="Montserrat"/>
              <a:cs typeface="Montserrat"/>
              <a:sym typeface="Montserrat"/>
            </a:endParaRPr>
          </a:p>
        </p:txBody>
      </p:sp>
      <p:pic>
        <p:nvPicPr>
          <p:cNvPr descr="watermark.jpg" id="233" name="Google Shape;233;p3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4" name="Google Shape;234;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40" name="Google Shape;240;p36"/>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Our version of this strategy is extreme in the sense that we only enter or exit positions based off the bands.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may want to play around with exiting off some smaller band off the mean.</a:t>
            </a:r>
            <a:endParaRPr sz="3000">
              <a:solidFill>
                <a:srgbClr val="434343"/>
              </a:solidFill>
              <a:latin typeface="Montserrat"/>
              <a:ea typeface="Montserrat"/>
              <a:cs typeface="Montserrat"/>
              <a:sym typeface="Montserrat"/>
            </a:endParaRPr>
          </a:p>
        </p:txBody>
      </p:sp>
      <p:pic>
        <p:nvPicPr>
          <p:cNvPr descr="watermark.jpg" id="241" name="Google Shape;241;p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2" name="Google Shape;242;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6" name="Shape 246"/>
        <p:cNvGrpSpPr/>
        <p:nvPr/>
      </p:nvGrpSpPr>
      <p:grpSpPr>
        <a:xfrm>
          <a:off x="0" y="0"/>
          <a:ext cx="0" cy="0"/>
          <a:chOff x="0" y="0"/>
          <a:chExt cx="0" cy="0"/>
        </a:xfrm>
      </p:grpSpPr>
      <p:sp>
        <p:nvSpPr>
          <p:cNvPr id="247" name="Google Shape;247;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48" name="Google Shape;248;p37"/>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strategy is pretty reckless and I would never recommend it to anyone.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However it is simpler to implement, which is perfect for us to use for practice on the Quantopian platform!</a:t>
            </a:r>
            <a:endParaRPr sz="3000">
              <a:solidFill>
                <a:srgbClr val="434343"/>
              </a:solidFill>
              <a:latin typeface="Montserrat"/>
              <a:ea typeface="Montserrat"/>
              <a:cs typeface="Montserrat"/>
              <a:sym typeface="Montserrat"/>
            </a:endParaRPr>
          </a:p>
        </p:txBody>
      </p:sp>
      <p:pic>
        <p:nvPicPr>
          <p:cNvPr descr="watermark.jpg" id="249" name="Google Shape;249;p3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0" name="Google Shape;250;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56" name="Google Shape;256;p38"/>
          <p:cNvSpPr txBox="1"/>
          <p:nvPr>
            <p:ph idx="1" type="body"/>
          </p:nvPr>
        </p:nvSpPr>
        <p:spPr>
          <a:xfrm>
            <a:off x="311700" y="1152475"/>
            <a:ext cx="88023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will implement this strategy on Johnson &amp; Johnson.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review it using the visual representation!</a:t>
            </a:r>
            <a:endParaRPr sz="3000">
              <a:solidFill>
                <a:srgbClr val="434343"/>
              </a:solidFill>
              <a:latin typeface="Montserrat"/>
              <a:ea typeface="Montserrat"/>
              <a:cs typeface="Montserrat"/>
              <a:sym typeface="Montserrat"/>
            </a:endParaRPr>
          </a:p>
        </p:txBody>
      </p:sp>
      <p:pic>
        <p:nvPicPr>
          <p:cNvPr descr="watermark.jpg" id="257" name="Google Shape;257;p3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8" name="Google Shape;258;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64" name="Google Shape;264;p3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5" name="Google Shape;265;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6" name="Google Shape;266;p39"/>
          <p:cNvSpPr/>
          <p:nvPr/>
        </p:nvSpPr>
        <p:spPr>
          <a:xfrm>
            <a:off x="270625" y="1075888"/>
            <a:ext cx="8668200" cy="35181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9"/>
          <p:cNvSpPr/>
          <p:nvPr/>
        </p:nvSpPr>
        <p:spPr>
          <a:xfrm>
            <a:off x="293250" y="1747725"/>
            <a:ext cx="8633100" cy="2510175"/>
          </a:xfrm>
          <a:custGeom>
            <a:rect b="b" l="l" r="r" t="t"/>
            <a:pathLst>
              <a:path extrusionOk="0" h="100407" w="345324">
                <a:moveTo>
                  <a:pt x="0" y="73194"/>
                </a:moveTo>
                <a:lnTo>
                  <a:pt x="91257" y="42931"/>
                </a:lnTo>
                <a:lnTo>
                  <a:pt x="178058" y="65218"/>
                </a:lnTo>
                <a:lnTo>
                  <a:pt x="201752" y="0"/>
                </a:lnTo>
                <a:lnTo>
                  <a:pt x="224038" y="23460"/>
                </a:lnTo>
                <a:lnTo>
                  <a:pt x="256178" y="100407"/>
                </a:lnTo>
                <a:lnTo>
                  <a:pt x="285971" y="22522"/>
                </a:lnTo>
                <a:lnTo>
                  <a:pt x="314357" y="35424"/>
                </a:lnTo>
                <a:lnTo>
                  <a:pt x="345324" y="24164"/>
                </a:lnTo>
              </a:path>
            </a:pathLst>
          </a:custGeom>
          <a:noFill/>
          <a:ln cap="flat" cmpd="sng" w="28575">
            <a:solidFill>
              <a:srgbClr val="9900FF"/>
            </a:solidFill>
            <a:prstDash val="solid"/>
            <a:round/>
            <a:headEnd len="med" w="med" type="none"/>
            <a:tailEnd len="med" w="med" type="none"/>
          </a:ln>
        </p:spPr>
      </p:sp>
      <p:sp>
        <p:nvSpPr>
          <p:cNvPr id="268" name="Google Shape;268;p39"/>
          <p:cNvSpPr/>
          <p:nvPr/>
        </p:nvSpPr>
        <p:spPr>
          <a:xfrm>
            <a:off x="1272675" y="2076175"/>
            <a:ext cx="7653675" cy="774150"/>
          </a:xfrm>
          <a:custGeom>
            <a:rect b="b" l="l" r="r" t="t"/>
            <a:pathLst>
              <a:path extrusionOk="0" h="30966" w="306147">
                <a:moveTo>
                  <a:pt x="0" y="25101"/>
                </a:moveTo>
                <a:lnTo>
                  <a:pt x="34016" y="16421"/>
                </a:lnTo>
                <a:lnTo>
                  <a:pt x="51846" y="10087"/>
                </a:lnTo>
                <a:lnTo>
                  <a:pt x="116594" y="29090"/>
                </a:lnTo>
                <a:lnTo>
                  <a:pt x="140757" y="7976"/>
                </a:lnTo>
                <a:lnTo>
                  <a:pt x="188849" y="469"/>
                </a:lnTo>
                <a:lnTo>
                  <a:pt x="212543" y="30966"/>
                </a:lnTo>
                <a:lnTo>
                  <a:pt x="237411" y="7507"/>
                </a:lnTo>
                <a:lnTo>
                  <a:pt x="247029" y="0"/>
                </a:lnTo>
                <a:lnTo>
                  <a:pt x="275884" y="13372"/>
                </a:lnTo>
                <a:lnTo>
                  <a:pt x="306147" y="0"/>
                </a:lnTo>
              </a:path>
            </a:pathLst>
          </a:custGeom>
          <a:noFill/>
          <a:ln cap="flat" cmpd="sng" w="76200">
            <a:solidFill>
              <a:schemeClr val="dk2"/>
            </a:solidFill>
            <a:prstDash val="solid"/>
            <a:round/>
            <a:headEnd len="med" w="med" type="none"/>
            <a:tailEnd len="med" w="med" type="none"/>
          </a:ln>
        </p:spPr>
      </p:sp>
      <p:sp>
        <p:nvSpPr>
          <p:cNvPr id="269" name="Google Shape;269;p39"/>
          <p:cNvSpPr/>
          <p:nvPr/>
        </p:nvSpPr>
        <p:spPr>
          <a:xfrm>
            <a:off x="1442750" y="2621600"/>
            <a:ext cx="7495325" cy="1302000"/>
          </a:xfrm>
          <a:custGeom>
            <a:rect b="b" l="l" r="r" t="t"/>
            <a:pathLst>
              <a:path extrusionOk="0" h="52080" w="299813">
                <a:moveTo>
                  <a:pt x="0" y="39412"/>
                </a:moveTo>
                <a:lnTo>
                  <a:pt x="43401" y="21817"/>
                </a:lnTo>
                <a:lnTo>
                  <a:pt x="130670" y="45981"/>
                </a:lnTo>
                <a:lnTo>
                  <a:pt x="154833" y="13841"/>
                </a:lnTo>
                <a:lnTo>
                  <a:pt x="170551" y="11026"/>
                </a:lnTo>
                <a:lnTo>
                  <a:pt x="193541" y="42931"/>
                </a:lnTo>
                <a:lnTo>
                  <a:pt x="210902" y="52080"/>
                </a:lnTo>
                <a:lnTo>
                  <a:pt x="237880" y="26979"/>
                </a:lnTo>
                <a:lnTo>
                  <a:pt x="250548" y="4927"/>
                </a:lnTo>
                <a:lnTo>
                  <a:pt x="269316" y="12434"/>
                </a:lnTo>
                <a:lnTo>
                  <a:pt x="299813" y="0"/>
                </a:lnTo>
              </a:path>
            </a:pathLst>
          </a:custGeom>
          <a:noFill/>
          <a:ln cap="flat" cmpd="sng" w="76200">
            <a:solidFill>
              <a:schemeClr val="dk2"/>
            </a:solidFill>
            <a:prstDash val="solid"/>
            <a:round/>
            <a:headEnd len="med" w="med" type="none"/>
            <a:tailEnd len="med" w="med" type="none"/>
          </a:ln>
        </p:spPr>
      </p:sp>
      <p:sp>
        <p:nvSpPr>
          <p:cNvPr id="270" name="Google Shape;270;p39"/>
          <p:cNvSpPr txBox="1"/>
          <p:nvPr/>
        </p:nvSpPr>
        <p:spPr>
          <a:xfrm>
            <a:off x="340175" y="2792225"/>
            <a:ext cx="2838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9900FF"/>
                </a:solidFill>
              </a:rPr>
              <a:t>Current Price</a:t>
            </a:r>
            <a:endParaRPr b="1" sz="1600">
              <a:solidFill>
                <a:srgbClr val="9900FF"/>
              </a:solidFill>
            </a:endParaRPr>
          </a:p>
        </p:txBody>
      </p:sp>
      <p:sp>
        <p:nvSpPr>
          <p:cNvPr id="271" name="Google Shape;271;p39"/>
          <p:cNvSpPr/>
          <p:nvPr/>
        </p:nvSpPr>
        <p:spPr>
          <a:xfrm>
            <a:off x="4979275" y="2046825"/>
            <a:ext cx="369600" cy="3696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9"/>
          <p:cNvSpPr txBox="1"/>
          <p:nvPr/>
        </p:nvSpPr>
        <p:spPr>
          <a:xfrm>
            <a:off x="3744763" y="1794650"/>
            <a:ext cx="2838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0000"/>
                </a:solidFill>
              </a:rPr>
              <a:t>Short Stock</a:t>
            </a:r>
            <a:endParaRPr b="1" sz="1600">
              <a:solidFill>
                <a:srgbClr val="FF0000"/>
              </a:solidFill>
            </a:endParaRPr>
          </a:p>
        </p:txBody>
      </p:sp>
      <p:sp>
        <p:nvSpPr>
          <p:cNvPr id="273" name="Google Shape;273;p39"/>
          <p:cNvSpPr txBox="1"/>
          <p:nvPr/>
        </p:nvSpPr>
        <p:spPr>
          <a:xfrm>
            <a:off x="340175" y="1976475"/>
            <a:ext cx="3753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
        <p:nvSpPr>
          <p:cNvPr id="274" name="Google Shape;274;p39"/>
          <p:cNvSpPr txBox="1"/>
          <p:nvPr/>
        </p:nvSpPr>
        <p:spPr>
          <a:xfrm>
            <a:off x="369475" y="3554000"/>
            <a:ext cx="35835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Google Shape;279;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280" name="Google Shape;280;p4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1" name="Google Shape;281;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2" name="Google Shape;282;p40"/>
          <p:cNvSpPr/>
          <p:nvPr/>
        </p:nvSpPr>
        <p:spPr>
          <a:xfrm>
            <a:off x="270625" y="1075888"/>
            <a:ext cx="8668200" cy="35181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0"/>
          <p:cNvSpPr/>
          <p:nvPr/>
        </p:nvSpPr>
        <p:spPr>
          <a:xfrm>
            <a:off x="293250" y="1747725"/>
            <a:ext cx="8633100" cy="2510175"/>
          </a:xfrm>
          <a:custGeom>
            <a:rect b="b" l="l" r="r" t="t"/>
            <a:pathLst>
              <a:path extrusionOk="0" h="100407" w="345324">
                <a:moveTo>
                  <a:pt x="0" y="73194"/>
                </a:moveTo>
                <a:lnTo>
                  <a:pt x="91257" y="42931"/>
                </a:lnTo>
                <a:lnTo>
                  <a:pt x="178058" y="65218"/>
                </a:lnTo>
                <a:lnTo>
                  <a:pt x="201752" y="0"/>
                </a:lnTo>
                <a:lnTo>
                  <a:pt x="224038" y="23460"/>
                </a:lnTo>
                <a:lnTo>
                  <a:pt x="256178" y="100407"/>
                </a:lnTo>
                <a:lnTo>
                  <a:pt x="285971" y="22522"/>
                </a:lnTo>
                <a:lnTo>
                  <a:pt x="314357" y="35424"/>
                </a:lnTo>
                <a:lnTo>
                  <a:pt x="345324" y="24164"/>
                </a:lnTo>
              </a:path>
            </a:pathLst>
          </a:custGeom>
          <a:noFill/>
          <a:ln cap="flat" cmpd="sng" w="28575">
            <a:solidFill>
              <a:srgbClr val="9900FF"/>
            </a:solidFill>
            <a:prstDash val="solid"/>
            <a:round/>
            <a:headEnd len="med" w="med" type="none"/>
            <a:tailEnd len="med" w="med" type="none"/>
          </a:ln>
        </p:spPr>
      </p:sp>
      <p:sp>
        <p:nvSpPr>
          <p:cNvPr id="284" name="Google Shape;284;p40"/>
          <p:cNvSpPr/>
          <p:nvPr/>
        </p:nvSpPr>
        <p:spPr>
          <a:xfrm>
            <a:off x="1272675" y="2076175"/>
            <a:ext cx="7653675" cy="774150"/>
          </a:xfrm>
          <a:custGeom>
            <a:rect b="b" l="l" r="r" t="t"/>
            <a:pathLst>
              <a:path extrusionOk="0" h="30966" w="306147">
                <a:moveTo>
                  <a:pt x="0" y="25101"/>
                </a:moveTo>
                <a:lnTo>
                  <a:pt x="34016" y="16421"/>
                </a:lnTo>
                <a:lnTo>
                  <a:pt x="51846" y="10087"/>
                </a:lnTo>
                <a:lnTo>
                  <a:pt x="116594" y="29090"/>
                </a:lnTo>
                <a:lnTo>
                  <a:pt x="140757" y="7976"/>
                </a:lnTo>
                <a:lnTo>
                  <a:pt x="188849" y="469"/>
                </a:lnTo>
                <a:lnTo>
                  <a:pt x="212543" y="30966"/>
                </a:lnTo>
                <a:lnTo>
                  <a:pt x="237411" y="7507"/>
                </a:lnTo>
                <a:lnTo>
                  <a:pt x="247029" y="0"/>
                </a:lnTo>
                <a:lnTo>
                  <a:pt x="275884" y="13372"/>
                </a:lnTo>
                <a:lnTo>
                  <a:pt x="306147" y="0"/>
                </a:lnTo>
              </a:path>
            </a:pathLst>
          </a:custGeom>
          <a:noFill/>
          <a:ln cap="flat" cmpd="sng" w="76200">
            <a:solidFill>
              <a:schemeClr val="dk2"/>
            </a:solidFill>
            <a:prstDash val="solid"/>
            <a:round/>
            <a:headEnd len="med" w="med" type="none"/>
            <a:tailEnd len="med" w="med" type="none"/>
          </a:ln>
        </p:spPr>
      </p:sp>
      <p:sp>
        <p:nvSpPr>
          <p:cNvPr id="285" name="Google Shape;285;p40"/>
          <p:cNvSpPr/>
          <p:nvPr/>
        </p:nvSpPr>
        <p:spPr>
          <a:xfrm>
            <a:off x="1442750" y="2621600"/>
            <a:ext cx="7495325" cy="1302000"/>
          </a:xfrm>
          <a:custGeom>
            <a:rect b="b" l="l" r="r" t="t"/>
            <a:pathLst>
              <a:path extrusionOk="0" h="52080" w="299813">
                <a:moveTo>
                  <a:pt x="0" y="39412"/>
                </a:moveTo>
                <a:lnTo>
                  <a:pt x="43401" y="21817"/>
                </a:lnTo>
                <a:lnTo>
                  <a:pt x="130670" y="45981"/>
                </a:lnTo>
                <a:lnTo>
                  <a:pt x="154833" y="13841"/>
                </a:lnTo>
                <a:lnTo>
                  <a:pt x="170551" y="11026"/>
                </a:lnTo>
                <a:lnTo>
                  <a:pt x="193541" y="42931"/>
                </a:lnTo>
                <a:lnTo>
                  <a:pt x="210902" y="52080"/>
                </a:lnTo>
                <a:lnTo>
                  <a:pt x="237880" y="26979"/>
                </a:lnTo>
                <a:lnTo>
                  <a:pt x="250548" y="4927"/>
                </a:lnTo>
                <a:lnTo>
                  <a:pt x="269316" y="12434"/>
                </a:lnTo>
                <a:lnTo>
                  <a:pt x="299813" y="0"/>
                </a:lnTo>
              </a:path>
            </a:pathLst>
          </a:custGeom>
          <a:noFill/>
          <a:ln cap="flat" cmpd="sng" w="76200">
            <a:solidFill>
              <a:schemeClr val="dk2"/>
            </a:solidFill>
            <a:prstDash val="solid"/>
            <a:round/>
            <a:headEnd len="med" w="med" type="none"/>
            <a:tailEnd len="med" w="med" type="none"/>
          </a:ln>
        </p:spPr>
      </p:sp>
      <p:sp>
        <p:nvSpPr>
          <p:cNvPr id="286" name="Google Shape;286;p40"/>
          <p:cNvSpPr txBox="1"/>
          <p:nvPr/>
        </p:nvSpPr>
        <p:spPr>
          <a:xfrm>
            <a:off x="340175" y="2792225"/>
            <a:ext cx="2838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9900FF"/>
                </a:solidFill>
              </a:rPr>
              <a:t>Current Price</a:t>
            </a:r>
            <a:endParaRPr b="1" sz="1600">
              <a:solidFill>
                <a:srgbClr val="9900FF"/>
              </a:solidFill>
            </a:endParaRPr>
          </a:p>
        </p:txBody>
      </p:sp>
      <p:sp>
        <p:nvSpPr>
          <p:cNvPr id="287" name="Google Shape;287;p40"/>
          <p:cNvSpPr/>
          <p:nvPr/>
        </p:nvSpPr>
        <p:spPr>
          <a:xfrm>
            <a:off x="6339925" y="3589300"/>
            <a:ext cx="369600" cy="369600"/>
          </a:xfrm>
          <a:prstGeom prst="ellipse">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0"/>
          <p:cNvSpPr txBox="1"/>
          <p:nvPr/>
        </p:nvSpPr>
        <p:spPr>
          <a:xfrm>
            <a:off x="4894288" y="3841500"/>
            <a:ext cx="2838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38761D"/>
                </a:solidFill>
              </a:rPr>
              <a:t>Buy/Long</a:t>
            </a:r>
            <a:r>
              <a:rPr b="1" lang="en" sz="1600">
                <a:solidFill>
                  <a:srgbClr val="38761D"/>
                </a:solidFill>
              </a:rPr>
              <a:t> Stock</a:t>
            </a:r>
            <a:endParaRPr b="1" sz="1600">
              <a:solidFill>
                <a:srgbClr val="38761D"/>
              </a:solidFill>
            </a:endParaRPr>
          </a:p>
        </p:txBody>
      </p:sp>
      <p:sp>
        <p:nvSpPr>
          <p:cNvPr id="289" name="Google Shape;289;p40"/>
          <p:cNvSpPr txBox="1"/>
          <p:nvPr/>
        </p:nvSpPr>
        <p:spPr>
          <a:xfrm>
            <a:off x="340175" y="1976475"/>
            <a:ext cx="37536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
        <p:nvSpPr>
          <p:cNvPr id="290" name="Google Shape;290;p40"/>
          <p:cNvSpPr txBox="1"/>
          <p:nvPr/>
        </p:nvSpPr>
        <p:spPr>
          <a:xfrm>
            <a:off x="369475" y="3554000"/>
            <a:ext cx="3583500" cy="3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20 Day Mean - 2 * 20 Day Std. Dev.</a:t>
            </a:r>
            <a:endParaRPr b="1"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96" name="Google Shape;29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will only check these bands once per day, meaning you will need to use schedule_function().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Check out the notebook for a full overview.</a:t>
            </a:r>
            <a:endParaRPr sz="3000">
              <a:solidFill>
                <a:srgbClr val="434343"/>
              </a:solidFill>
              <a:latin typeface="Montserrat"/>
              <a:ea typeface="Montserrat"/>
              <a:cs typeface="Montserrat"/>
              <a:sym typeface="Montserrat"/>
            </a:endParaRPr>
          </a:p>
        </p:txBody>
      </p:sp>
      <p:pic>
        <p:nvPicPr>
          <p:cNvPr descr="watermark.jpg" id="297" name="Google Shape;297;p4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8" name="Google Shape;298;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04" name="Google Shape;304;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this seems a bit overwhelming, code along with the solutions lecture first, then go back and see if you can implement it on your own!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get started!</a:t>
            </a:r>
            <a:endParaRPr sz="3000">
              <a:solidFill>
                <a:srgbClr val="434343"/>
              </a:solidFill>
              <a:latin typeface="Montserrat"/>
              <a:ea typeface="Montserrat"/>
              <a:cs typeface="Montserrat"/>
              <a:sym typeface="Montserrat"/>
            </a:endParaRPr>
          </a:p>
        </p:txBody>
      </p:sp>
      <p:pic>
        <p:nvPicPr>
          <p:cNvPr descr="watermark.jpg" id="305" name="Google Shape;305;p4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06" name="Google Shape;306;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0" name="Shape 310"/>
        <p:cNvGrpSpPr/>
        <p:nvPr/>
      </p:nvGrpSpPr>
      <p:grpSpPr>
        <a:xfrm>
          <a:off x="0" y="0"/>
          <a:ext cx="0" cy="0"/>
          <a:chOff x="0" y="0"/>
          <a:chExt cx="0" cy="0"/>
        </a:xfrm>
      </p:grpSpPr>
      <p:sp>
        <p:nvSpPr>
          <p:cNvPr id="311" name="Google Shape;311;p43"/>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Trading Algorithm Exercise Solutions</a:t>
            </a:r>
            <a:endParaRPr b="1">
              <a:latin typeface="Montserrat"/>
              <a:ea typeface="Montserrat"/>
              <a:cs typeface="Montserrat"/>
              <a:sym typeface="Montserrat"/>
            </a:endParaRPr>
          </a:p>
        </p:txBody>
      </p:sp>
      <p:pic>
        <p:nvPicPr>
          <p:cNvPr descr="watermark.jpg" id="312" name="Google Shape;312;p4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13" name="Google Shape;313;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7" name="Shape 317"/>
        <p:cNvGrpSpPr/>
        <p:nvPr/>
      </p:nvGrpSpPr>
      <p:grpSpPr>
        <a:xfrm>
          <a:off x="0" y="0"/>
          <a:ext cx="0" cy="0"/>
          <a:chOff x="0" y="0"/>
          <a:chExt cx="0" cy="0"/>
        </a:xfrm>
      </p:grpSpPr>
      <p:sp>
        <p:nvSpPr>
          <p:cNvPr id="318" name="Google Shape;318;p44"/>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Pipelines</a:t>
            </a:r>
            <a:endParaRPr b="1">
              <a:latin typeface="Montserrat"/>
              <a:ea typeface="Montserrat"/>
              <a:cs typeface="Montserrat"/>
              <a:sym typeface="Montserrat"/>
            </a:endParaRPr>
          </a:p>
        </p:txBody>
      </p:sp>
      <p:pic>
        <p:nvPicPr>
          <p:cNvPr descr="watermark.jpg" id="319" name="Google Shape;319;p4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20" name="Google Shape;320;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4" name="Shape 324"/>
        <p:cNvGrpSpPr/>
        <p:nvPr/>
      </p:nvGrpSpPr>
      <p:grpSpPr>
        <a:xfrm>
          <a:off x="0" y="0"/>
          <a:ext cx="0" cy="0"/>
          <a:chOff x="0" y="0"/>
          <a:chExt cx="0" cy="0"/>
        </a:xfrm>
      </p:grpSpPr>
      <p:sp>
        <p:nvSpPr>
          <p:cNvPr id="325" name="Google Shape;325;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26" name="Google Shape;326;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understand the basics of Quantopian Research Notebooks and the IDE let’s move on to discuss Pipelines!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Pipelines are useful for algorithms that follow a set structure...</a:t>
            </a:r>
            <a:endParaRPr sz="3000">
              <a:solidFill>
                <a:srgbClr val="434343"/>
              </a:solidFill>
              <a:latin typeface="Montserrat"/>
              <a:ea typeface="Montserrat"/>
              <a:cs typeface="Montserrat"/>
              <a:sym typeface="Montserrat"/>
            </a:endParaRPr>
          </a:p>
        </p:txBody>
      </p:sp>
      <p:pic>
        <p:nvPicPr>
          <p:cNvPr descr="watermark.jpg" id="327" name="Google Shape;327;p4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28" name="Google Shape;328;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2" name="Shape 332"/>
        <p:cNvGrpSpPr/>
        <p:nvPr/>
      </p:nvGrpSpPr>
      <p:grpSpPr>
        <a:xfrm>
          <a:off x="0" y="0"/>
          <a:ext cx="0" cy="0"/>
          <a:chOff x="0" y="0"/>
          <a:chExt cx="0" cy="0"/>
        </a:xfrm>
      </p:grpSpPr>
      <p:sp>
        <p:nvSpPr>
          <p:cNvPr id="333" name="Google Shape;333;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34" name="Google Shape;334;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Compute some scalar value for all assets.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Filter assets based off that scalar value.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Set desired portfolio weights of filtered assets.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Place orders on assets to reflect desired portfolio weights.</a:t>
            </a:r>
            <a:endParaRPr sz="3000">
              <a:solidFill>
                <a:srgbClr val="434343"/>
              </a:solidFill>
              <a:latin typeface="Montserrat"/>
              <a:ea typeface="Montserrat"/>
              <a:cs typeface="Montserrat"/>
              <a:sym typeface="Montserrat"/>
            </a:endParaRPr>
          </a:p>
        </p:txBody>
      </p:sp>
      <p:pic>
        <p:nvPicPr>
          <p:cNvPr descr="watermark.jpg" id="335" name="Google Shape;335;p4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36" name="Google Shape;336;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0" name="Shape 340"/>
        <p:cNvGrpSpPr/>
        <p:nvPr/>
      </p:nvGrpSpPr>
      <p:grpSpPr>
        <a:xfrm>
          <a:off x="0" y="0"/>
          <a:ext cx="0" cy="0"/>
          <a:chOff x="0" y="0"/>
          <a:chExt cx="0" cy="0"/>
        </a:xfrm>
      </p:grpSpPr>
      <p:sp>
        <p:nvSpPr>
          <p:cNvPr id="341" name="Google Shape;341;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42" name="Google Shape;342;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Quantopian Pipelines offer a nice syntax to perform these operations repeatedly!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break up each major step into a separate lecture.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Take your time with this topic, while the concepts are simple, the syntax can be difficult at first!</a:t>
            </a:r>
            <a:endParaRPr sz="3000">
              <a:solidFill>
                <a:srgbClr val="434343"/>
              </a:solidFill>
              <a:latin typeface="Montserrat"/>
              <a:ea typeface="Montserrat"/>
              <a:cs typeface="Montserrat"/>
              <a:sym typeface="Montserrat"/>
            </a:endParaRPr>
          </a:p>
        </p:txBody>
      </p:sp>
      <p:pic>
        <p:nvPicPr>
          <p:cNvPr descr="watermark.jpg" id="343" name="Google Shape;343;p4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44" name="Google Shape;344;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8" name="Shape 348"/>
        <p:cNvGrpSpPr/>
        <p:nvPr/>
      </p:nvGrpSpPr>
      <p:grpSpPr>
        <a:xfrm>
          <a:off x="0" y="0"/>
          <a:ext cx="0" cy="0"/>
          <a:chOff x="0" y="0"/>
          <a:chExt cx="0" cy="0"/>
        </a:xfrm>
      </p:grpSpPr>
      <p:sp>
        <p:nvSpPr>
          <p:cNvPr id="349" name="Google Shape;349;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50" name="Google Shape;350;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Remember to reference the notebook in case you need to copy and paste any code into the Research Notebook.</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 recommend you upload the provided notebook to your Quantopian profile to follow along!</a:t>
            </a:r>
            <a:endParaRPr sz="3000">
              <a:solidFill>
                <a:srgbClr val="434343"/>
              </a:solidFill>
              <a:latin typeface="Montserrat"/>
              <a:ea typeface="Montserrat"/>
              <a:cs typeface="Montserrat"/>
              <a:sym typeface="Montserrat"/>
            </a:endParaRPr>
          </a:p>
        </p:txBody>
      </p:sp>
      <p:pic>
        <p:nvPicPr>
          <p:cNvPr descr="watermark.jpg" id="351" name="Google Shape;351;p4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52" name="Google Shape;352;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6" name="Shape 356"/>
        <p:cNvGrpSpPr/>
        <p:nvPr/>
      </p:nvGrpSpPr>
      <p:grpSpPr>
        <a:xfrm>
          <a:off x="0" y="0"/>
          <a:ext cx="0" cy="0"/>
          <a:chOff x="0" y="0"/>
          <a:chExt cx="0" cy="0"/>
        </a:xfrm>
      </p:grpSpPr>
      <p:sp>
        <p:nvSpPr>
          <p:cNvPr id="357" name="Google Shape;357;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58" name="Google Shape;358;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get started!</a:t>
            </a:r>
            <a:endParaRPr sz="3000">
              <a:solidFill>
                <a:srgbClr val="434343"/>
              </a:solidFill>
              <a:latin typeface="Montserrat"/>
              <a:ea typeface="Montserrat"/>
              <a:cs typeface="Montserrat"/>
              <a:sym typeface="Montserrat"/>
            </a:endParaRPr>
          </a:p>
        </p:txBody>
      </p:sp>
      <p:pic>
        <p:nvPicPr>
          <p:cNvPr descr="watermark.jpg" id="359" name="Google Shape;359;p4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60" name="Google Shape;360;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4" name="Shape 364"/>
        <p:cNvGrpSpPr/>
        <p:nvPr/>
      </p:nvGrpSpPr>
      <p:grpSpPr>
        <a:xfrm>
          <a:off x="0" y="0"/>
          <a:ext cx="0" cy="0"/>
          <a:chOff x="0" y="0"/>
          <a:chExt cx="0" cy="0"/>
        </a:xfrm>
      </p:grpSpPr>
      <p:sp>
        <p:nvSpPr>
          <p:cNvPr id="365" name="Google Shape;365;p50"/>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Pipelines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Classifiers and Factors</a:t>
            </a:r>
            <a:endParaRPr b="1">
              <a:latin typeface="Montserrat"/>
              <a:ea typeface="Montserrat"/>
              <a:cs typeface="Montserrat"/>
              <a:sym typeface="Montserrat"/>
            </a:endParaRPr>
          </a:p>
        </p:txBody>
      </p:sp>
      <p:pic>
        <p:nvPicPr>
          <p:cNvPr descr="watermark.jpg" id="366" name="Google Shape;366;p5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67" name="Google Shape;367;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1" name="Shape 371"/>
        <p:cNvGrpSpPr/>
        <p:nvPr/>
      </p:nvGrpSpPr>
      <p:grpSpPr>
        <a:xfrm>
          <a:off x="0" y="0"/>
          <a:ext cx="0" cy="0"/>
          <a:chOff x="0" y="0"/>
          <a:chExt cx="0" cy="0"/>
        </a:xfrm>
      </p:grpSpPr>
      <p:sp>
        <p:nvSpPr>
          <p:cNvPr id="372" name="Google Shape;372;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73" name="Google Shape;373;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begin using Pipelines by discussing a few key parts: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Classifiers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Factors</a:t>
            </a:r>
            <a:endParaRPr sz="3000">
              <a:solidFill>
                <a:srgbClr val="434343"/>
              </a:solidFill>
              <a:latin typeface="Montserrat"/>
              <a:ea typeface="Montserrat"/>
              <a:cs typeface="Montserrat"/>
              <a:sym typeface="Montserrat"/>
            </a:endParaRPr>
          </a:p>
        </p:txBody>
      </p:sp>
      <p:pic>
        <p:nvPicPr>
          <p:cNvPr descr="watermark.jpg" id="374" name="Google Shape;374;p5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75" name="Google Shape;375;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81" name="Google Shape;381;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Classifier is a function  that transforms the input of an asset and a timestamp to a categorical output (such as taking in AAPL and 2017 and reporting back that it belongs to the Tech Sector).</a:t>
            </a:r>
            <a:endParaRPr sz="3000">
              <a:solidFill>
                <a:srgbClr val="434343"/>
              </a:solidFill>
              <a:latin typeface="Montserrat"/>
              <a:ea typeface="Montserrat"/>
              <a:cs typeface="Montserrat"/>
              <a:sym typeface="Montserrat"/>
            </a:endParaRPr>
          </a:p>
        </p:txBody>
      </p:sp>
      <p:pic>
        <p:nvPicPr>
          <p:cNvPr descr="watermark.jpg" id="382" name="Google Shape;382;p5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83" name="Google Shape;383;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7" name="Shape 387"/>
        <p:cNvGrpSpPr/>
        <p:nvPr/>
      </p:nvGrpSpPr>
      <p:grpSpPr>
        <a:xfrm>
          <a:off x="0" y="0"/>
          <a:ext cx="0" cy="0"/>
          <a:chOff x="0" y="0"/>
          <a:chExt cx="0" cy="0"/>
        </a:xfrm>
      </p:grpSpPr>
      <p:sp>
        <p:nvSpPr>
          <p:cNvPr id="388" name="Google Shape;388;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89" name="Google Shape;389;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factor is a function that takes in an asset and a timestamp and returns a numerical value, such as the 10-day moving average. </a:t>
            </a:r>
            <a:endParaRPr sz="3000">
              <a:solidFill>
                <a:srgbClr val="434343"/>
              </a:solidFill>
              <a:latin typeface="Montserrat"/>
              <a:ea typeface="Montserrat"/>
              <a:cs typeface="Montserrat"/>
              <a:sym typeface="Montserrat"/>
            </a:endParaRPr>
          </a:p>
        </p:txBody>
      </p:sp>
      <p:pic>
        <p:nvPicPr>
          <p:cNvPr descr="watermark.jpg" id="390" name="Google Shape;390;p5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1" name="Google Shape;391;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5" name="Shape 395"/>
        <p:cNvGrpSpPr/>
        <p:nvPr/>
      </p:nvGrpSpPr>
      <p:grpSpPr>
        <a:xfrm>
          <a:off x="0" y="0"/>
          <a:ext cx="0" cy="0"/>
          <a:chOff x="0" y="0"/>
          <a:chExt cx="0" cy="0"/>
        </a:xfrm>
      </p:grpSpPr>
      <p:sp>
        <p:nvSpPr>
          <p:cNvPr id="396" name="Google Shape;396;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97" name="Google Shape;397;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this lecture we will create a Pipeline that returns back all equities available at some timestamp.</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will use the USEquityPricing dataset to match up prices to those sids.</a:t>
            </a:r>
            <a:endParaRPr sz="3000">
              <a:solidFill>
                <a:srgbClr val="434343"/>
              </a:solidFill>
              <a:latin typeface="Montserrat"/>
              <a:ea typeface="Montserrat"/>
              <a:cs typeface="Montserrat"/>
              <a:sym typeface="Montserrat"/>
            </a:endParaRPr>
          </a:p>
        </p:txBody>
      </p:sp>
      <p:pic>
        <p:nvPicPr>
          <p:cNvPr descr="watermark.jpg" id="398" name="Google Shape;398;p5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9" name="Google Shape;399;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05" name="Google Shape;405;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Then we can create a Factor that will compute some numerical value given the pricing information.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lot of these functions will be imported from built-in Quantopian Pipeline libraries!</a:t>
            </a:r>
            <a:endParaRPr sz="3000">
              <a:solidFill>
                <a:srgbClr val="434343"/>
              </a:solidFill>
              <a:latin typeface="Montserrat"/>
              <a:ea typeface="Montserrat"/>
              <a:cs typeface="Montserrat"/>
              <a:sym typeface="Montserrat"/>
            </a:endParaRPr>
          </a:p>
        </p:txBody>
      </p:sp>
      <p:pic>
        <p:nvPicPr>
          <p:cNvPr descr="watermark.jpg" id="406" name="Google Shape;406;p5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07" name="Google Shape;407;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1" name="Shape 411"/>
        <p:cNvGrpSpPr/>
        <p:nvPr/>
      </p:nvGrpSpPr>
      <p:grpSpPr>
        <a:xfrm>
          <a:off x="0" y="0"/>
          <a:ext cx="0" cy="0"/>
          <a:chOff x="0" y="0"/>
          <a:chExt cx="0" cy="0"/>
        </a:xfrm>
      </p:grpSpPr>
      <p:sp>
        <p:nvSpPr>
          <p:cNvPr id="412" name="Google Shape;412;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13" name="Google Shape;413;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how these concepts fit in with the Pipeline Operator in Quantopian!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jump to a new research notebook!</a:t>
            </a:r>
            <a:endParaRPr sz="3000">
              <a:solidFill>
                <a:srgbClr val="434343"/>
              </a:solidFill>
              <a:latin typeface="Montserrat"/>
              <a:ea typeface="Montserrat"/>
              <a:cs typeface="Montserrat"/>
              <a:sym typeface="Montserrat"/>
            </a:endParaRPr>
          </a:p>
        </p:txBody>
      </p:sp>
      <p:pic>
        <p:nvPicPr>
          <p:cNvPr descr="watermark.jpg" id="414" name="Google Shape;414;p5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15" name="Google Shape;415;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9" name="Shape 419"/>
        <p:cNvGrpSpPr/>
        <p:nvPr/>
      </p:nvGrpSpPr>
      <p:grpSpPr>
        <a:xfrm>
          <a:off x="0" y="0"/>
          <a:ext cx="0" cy="0"/>
          <a:chOff x="0" y="0"/>
          <a:chExt cx="0" cy="0"/>
        </a:xfrm>
      </p:grpSpPr>
      <p:sp>
        <p:nvSpPr>
          <p:cNvPr id="420" name="Google Shape;420;p57"/>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Pipelines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Filters and Screens</a:t>
            </a:r>
            <a:endParaRPr b="1">
              <a:latin typeface="Montserrat"/>
              <a:ea typeface="Montserrat"/>
              <a:cs typeface="Montserrat"/>
              <a:sym typeface="Montserrat"/>
            </a:endParaRPr>
          </a:p>
        </p:txBody>
      </p:sp>
      <p:pic>
        <p:nvPicPr>
          <p:cNvPr descr="watermark.jpg" id="421" name="Google Shape;421;p5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22" name="Google Shape;422;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6" name="Shape 426"/>
        <p:cNvGrpSpPr/>
        <p:nvPr/>
      </p:nvGrpSpPr>
      <p:grpSpPr>
        <a:xfrm>
          <a:off x="0" y="0"/>
          <a:ext cx="0" cy="0"/>
          <a:chOff x="0" y="0"/>
          <a:chExt cx="0" cy="0"/>
        </a:xfrm>
      </p:grpSpPr>
      <p:sp>
        <p:nvSpPr>
          <p:cNvPr id="427" name="Google Shape;427;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28" name="Google Shape;428;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continue learning about Pipelines by discussing Filters and Screens.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Filters take in an asset and a timestamp and return a Boolean.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Screens then allow you to execute those filters in your pipeline.</a:t>
            </a:r>
            <a:endParaRPr sz="3000">
              <a:solidFill>
                <a:srgbClr val="434343"/>
              </a:solidFill>
              <a:latin typeface="Montserrat"/>
              <a:ea typeface="Montserrat"/>
              <a:cs typeface="Montserrat"/>
              <a:sym typeface="Montserrat"/>
            </a:endParaRPr>
          </a:p>
        </p:txBody>
      </p:sp>
      <p:pic>
        <p:nvPicPr>
          <p:cNvPr descr="watermark.jpg" id="429" name="Google Shape;429;p5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0" name="Google Shape;430;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4" name="Shape 434"/>
        <p:cNvGrpSpPr/>
        <p:nvPr/>
      </p:nvGrpSpPr>
      <p:grpSpPr>
        <a:xfrm>
          <a:off x="0" y="0"/>
          <a:ext cx="0" cy="0"/>
          <a:chOff x="0" y="0"/>
          <a:chExt cx="0" cy="0"/>
        </a:xfrm>
      </p:grpSpPr>
      <p:sp>
        <p:nvSpPr>
          <p:cNvPr id="435" name="Google Shape;435;p59"/>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Quantopian Pipelines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Masking and Classifiers</a:t>
            </a:r>
            <a:endParaRPr b="1">
              <a:latin typeface="Montserrat"/>
              <a:ea typeface="Montserrat"/>
              <a:cs typeface="Montserrat"/>
              <a:sym typeface="Montserrat"/>
            </a:endParaRPr>
          </a:p>
        </p:txBody>
      </p:sp>
      <p:pic>
        <p:nvPicPr>
          <p:cNvPr descr="watermark.jpg" id="436" name="Google Shape;436;p5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7" name="Google Shape;437;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1" name="Shape 441"/>
        <p:cNvGrpSpPr/>
        <p:nvPr/>
      </p:nvGrpSpPr>
      <p:grpSpPr>
        <a:xfrm>
          <a:off x="0" y="0"/>
          <a:ext cx="0" cy="0"/>
          <a:chOff x="0" y="0"/>
          <a:chExt cx="0" cy="0"/>
        </a:xfrm>
      </p:grpSpPr>
      <p:sp>
        <p:nvSpPr>
          <p:cNvPr id="442" name="Google Shape;442;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43" name="Google Shape;443;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Masking allows us to tell our pipeline to ignore assets all together, before the factors or filters even really take place.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pass in the mask parameter to both factors and filters.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44" name="Google Shape;444;p6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45" name="Google Shape;445;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51" name="Google Shape;451;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Classifiers take in an asset and a timestamp and return a categorical value, such as a sector or an exchange.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a few quick examples of both masking and classifiers!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52" name="Google Shape;452;p6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53" name="Google Shape;453;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7" name="Shape 457"/>
        <p:cNvGrpSpPr/>
        <p:nvPr/>
      </p:nvGrpSpPr>
      <p:grpSpPr>
        <a:xfrm>
          <a:off x="0" y="0"/>
          <a:ext cx="0" cy="0"/>
          <a:chOff x="0" y="0"/>
          <a:chExt cx="0" cy="0"/>
        </a:xfrm>
      </p:grpSpPr>
      <p:sp>
        <p:nvSpPr>
          <p:cNvPr id="458" name="Google Shape;458;p62"/>
          <p:cNvSpPr txBox="1"/>
          <p:nvPr>
            <p:ph type="ctrTitle"/>
          </p:nvPr>
        </p:nvSpPr>
        <p:spPr>
          <a:xfrm>
            <a:off x="311708" y="12095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Course Overview </a:t>
            </a:r>
            <a:endParaRPr b="1">
              <a:latin typeface="Montserrat"/>
              <a:ea typeface="Montserrat"/>
              <a:cs typeface="Montserrat"/>
              <a:sym typeface="Montserrat"/>
            </a:endParaRPr>
          </a:p>
        </p:txBody>
      </p:sp>
      <p:pic>
        <p:nvPicPr>
          <p:cNvPr descr="watermark.jpg" id="459" name="Google Shape;459;p6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60" name="Google Shape;460;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4" name="Shape 464"/>
        <p:cNvGrpSpPr/>
        <p:nvPr/>
      </p:nvGrpSpPr>
      <p:grpSpPr>
        <a:xfrm>
          <a:off x="0" y="0"/>
          <a:ext cx="0" cy="0"/>
          <a:chOff x="0" y="0"/>
          <a:chExt cx="0" cy="0"/>
        </a:xfrm>
      </p:grpSpPr>
      <p:sp>
        <p:nvSpPr>
          <p:cNvPr id="465" name="Google Shape;465;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66" name="Google Shape;466;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Welcome to the course!</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In this lecture we will quickly cover some FAQs and what to expect during the course!</a:t>
            </a:r>
            <a:endParaRPr sz="3000">
              <a:latin typeface="Montserrat"/>
              <a:ea typeface="Montserrat"/>
              <a:cs typeface="Montserrat"/>
              <a:sym typeface="Montserrat"/>
            </a:endParaRPr>
          </a:p>
          <a:p>
            <a:pPr indent="-419100" lvl="0" marL="457200" rtl="0" algn="l">
              <a:spcBef>
                <a:spcPts val="0"/>
              </a:spcBef>
              <a:spcAft>
                <a:spcPts val="0"/>
              </a:spcAft>
              <a:buClr>
                <a:srgbClr val="980000"/>
              </a:buClr>
              <a:buSzPts val="3000"/>
              <a:buFont typeface="Montserrat"/>
              <a:buChar char="●"/>
            </a:pPr>
            <a:r>
              <a:rPr lang="en" sz="3000">
                <a:solidFill>
                  <a:srgbClr val="980000"/>
                </a:solidFill>
                <a:latin typeface="Montserrat"/>
                <a:ea typeface="Montserrat"/>
                <a:cs typeface="Montserrat"/>
                <a:sym typeface="Montserrat"/>
              </a:rPr>
              <a:t>Please don’t skip this lecture! It will help you understand the course!</a:t>
            </a:r>
            <a:endParaRPr sz="3000">
              <a:solidFill>
                <a:srgbClr val="980000"/>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67" name="Google Shape;467;p6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68" name="Google Shape;468;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2" name="Shape 472"/>
        <p:cNvGrpSpPr/>
        <p:nvPr/>
      </p:nvGrpSpPr>
      <p:grpSpPr>
        <a:xfrm>
          <a:off x="0" y="0"/>
          <a:ext cx="0" cy="0"/>
          <a:chOff x="0" y="0"/>
          <a:chExt cx="0" cy="0"/>
        </a:xfrm>
      </p:grpSpPr>
      <p:sp>
        <p:nvSpPr>
          <p:cNvPr id="473" name="Google Shape;473;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74" name="Google Shape;474;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Let’s discuss a few things that will help give you the best course experience possible!</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Lectures can be speed up to your liking up to 2x and they can also be viewed at higher quality, click on the settings icon.</a:t>
            </a:r>
            <a:endParaRPr sz="3000">
              <a:latin typeface="Montserrat"/>
              <a:ea typeface="Montserrat"/>
              <a:cs typeface="Montserrat"/>
              <a:sym typeface="Montserrat"/>
            </a:endParaRPr>
          </a:p>
        </p:txBody>
      </p:sp>
      <p:pic>
        <p:nvPicPr>
          <p:cNvPr descr="watermark.jpg" id="475" name="Google Shape;475;p6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6" name="Google Shape;476;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0" name="Shape 480"/>
        <p:cNvGrpSpPr/>
        <p:nvPr/>
      </p:nvGrpSpPr>
      <p:grpSpPr>
        <a:xfrm>
          <a:off x="0" y="0"/>
          <a:ext cx="0" cy="0"/>
          <a:chOff x="0" y="0"/>
          <a:chExt cx="0" cy="0"/>
        </a:xfrm>
      </p:grpSpPr>
      <p:sp>
        <p:nvSpPr>
          <p:cNvPr id="481" name="Google Shape;481;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82" name="Google Shape;482;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Who is this course for and what does it cover?</a:t>
            </a:r>
            <a:endParaRPr sz="3000">
              <a:latin typeface="Montserrat"/>
              <a:ea typeface="Montserrat"/>
              <a:cs typeface="Montserrat"/>
              <a:sym typeface="Montserrat"/>
            </a:endParaRPr>
          </a:p>
          <a:p>
            <a:pPr indent="-419100" lvl="1" marL="1371600" rtl="0" algn="l">
              <a:spcBef>
                <a:spcPts val="0"/>
              </a:spcBef>
              <a:spcAft>
                <a:spcPts val="0"/>
              </a:spcAft>
              <a:buSzPts val="3000"/>
              <a:buFont typeface="Montserrat"/>
              <a:buChar char="○"/>
            </a:pPr>
            <a:r>
              <a:rPr lang="en" sz="3000">
                <a:latin typeface="Montserrat"/>
                <a:ea typeface="Montserrat"/>
                <a:cs typeface="Montserrat"/>
                <a:sym typeface="Montserrat"/>
              </a:rPr>
              <a:t>Some experience with programming.</a:t>
            </a:r>
            <a:endParaRPr sz="3000">
              <a:latin typeface="Montserrat"/>
              <a:ea typeface="Montserrat"/>
              <a:cs typeface="Montserrat"/>
              <a:sym typeface="Montserrat"/>
            </a:endParaRPr>
          </a:p>
          <a:p>
            <a:pPr indent="-419100" lvl="1" marL="1371600" rtl="0" algn="l">
              <a:spcBef>
                <a:spcPts val="0"/>
              </a:spcBef>
              <a:spcAft>
                <a:spcPts val="0"/>
              </a:spcAft>
              <a:buSzPts val="3000"/>
              <a:buFont typeface="Montserrat"/>
              <a:buChar char="○"/>
            </a:pPr>
            <a:r>
              <a:rPr lang="en" sz="3000">
                <a:latin typeface="Montserrat"/>
                <a:ea typeface="Montserrat"/>
                <a:cs typeface="Montserrat"/>
                <a:sym typeface="Montserrat"/>
              </a:rPr>
              <a:t>Interested in using Python for Finance and Algorithmic Trading!</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483" name="Google Shape;483;p6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84" name="Google Shape;484;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8" name="Shape 488"/>
        <p:cNvGrpSpPr/>
        <p:nvPr/>
      </p:nvGrpSpPr>
      <p:grpSpPr>
        <a:xfrm>
          <a:off x="0" y="0"/>
          <a:ext cx="0" cy="0"/>
          <a:chOff x="0" y="0"/>
          <a:chExt cx="0" cy="0"/>
        </a:xfrm>
      </p:grpSpPr>
      <p:sp>
        <p:nvSpPr>
          <p:cNvPr id="489" name="Google Shape;489;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90" name="Google Shape;490;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If you are interested in just general Data Science and Machine Learning with Python, check out my other course:</a:t>
            </a:r>
            <a:endParaRPr sz="3000">
              <a:latin typeface="Montserrat"/>
              <a:ea typeface="Montserrat"/>
              <a:cs typeface="Montserrat"/>
              <a:sym typeface="Montserrat"/>
            </a:endParaRPr>
          </a:p>
          <a:p>
            <a:pPr indent="-419100" lvl="1" marL="1371600" rtl="0" algn="l">
              <a:spcBef>
                <a:spcPts val="0"/>
              </a:spcBef>
              <a:spcAft>
                <a:spcPts val="0"/>
              </a:spcAft>
              <a:buSzPts val="3000"/>
              <a:buFont typeface="Montserrat"/>
              <a:buChar char="○"/>
            </a:pPr>
            <a:r>
              <a:rPr lang="en" sz="3000">
                <a:latin typeface="Montserrat"/>
                <a:ea typeface="Montserrat"/>
                <a:cs typeface="Montserrat"/>
                <a:sym typeface="Montserrat"/>
              </a:rPr>
              <a:t>“</a:t>
            </a:r>
            <a:r>
              <a:rPr lang="en" sz="3000">
                <a:solidFill>
                  <a:schemeClr val="dk1"/>
                </a:solidFill>
                <a:latin typeface="Montserrat"/>
                <a:ea typeface="Montserrat"/>
                <a:cs typeface="Montserrat"/>
                <a:sym typeface="Montserrat"/>
              </a:rPr>
              <a:t> Python for Data Science and Machine Learning Bootcamp </a:t>
            </a:r>
            <a:r>
              <a:rPr lang="en" sz="3000">
                <a:latin typeface="Montserrat"/>
                <a:ea typeface="Montserrat"/>
                <a:cs typeface="Montserrat"/>
                <a:sym typeface="Montserrat"/>
              </a:rPr>
              <a:t>”</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491" name="Google Shape;491;p6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92" name="Google Shape;492;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6" name="Shape 496"/>
        <p:cNvGrpSpPr/>
        <p:nvPr/>
      </p:nvGrpSpPr>
      <p:grpSpPr>
        <a:xfrm>
          <a:off x="0" y="0"/>
          <a:ext cx="0" cy="0"/>
          <a:chOff x="0" y="0"/>
          <a:chExt cx="0" cy="0"/>
        </a:xfrm>
      </p:grpSpPr>
      <p:sp>
        <p:nvSpPr>
          <p:cNvPr id="497" name="Google Shape;497;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98" name="Google Shape;498;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This course is ideal for students who have some Python knowledge and are interested in Finance Topics.</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A few more things before we get started!</a:t>
            </a:r>
            <a:endParaRPr sz="3000">
              <a:latin typeface="Montserrat"/>
              <a:ea typeface="Montserrat"/>
              <a:cs typeface="Montserrat"/>
              <a:sym typeface="Montserrat"/>
            </a:endParaRPr>
          </a:p>
        </p:txBody>
      </p:sp>
      <p:pic>
        <p:nvPicPr>
          <p:cNvPr descr="watermark.jpg" id="499" name="Google Shape;499;p6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00" name="Google Shape;500;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4" name="Shape 504"/>
        <p:cNvGrpSpPr/>
        <p:nvPr/>
      </p:nvGrpSpPr>
      <p:grpSpPr>
        <a:xfrm>
          <a:off x="0" y="0"/>
          <a:ext cx="0" cy="0"/>
          <a:chOff x="0" y="0"/>
          <a:chExt cx="0" cy="0"/>
        </a:xfrm>
      </p:grpSpPr>
      <p:sp>
        <p:nvSpPr>
          <p:cNvPr id="505" name="Google Shape;505;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06" name="Google Shape;506;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This course uses Anaconda and the Jupyter Notebook system.</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If you have your own preferences and are a more advanced user of Python, please feel free to choose any environment you prefer!</a:t>
            </a:r>
            <a:endParaRPr sz="3000">
              <a:latin typeface="Montserrat"/>
              <a:ea typeface="Montserrat"/>
              <a:cs typeface="Montserrat"/>
              <a:sym typeface="Montserrat"/>
            </a:endParaRPr>
          </a:p>
        </p:txBody>
      </p:sp>
      <p:pic>
        <p:nvPicPr>
          <p:cNvPr descr="watermark.jpg" id="507" name="Google Shape;507;p6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08" name="Google Shape;508;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2" name="Shape 512"/>
        <p:cNvGrpSpPr/>
        <p:nvPr/>
      </p:nvGrpSpPr>
      <p:grpSpPr>
        <a:xfrm>
          <a:off x="0" y="0"/>
          <a:ext cx="0" cy="0"/>
          <a:chOff x="0" y="0"/>
          <a:chExt cx="0" cy="0"/>
        </a:xfrm>
      </p:grpSpPr>
      <p:sp>
        <p:nvSpPr>
          <p:cNvPr id="513" name="Google Shape;513;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14" name="Google Shape;514;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The course notes have been provided as a .zip file containing all the .ipynb notebooks used during the course.</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You can easily use the nbconvert library to convert them to a variety of formats.</a:t>
            </a:r>
            <a:endParaRPr sz="3000">
              <a:latin typeface="Montserrat"/>
              <a:ea typeface="Montserrat"/>
              <a:cs typeface="Montserrat"/>
              <a:sym typeface="Montserrat"/>
            </a:endParaRPr>
          </a:p>
        </p:txBody>
      </p:sp>
      <p:pic>
        <p:nvPicPr>
          <p:cNvPr descr="watermark.jpg" id="515" name="Google Shape;515;p6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16" name="Google Shape;516;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0" name="Shape 520"/>
        <p:cNvGrpSpPr/>
        <p:nvPr/>
      </p:nvGrpSpPr>
      <p:grpSpPr>
        <a:xfrm>
          <a:off x="0" y="0"/>
          <a:ext cx="0" cy="0"/>
          <a:chOff x="0" y="0"/>
          <a:chExt cx="0" cy="0"/>
        </a:xfrm>
      </p:grpSpPr>
      <p:sp>
        <p:nvSpPr>
          <p:cNvPr id="521" name="Google Shape;521;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22" name="Google Shape;522;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The slides shown in the course are also linked to as a resource in their respective lecture.</a:t>
            </a:r>
            <a:endParaRPr sz="3000">
              <a:latin typeface="Montserrat"/>
              <a:ea typeface="Montserrat"/>
              <a:cs typeface="Montserrat"/>
              <a:sym typeface="Montserrat"/>
            </a:endParaRPr>
          </a:p>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They are hosted as Google Slides you can just visit online to see any updates.</a:t>
            </a:r>
            <a:endParaRPr sz="3000">
              <a:latin typeface="Montserrat"/>
              <a:ea typeface="Montserrat"/>
              <a:cs typeface="Montserrat"/>
              <a:sym typeface="Montserrat"/>
            </a:endParaRPr>
          </a:p>
          <a:p>
            <a:pPr indent="0" lvl="0" marL="0" rtl="0" algn="l">
              <a:spcBef>
                <a:spcPts val="1600"/>
              </a:spcBef>
              <a:spcAft>
                <a:spcPts val="0"/>
              </a:spcAft>
              <a:buClr>
                <a:schemeClr val="dk1"/>
              </a:buClr>
              <a:buSzPts val="1100"/>
              <a:buFont typeface="Arial"/>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23" name="Google Shape;523;p7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24" name="Google Shape;524;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8" name="Shape 528"/>
        <p:cNvGrpSpPr/>
        <p:nvPr/>
      </p:nvGrpSpPr>
      <p:grpSpPr>
        <a:xfrm>
          <a:off x="0" y="0"/>
          <a:ext cx="0" cy="0"/>
          <a:chOff x="0" y="0"/>
          <a:chExt cx="0" cy="0"/>
        </a:xfrm>
      </p:grpSpPr>
      <p:sp>
        <p:nvSpPr>
          <p:cNvPr id="529" name="Google Shape;529;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30" name="Google Shape;530;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Font typeface="Montserrat"/>
              <a:buChar char="●"/>
            </a:pPr>
            <a:r>
              <a:rPr lang="en" sz="3000">
                <a:latin typeface="Montserrat"/>
                <a:ea typeface="Montserrat"/>
                <a:cs typeface="Montserrat"/>
                <a:sym typeface="Montserrat"/>
              </a:rPr>
              <a:t>How to get help during the course:</a:t>
            </a:r>
            <a:endParaRPr sz="3000">
              <a:latin typeface="Montserrat"/>
              <a:ea typeface="Montserrat"/>
              <a:cs typeface="Montserrat"/>
              <a:sym typeface="Montserrat"/>
            </a:endParaRPr>
          </a:p>
          <a:p>
            <a:pPr indent="-419100" lvl="1" marL="1371600" rtl="0" algn="l">
              <a:spcBef>
                <a:spcPts val="0"/>
              </a:spcBef>
              <a:spcAft>
                <a:spcPts val="0"/>
              </a:spcAft>
              <a:buSzPts val="3000"/>
              <a:buFont typeface="Montserrat"/>
              <a:buChar char="○"/>
            </a:pPr>
            <a:r>
              <a:rPr lang="en" sz="3000">
                <a:latin typeface="Montserrat"/>
                <a:ea typeface="Montserrat"/>
                <a:cs typeface="Montserrat"/>
                <a:sym typeface="Montserrat"/>
              </a:rPr>
              <a:t>Double check that your code matches the notebooks </a:t>
            </a:r>
            <a:r>
              <a:rPr b="1" lang="en" sz="3000">
                <a:latin typeface="Montserrat"/>
                <a:ea typeface="Montserrat"/>
                <a:cs typeface="Montserrat"/>
                <a:sym typeface="Montserrat"/>
              </a:rPr>
              <a:t>exactly!</a:t>
            </a:r>
            <a:endParaRPr b="1" sz="3000">
              <a:latin typeface="Montserrat"/>
              <a:ea typeface="Montserrat"/>
              <a:cs typeface="Montserrat"/>
              <a:sym typeface="Montserrat"/>
            </a:endParaRPr>
          </a:p>
          <a:p>
            <a:pPr indent="-419100" lvl="1" marL="1371600" rtl="0" algn="l">
              <a:spcBef>
                <a:spcPts val="0"/>
              </a:spcBef>
              <a:spcAft>
                <a:spcPts val="0"/>
              </a:spcAft>
              <a:buSzPts val="3000"/>
              <a:buFont typeface="Montserrat"/>
              <a:buChar char="○"/>
            </a:pPr>
            <a:r>
              <a:rPr lang="en" sz="3000">
                <a:latin typeface="Montserrat"/>
                <a:ea typeface="Montserrat"/>
                <a:cs typeface="Montserrat"/>
                <a:sym typeface="Montserrat"/>
              </a:rPr>
              <a:t>The code provided in the notebooks is </a:t>
            </a:r>
            <a:r>
              <a:rPr b="1" lang="en" sz="3000">
                <a:latin typeface="Montserrat"/>
                <a:ea typeface="Montserrat"/>
                <a:cs typeface="Montserrat"/>
                <a:sym typeface="Montserrat"/>
              </a:rPr>
              <a:t>guaranteed </a:t>
            </a:r>
            <a:r>
              <a:rPr lang="en" sz="3000">
                <a:latin typeface="Montserrat"/>
                <a:ea typeface="Montserrat"/>
                <a:cs typeface="Montserrat"/>
                <a:sym typeface="Montserrat"/>
              </a:rPr>
              <a:t>to work if you are using the provided environment file!</a:t>
            </a:r>
            <a:endParaRPr sz="3000">
              <a:latin typeface="Montserrat"/>
              <a:ea typeface="Montserrat"/>
              <a:cs typeface="Montserrat"/>
              <a:sym typeface="Montserrat"/>
            </a:endParaRPr>
          </a:p>
          <a:p>
            <a:pPr indent="0" lvl="0" marL="0" rtl="0" algn="l">
              <a:spcBef>
                <a:spcPts val="1600"/>
              </a:spcBef>
              <a:spcAft>
                <a:spcPts val="0"/>
              </a:spcAft>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31" name="Google Shape;531;p7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32" name="Google Shape;532;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6" name="Shape 536"/>
        <p:cNvGrpSpPr/>
        <p:nvPr/>
      </p:nvGrpSpPr>
      <p:grpSpPr>
        <a:xfrm>
          <a:off x="0" y="0"/>
          <a:ext cx="0" cy="0"/>
          <a:chOff x="0" y="0"/>
          <a:chExt cx="0" cy="0"/>
        </a:xfrm>
      </p:grpSpPr>
      <p:sp>
        <p:nvSpPr>
          <p:cNvPr id="537" name="Google Shape;537;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38" name="Google Shape;538;p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chemeClr val="dk2"/>
              </a:buClr>
              <a:buSzPts val="3000"/>
              <a:buFont typeface="Montserrat"/>
              <a:buChar char="●"/>
            </a:pPr>
            <a:r>
              <a:rPr lang="en" sz="3000">
                <a:latin typeface="Montserrat"/>
                <a:ea typeface="Montserrat"/>
                <a:cs typeface="Montserrat"/>
                <a:sym typeface="Montserrat"/>
              </a:rPr>
              <a:t>Please make sure to run the provided notebooks first before posting a question, it will save you a lot of time!</a:t>
            </a:r>
            <a:endParaRPr sz="3000">
              <a:latin typeface="Montserrat"/>
              <a:ea typeface="Montserrat"/>
              <a:cs typeface="Montserrat"/>
              <a:sym typeface="Montserrat"/>
            </a:endParaRPr>
          </a:p>
          <a:p>
            <a:pPr indent="-419100" lvl="0" marL="4572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Still have a question, no problem!</a:t>
            </a:r>
            <a:endParaRPr sz="3000">
              <a:latin typeface="Montserrat"/>
              <a:ea typeface="Montserrat"/>
              <a:cs typeface="Montserrat"/>
              <a:sym typeface="Montserrat"/>
            </a:endParaRPr>
          </a:p>
          <a:p>
            <a:pPr indent="-419100" lvl="0" marL="4572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Post questions to the Q&amp;A forums inside the course.</a:t>
            </a:r>
            <a:endParaRPr sz="3000">
              <a:latin typeface="Montserrat"/>
              <a:ea typeface="Montserrat"/>
              <a:cs typeface="Montserrat"/>
              <a:sym typeface="Montserrat"/>
            </a:endParaRPr>
          </a:p>
          <a:p>
            <a:pPr indent="0" lvl="0" marL="0" rtl="0" algn="l">
              <a:spcBef>
                <a:spcPts val="1600"/>
              </a:spcBef>
              <a:spcAft>
                <a:spcPts val="0"/>
              </a:spcAft>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39" name="Google Shape;539;p7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40" name="Google Shape;540;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4" name="Shape 544"/>
        <p:cNvGrpSpPr/>
        <p:nvPr/>
      </p:nvGrpSpPr>
      <p:grpSpPr>
        <a:xfrm>
          <a:off x="0" y="0"/>
          <a:ext cx="0" cy="0"/>
          <a:chOff x="0" y="0"/>
          <a:chExt cx="0" cy="0"/>
        </a:xfrm>
      </p:grpSpPr>
      <p:sp>
        <p:nvSpPr>
          <p:cNvPr id="545" name="Google Shape;545;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46" name="Google Shape;546;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chemeClr val="dk2"/>
              </a:buClr>
              <a:buSzPts val="3000"/>
              <a:buFont typeface="Montserrat"/>
              <a:buChar char="●"/>
            </a:pPr>
            <a:r>
              <a:rPr lang="en" sz="3000">
                <a:latin typeface="Montserrat"/>
                <a:ea typeface="Montserrat"/>
                <a:cs typeface="Montserrat"/>
                <a:sym typeface="Montserrat"/>
              </a:rPr>
              <a:t>Please remember to give as much detail as possible, including what you’ve tried and what resources or links you’ve already seen.</a:t>
            </a:r>
            <a:endParaRPr sz="3000">
              <a:latin typeface="Montserrat"/>
              <a:ea typeface="Montserrat"/>
              <a:cs typeface="Montserrat"/>
              <a:sym typeface="Montserrat"/>
            </a:endParaRPr>
          </a:p>
          <a:p>
            <a:pPr indent="-419100" lvl="0" marL="4572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Remember to search the Q&amp;A forums for previous similar questions!</a:t>
            </a:r>
            <a:endParaRPr sz="3000">
              <a:latin typeface="Montserrat"/>
              <a:ea typeface="Montserrat"/>
              <a:cs typeface="Montserrat"/>
              <a:sym typeface="Montserrat"/>
            </a:endParaRPr>
          </a:p>
          <a:p>
            <a:pPr indent="0" lvl="0" marL="0" rtl="0" algn="l">
              <a:spcBef>
                <a:spcPts val="1600"/>
              </a:spcBef>
              <a:spcAft>
                <a:spcPts val="0"/>
              </a:spcAft>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47" name="Google Shape;547;p7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48" name="Google Shape;548;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2" name="Shape 552"/>
        <p:cNvGrpSpPr/>
        <p:nvPr/>
      </p:nvGrpSpPr>
      <p:grpSpPr>
        <a:xfrm>
          <a:off x="0" y="0"/>
          <a:ext cx="0" cy="0"/>
          <a:chOff x="0" y="0"/>
          <a:chExt cx="0" cy="0"/>
        </a:xfrm>
      </p:grpSpPr>
      <p:sp>
        <p:nvSpPr>
          <p:cNvPr id="553" name="Google Shape;553;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54" name="Google Shape;554;p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After completing the course you will receive the ability to get a certificate of completion.</a:t>
            </a:r>
            <a:endParaRPr sz="3000">
              <a:latin typeface="Montserrat"/>
              <a:ea typeface="Montserrat"/>
              <a:cs typeface="Montserrat"/>
              <a:sym typeface="Montserrat"/>
            </a:endParaRPr>
          </a:p>
          <a:p>
            <a:pPr indent="-419100" lvl="0" marL="4572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If you have any issues regarding this certificate, please contact:</a:t>
            </a:r>
            <a:endParaRPr sz="3000">
              <a:latin typeface="Montserrat"/>
              <a:ea typeface="Montserrat"/>
              <a:cs typeface="Montserrat"/>
              <a:sym typeface="Montserrat"/>
            </a:endParaRPr>
          </a:p>
          <a:p>
            <a:pPr indent="-419100" lvl="1" marL="13716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support@udemy.com </a:t>
            </a:r>
            <a:endParaRPr sz="3000">
              <a:latin typeface="Montserrat"/>
              <a:ea typeface="Montserrat"/>
              <a:cs typeface="Montserrat"/>
              <a:sym typeface="Montserrat"/>
            </a:endParaRPr>
          </a:p>
          <a:p>
            <a:pPr indent="0" lvl="0" marL="0" rtl="0" algn="l">
              <a:spcBef>
                <a:spcPts val="1600"/>
              </a:spcBef>
              <a:spcAft>
                <a:spcPts val="0"/>
              </a:spcAft>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55" name="Google Shape;555;p7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56" name="Google Shape;556;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0" name="Shape 560"/>
        <p:cNvGrpSpPr/>
        <p:nvPr/>
      </p:nvGrpSpPr>
      <p:grpSpPr>
        <a:xfrm>
          <a:off x="0" y="0"/>
          <a:ext cx="0" cy="0"/>
          <a:chOff x="0" y="0"/>
          <a:chExt cx="0" cy="0"/>
        </a:xfrm>
      </p:grpSpPr>
      <p:sp>
        <p:nvSpPr>
          <p:cNvPr id="561" name="Google Shape;561;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62" name="Google Shape;562;p7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chemeClr val="dk2"/>
              </a:buClr>
              <a:buSzPts val="3000"/>
              <a:buFont typeface="Montserrat"/>
              <a:buChar char="●"/>
            </a:pPr>
            <a:r>
              <a:rPr lang="en" sz="3000">
                <a:latin typeface="Montserrat"/>
                <a:ea typeface="Montserrat"/>
                <a:cs typeface="Montserrat"/>
                <a:sym typeface="Montserrat"/>
              </a:rPr>
              <a:t>If you are experiencing technical platform issues (slow video playback, weird site bugs, etc…) please contact:</a:t>
            </a:r>
            <a:endParaRPr sz="3000">
              <a:latin typeface="Montserrat"/>
              <a:ea typeface="Montserrat"/>
              <a:cs typeface="Montserrat"/>
              <a:sym typeface="Montserrat"/>
            </a:endParaRPr>
          </a:p>
          <a:p>
            <a:pPr indent="-419100" lvl="1" marL="1371600" marR="0" rtl="0" algn="l">
              <a:lnSpc>
                <a:spcPct val="115000"/>
              </a:lnSpc>
              <a:spcBef>
                <a:spcPts val="0"/>
              </a:spcBef>
              <a:spcAft>
                <a:spcPts val="0"/>
              </a:spcAft>
              <a:buSzPts val="3000"/>
              <a:buFont typeface="Montserrat"/>
              <a:buChar char="○"/>
            </a:pPr>
            <a:r>
              <a:rPr lang="en" sz="3000">
                <a:latin typeface="Montserrat"/>
                <a:ea typeface="Montserrat"/>
                <a:cs typeface="Montserrat"/>
                <a:sym typeface="Montserrat"/>
              </a:rPr>
              <a:t>support@udemy.com</a:t>
            </a:r>
            <a:endParaRPr sz="3000">
              <a:latin typeface="Montserrat"/>
              <a:ea typeface="Montserrat"/>
              <a:cs typeface="Montserrat"/>
              <a:sym typeface="Montserrat"/>
            </a:endParaRPr>
          </a:p>
          <a:p>
            <a:pPr indent="0" lvl="0" marL="0" rtl="0" algn="l">
              <a:spcBef>
                <a:spcPts val="1600"/>
              </a:spcBef>
              <a:spcAft>
                <a:spcPts val="0"/>
              </a:spcAft>
              <a:buNone/>
            </a:pPr>
            <a:r>
              <a:t/>
            </a:r>
            <a:endParaRPr sz="3000">
              <a:latin typeface="Montserrat"/>
              <a:ea typeface="Montserrat"/>
              <a:cs typeface="Montserrat"/>
              <a:sym typeface="Montserrat"/>
            </a:endParaRPr>
          </a:p>
          <a:p>
            <a:pPr indent="0" lvl="0" marL="0" rtl="0" algn="l">
              <a:spcBef>
                <a:spcPts val="1600"/>
              </a:spcBef>
              <a:spcAft>
                <a:spcPts val="1600"/>
              </a:spcAft>
              <a:buNone/>
            </a:pPr>
            <a:r>
              <a:t/>
            </a:r>
            <a:endParaRPr sz="3000">
              <a:latin typeface="Montserrat"/>
              <a:ea typeface="Montserrat"/>
              <a:cs typeface="Montserrat"/>
              <a:sym typeface="Montserrat"/>
            </a:endParaRPr>
          </a:p>
        </p:txBody>
      </p:sp>
      <p:pic>
        <p:nvPicPr>
          <p:cNvPr descr="watermark.jpg" id="563" name="Google Shape;563;p7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64" name="Google Shape;564;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