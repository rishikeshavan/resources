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Lst>
  <p:sldSz cy="5143500" cx="9144000"/>
  <p:notesSz cx="6858000" cy="9144000"/>
  <p:embeddedFontLst>
    <p:embeddedFont>
      <p:font typeface="Montserrat"/>
      <p:regular r:id="rId132"/>
      <p:bold r:id="rId133"/>
      <p:italic r:id="rId134"/>
      <p:boldItalic r:id="rId1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9F5D553C-894B-446A-A3F6-645C051B40E3}">
  <a:tblStyle styleId="{9F5D553C-894B-446A-A3F6-645C051B40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2" Type="http://schemas.openxmlformats.org/officeDocument/2006/relationships/font" Target="fonts/Montserrat-regular.fntdata"/><Relationship Id="rId131" Type="http://schemas.openxmlformats.org/officeDocument/2006/relationships/slide" Target="slides/slide126.xml"/><Relationship Id="rId130" Type="http://schemas.openxmlformats.org/officeDocument/2006/relationships/slide" Target="slides/slide125.xml"/><Relationship Id="rId135" Type="http://schemas.openxmlformats.org/officeDocument/2006/relationships/font" Target="fonts/Montserrat-boldItalic.fntdata"/><Relationship Id="rId134" Type="http://schemas.openxmlformats.org/officeDocument/2006/relationships/font" Target="fonts/Montserrat-italic.fntdata"/><Relationship Id="rId133" Type="http://schemas.openxmlformats.org/officeDocument/2006/relationships/font" Target="fonts/Montserrat-bold.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 name="Shape 58"/>
        <p:cNvGrpSpPr/>
        <p:nvPr/>
      </p:nvGrpSpPr>
      <p:grpSpPr>
        <a:xfrm>
          <a:off x="0" y="0"/>
          <a:ext cx="0" cy="0"/>
          <a:chOff x="0" y="0"/>
          <a:chExt cx="0" cy="0"/>
        </a:xfrm>
      </p:grpSpPr>
      <p:sp>
        <p:nvSpPr>
          <p:cNvPr id="59" name="Google Shape;59;g1c4e07dad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c4e07dad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 name="Shape 66"/>
        <p:cNvGrpSpPr/>
        <p:nvPr/>
      </p:nvGrpSpPr>
      <p:grpSpPr>
        <a:xfrm>
          <a:off x="0" y="0"/>
          <a:ext cx="0" cy="0"/>
          <a:chOff x="0" y="0"/>
          <a:chExt cx="0" cy="0"/>
        </a:xfrm>
      </p:grpSpPr>
      <p:sp>
        <p:nvSpPr>
          <p:cNvPr id="67" name="Google Shape;67;g23e892d4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3e892d4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g23e892d4d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3e892d4d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g23e892d4d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3e892d4d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g23e892d4d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3e892d4d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Google Shape;99;g23e892d4d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3e892d4d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23e892d4d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3e892d4d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 name="Shape 114"/>
        <p:cNvGrpSpPr/>
        <p:nvPr/>
      </p:nvGrpSpPr>
      <p:grpSpPr>
        <a:xfrm>
          <a:off x="0" y="0"/>
          <a:ext cx="0" cy="0"/>
          <a:chOff x="0" y="0"/>
          <a:chExt cx="0" cy="0"/>
        </a:xfrm>
      </p:grpSpPr>
      <p:sp>
        <p:nvSpPr>
          <p:cNvPr id="115" name="Google Shape;115;g23e892d4d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3e892d4d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 name="Shape 122"/>
        <p:cNvGrpSpPr/>
        <p:nvPr/>
      </p:nvGrpSpPr>
      <p:grpSpPr>
        <a:xfrm>
          <a:off x="0" y="0"/>
          <a:ext cx="0" cy="0"/>
          <a:chOff x="0" y="0"/>
          <a:chExt cx="0" cy="0"/>
        </a:xfrm>
      </p:grpSpPr>
      <p:sp>
        <p:nvSpPr>
          <p:cNvPr id="123" name="Google Shape;123;g23e892d4d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3e892d4d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23e892d4d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3e892d4d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g23e892d4d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3e892d4d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g23e892d4d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3e892d4d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3" name="Shape 173"/>
        <p:cNvGrpSpPr/>
        <p:nvPr/>
      </p:nvGrpSpPr>
      <p:grpSpPr>
        <a:xfrm>
          <a:off x="0" y="0"/>
          <a:ext cx="0" cy="0"/>
          <a:chOff x="0" y="0"/>
          <a:chExt cx="0" cy="0"/>
        </a:xfrm>
      </p:grpSpPr>
      <p:sp>
        <p:nvSpPr>
          <p:cNvPr id="174" name="Google Shape;174;g23e892d4d4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3e892d4d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2" name="Shape 182"/>
        <p:cNvGrpSpPr/>
        <p:nvPr/>
      </p:nvGrpSpPr>
      <p:grpSpPr>
        <a:xfrm>
          <a:off x="0" y="0"/>
          <a:ext cx="0" cy="0"/>
          <a:chOff x="0" y="0"/>
          <a:chExt cx="0" cy="0"/>
        </a:xfrm>
      </p:grpSpPr>
      <p:sp>
        <p:nvSpPr>
          <p:cNvPr id="183" name="Google Shape;183;g23e892d4d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3e892d4d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Google Shape;191;g23e892d4d4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3e892d4d4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8" name="Shape 198"/>
        <p:cNvGrpSpPr/>
        <p:nvPr/>
      </p:nvGrpSpPr>
      <p:grpSpPr>
        <a:xfrm>
          <a:off x="0" y="0"/>
          <a:ext cx="0" cy="0"/>
          <a:chOff x="0" y="0"/>
          <a:chExt cx="0" cy="0"/>
        </a:xfrm>
      </p:grpSpPr>
      <p:sp>
        <p:nvSpPr>
          <p:cNvPr id="199" name="Google Shape;199;g23e892d4d4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3e892d4d4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6" name="Shape 206"/>
        <p:cNvGrpSpPr/>
        <p:nvPr/>
      </p:nvGrpSpPr>
      <p:grpSpPr>
        <a:xfrm>
          <a:off x="0" y="0"/>
          <a:ext cx="0" cy="0"/>
          <a:chOff x="0" y="0"/>
          <a:chExt cx="0" cy="0"/>
        </a:xfrm>
      </p:grpSpPr>
      <p:sp>
        <p:nvSpPr>
          <p:cNvPr id="207" name="Google Shape;207;g23e892d4d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3e892d4d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4" name="Shape 214"/>
        <p:cNvGrpSpPr/>
        <p:nvPr/>
      </p:nvGrpSpPr>
      <p:grpSpPr>
        <a:xfrm>
          <a:off x="0" y="0"/>
          <a:ext cx="0" cy="0"/>
          <a:chOff x="0" y="0"/>
          <a:chExt cx="0" cy="0"/>
        </a:xfrm>
      </p:grpSpPr>
      <p:sp>
        <p:nvSpPr>
          <p:cNvPr id="215" name="Google Shape;215;g23e892d4d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3e892d4d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2" name="Shape 222"/>
        <p:cNvGrpSpPr/>
        <p:nvPr/>
      </p:nvGrpSpPr>
      <p:grpSpPr>
        <a:xfrm>
          <a:off x="0" y="0"/>
          <a:ext cx="0" cy="0"/>
          <a:chOff x="0" y="0"/>
          <a:chExt cx="0" cy="0"/>
        </a:xfrm>
      </p:grpSpPr>
      <p:sp>
        <p:nvSpPr>
          <p:cNvPr id="223" name="Google Shape;223;g22ade95b7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2ade95b7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9" name="Shape 229"/>
        <p:cNvGrpSpPr/>
        <p:nvPr/>
      </p:nvGrpSpPr>
      <p:grpSpPr>
        <a:xfrm>
          <a:off x="0" y="0"/>
          <a:ext cx="0" cy="0"/>
          <a:chOff x="0" y="0"/>
          <a:chExt cx="0" cy="0"/>
        </a:xfrm>
      </p:grpSpPr>
      <p:sp>
        <p:nvSpPr>
          <p:cNvPr id="230" name="Google Shape;230;g1f996536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f996536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7" name="Shape 237"/>
        <p:cNvGrpSpPr/>
        <p:nvPr/>
      </p:nvGrpSpPr>
      <p:grpSpPr>
        <a:xfrm>
          <a:off x="0" y="0"/>
          <a:ext cx="0" cy="0"/>
          <a:chOff x="0" y="0"/>
          <a:chExt cx="0" cy="0"/>
        </a:xfrm>
      </p:grpSpPr>
      <p:sp>
        <p:nvSpPr>
          <p:cNvPr id="238" name="Google Shape;238;g23fef8e77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3fef8e77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4" name="Shape 244"/>
        <p:cNvGrpSpPr/>
        <p:nvPr/>
      </p:nvGrpSpPr>
      <p:grpSpPr>
        <a:xfrm>
          <a:off x="0" y="0"/>
          <a:ext cx="0" cy="0"/>
          <a:chOff x="0" y="0"/>
          <a:chExt cx="0" cy="0"/>
        </a:xfrm>
      </p:grpSpPr>
      <p:sp>
        <p:nvSpPr>
          <p:cNvPr id="245" name="Google Shape;245;g23e892d4d4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3e892d4d4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1" name="Shape 251"/>
        <p:cNvGrpSpPr/>
        <p:nvPr/>
      </p:nvGrpSpPr>
      <p:grpSpPr>
        <a:xfrm>
          <a:off x="0" y="0"/>
          <a:ext cx="0" cy="0"/>
          <a:chOff x="0" y="0"/>
          <a:chExt cx="0" cy="0"/>
        </a:xfrm>
      </p:grpSpPr>
      <p:sp>
        <p:nvSpPr>
          <p:cNvPr id="252" name="Google Shape;252;g23e892d4d4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3e892d4d4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9" name="Shape 259"/>
        <p:cNvGrpSpPr/>
        <p:nvPr/>
      </p:nvGrpSpPr>
      <p:grpSpPr>
        <a:xfrm>
          <a:off x="0" y="0"/>
          <a:ext cx="0" cy="0"/>
          <a:chOff x="0" y="0"/>
          <a:chExt cx="0" cy="0"/>
        </a:xfrm>
      </p:grpSpPr>
      <p:sp>
        <p:nvSpPr>
          <p:cNvPr id="260" name="Google Shape;260;g23e892d4d4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3e892d4d4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7" name="Shape 267"/>
        <p:cNvGrpSpPr/>
        <p:nvPr/>
      </p:nvGrpSpPr>
      <p:grpSpPr>
        <a:xfrm>
          <a:off x="0" y="0"/>
          <a:ext cx="0" cy="0"/>
          <a:chOff x="0" y="0"/>
          <a:chExt cx="0" cy="0"/>
        </a:xfrm>
      </p:grpSpPr>
      <p:sp>
        <p:nvSpPr>
          <p:cNvPr id="268" name="Google Shape;268;g23e892d4d4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3e892d4d4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5" name="Shape 275"/>
        <p:cNvGrpSpPr/>
        <p:nvPr/>
      </p:nvGrpSpPr>
      <p:grpSpPr>
        <a:xfrm>
          <a:off x="0" y="0"/>
          <a:ext cx="0" cy="0"/>
          <a:chOff x="0" y="0"/>
          <a:chExt cx="0" cy="0"/>
        </a:xfrm>
      </p:grpSpPr>
      <p:sp>
        <p:nvSpPr>
          <p:cNvPr id="276" name="Google Shape;276;g23e892d4d4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3e892d4d4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4" name="Shape 284"/>
        <p:cNvGrpSpPr/>
        <p:nvPr/>
      </p:nvGrpSpPr>
      <p:grpSpPr>
        <a:xfrm>
          <a:off x="0" y="0"/>
          <a:ext cx="0" cy="0"/>
          <a:chOff x="0" y="0"/>
          <a:chExt cx="0" cy="0"/>
        </a:xfrm>
      </p:grpSpPr>
      <p:sp>
        <p:nvSpPr>
          <p:cNvPr id="285" name="Google Shape;285;g23e892d4d4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3e892d4d4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3" name="Shape 293"/>
        <p:cNvGrpSpPr/>
        <p:nvPr/>
      </p:nvGrpSpPr>
      <p:grpSpPr>
        <a:xfrm>
          <a:off x="0" y="0"/>
          <a:ext cx="0" cy="0"/>
          <a:chOff x="0" y="0"/>
          <a:chExt cx="0" cy="0"/>
        </a:xfrm>
      </p:grpSpPr>
      <p:sp>
        <p:nvSpPr>
          <p:cNvPr id="294" name="Google Shape;294;g23e892d4d4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3e892d4d4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1" name="Shape 301"/>
        <p:cNvGrpSpPr/>
        <p:nvPr/>
      </p:nvGrpSpPr>
      <p:grpSpPr>
        <a:xfrm>
          <a:off x="0" y="0"/>
          <a:ext cx="0" cy="0"/>
          <a:chOff x="0" y="0"/>
          <a:chExt cx="0" cy="0"/>
        </a:xfrm>
      </p:grpSpPr>
      <p:sp>
        <p:nvSpPr>
          <p:cNvPr id="302" name="Google Shape;302;g23e892d4d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3e892d4d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9" name="Shape 309"/>
        <p:cNvGrpSpPr/>
        <p:nvPr/>
      </p:nvGrpSpPr>
      <p:grpSpPr>
        <a:xfrm>
          <a:off x="0" y="0"/>
          <a:ext cx="0" cy="0"/>
          <a:chOff x="0" y="0"/>
          <a:chExt cx="0" cy="0"/>
        </a:xfrm>
      </p:grpSpPr>
      <p:sp>
        <p:nvSpPr>
          <p:cNvPr id="310" name="Google Shape;310;g23e892d4d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3e892d4d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7" name="Shape 317"/>
        <p:cNvGrpSpPr/>
        <p:nvPr/>
      </p:nvGrpSpPr>
      <p:grpSpPr>
        <a:xfrm>
          <a:off x="0" y="0"/>
          <a:ext cx="0" cy="0"/>
          <a:chOff x="0" y="0"/>
          <a:chExt cx="0" cy="0"/>
        </a:xfrm>
      </p:grpSpPr>
      <p:sp>
        <p:nvSpPr>
          <p:cNvPr id="318" name="Google Shape;318;g23e892d4d4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3e892d4d4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5" name="Shape 325"/>
        <p:cNvGrpSpPr/>
        <p:nvPr/>
      </p:nvGrpSpPr>
      <p:grpSpPr>
        <a:xfrm>
          <a:off x="0" y="0"/>
          <a:ext cx="0" cy="0"/>
          <a:chOff x="0" y="0"/>
          <a:chExt cx="0" cy="0"/>
        </a:xfrm>
      </p:grpSpPr>
      <p:sp>
        <p:nvSpPr>
          <p:cNvPr id="326" name="Google Shape;326;g23e892d4d4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3e892d4d4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3" name="Shape 333"/>
        <p:cNvGrpSpPr/>
        <p:nvPr/>
      </p:nvGrpSpPr>
      <p:grpSpPr>
        <a:xfrm>
          <a:off x="0" y="0"/>
          <a:ext cx="0" cy="0"/>
          <a:chOff x="0" y="0"/>
          <a:chExt cx="0" cy="0"/>
        </a:xfrm>
      </p:grpSpPr>
      <p:sp>
        <p:nvSpPr>
          <p:cNvPr id="334" name="Google Shape;334;g23e892d4d4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3e892d4d4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2" name="Shape 342"/>
        <p:cNvGrpSpPr/>
        <p:nvPr/>
      </p:nvGrpSpPr>
      <p:grpSpPr>
        <a:xfrm>
          <a:off x="0" y="0"/>
          <a:ext cx="0" cy="0"/>
          <a:chOff x="0" y="0"/>
          <a:chExt cx="0" cy="0"/>
        </a:xfrm>
      </p:grpSpPr>
      <p:sp>
        <p:nvSpPr>
          <p:cNvPr id="343" name="Google Shape;343;g23e892d4d4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3e892d4d4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1" name="Shape 351"/>
        <p:cNvGrpSpPr/>
        <p:nvPr/>
      </p:nvGrpSpPr>
      <p:grpSpPr>
        <a:xfrm>
          <a:off x="0" y="0"/>
          <a:ext cx="0" cy="0"/>
          <a:chOff x="0" y="0"/>
          <a:chExt cx="0" cy="0"/>
        </a:xfrm>
      </p:grpSpPr>
      <p:sp>
        <p:nvSpPr>
          <p:cNvPr id="352" name="Google Shape;352;g23e892d4d4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3e892d4d4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0" name="Shape 360"/>
        <p:cNvGrpSpPr/>
        <p:nvPr/>
      </p:nvGrpSpPr>
      <p:grpSpPr>
        <a:xfrm>
          <a:off x="0" y="0"/>
          <a:ext cx="0" cy="0"/>
          <a:chOff x="0" y="0"/>
          <a:chExt cx="0" cy="0"/>
        </a:xfrm>
      </p:grpSpPr>
      <p:sp>
        <p:nvSpPr>
          <p:cNvPr id="361" name="Google Shape;361;g23e892d4d4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3e892d4d4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9" name="Shape 369"/>
        <p:cNvGrpSpPr/>
        <p:nvPr/>
      </p:nvGrpSpPr>
      <p:grpSpPr>
        <a:xfrm>
          <a:off x="0" y="0"/>
          <a:ext cx="0" cy="0"/>
          <a:chOff x="0" y="0"/>
          <a:chExt cx="0" cy="0"/>
        </a:xfrm>
      </p:grpSpPr>
      <p:sp>
        <p:nvSpPr>
          <p:cNvPr id="370" name="Google Shape;370;g23e892d4d4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3e892d4d4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8" name="Shape 378"/>
        <p:cNvGrpSpPr/>
        <p:nvPr/>
      </p:nvGrpSpPr>
      <p:grpSpPr>
        <a:xfrm>
          <a:off x="0" y="0"/>
          <a:ext cx="0" cy="0"/>
          <a:chOff x="0" y="0"/>
          <a:chExt cx="0" cy="0"/>
        </a:xfrm>
      </p:grpSpPr>
      <p:sp>
        <p:nvSpPr>
          <p:cNvPr id="379" name="Google Shape;379;g23e892d4d4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3e892d4d4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6" name="Shape 386"/>
        <p:cNvGrpSpPr/>
        <p:nvPr/>
      </p:nvGrpSpPr>
      <p:grpSpPr>
        <a:xfrm>
          <a:off x="0" y="0"/>
          <a:ext cx="0" cy="0"/>
          <a:chOff x="0" y="0"/>
          <a:chExt cx="0" cy="0"/>
        </a:xfrm>
      </p:grpSpPr>
      <p:sp>
        <p:nvSpPr>
          <p:cNvPr id="387" name="Google Shape;387;g23fef8e77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3fef8e77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3" name="Shape 393"/>
        <p:cNvGrpSpPr/>
        <p:nvPr/>
      </p:nvGrpSpPr>
      <p:grpSpPr>
        <a:xfrm>
          <a:off x="0" y="0"/>
          <a:ext cx="0" cy="0"/>
          <a:chOff x="0" y="0"/>
          <a:chExt cx="0" cy="0"/>
        </a:xfrm>
      </p:grpSpPr>
      <p:sp>
        <p:nvSpPr>
          <p:cNvPr id="394" name="Google Shape;394;g22ade95b7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2ade95b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1" name="Shape 401"/>
        <p:cNvGrpSpPr/>
        <p:nvPr/>
      </p:nvGrpSpPr>
      <p:grpSpPr>
        <a:xfrm>
          <a:off x="0" y="0"/>
          <a:ext cx="0" cy="0"/>
          <a:chOff x="0" y="0"/>
          <a:chExt cx="0" cy="0"/>
        </a:xfrm>
      </p:grpSpPr>
      <p:sp>
        <p:nvSpPr>
          <p:cNvPr id="402" name="Google Shape;402;g23e892d4d4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3e892d4d4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9" name="Shape 409"/>
        <p:cNvGrpSpPr/>
        <p:nvPr/>
      </p:nvGrpSpPr>
      <p:grpSpPr>
        <a:xfrm>
          <a:off x="0" y="0"/>
          <a:ext cx="0" cy="0"/>
          <a:chOff x="0" y="0"/>
          <a:chExt cx="0" cy="0"/>
        </a:xfrm>
      </p:grpSpPr>
      <p:sp>
        <p:nvSpPr>
          <p:cNvPr id="410" name="Google Shape;410;g23e892d4d4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3e892d4d4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7" name="Shape 417"/>
        <p:cNvGrpSpPr/>
        <p:nvPr/>
      </p:nvGrpSpPr>
      <p:grpSpPr>
        <a:xfrm>
          <a:off x="0" y="0"/>
          <a:ext cx="0" cy="0"/>
          <a:chOff x="0" y="0"/>
          <a:chExt cx="0" cy="0"/>
        </a:xfrm>
      </p:grpSpPr>
      <p:sp>
        <p:nvSpPr>
          <p:cNvPr id="418" name="Google Shape;418;g23e892d4d4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3e892d4d4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5" name="Shape 425"/>
        <p:cNvGrpSpPr/>
        <p:nvPr/>
      </p:nvGrpSpPr>
      <p:grpSpPr>
        <a:xfrm>
          <a:off x="0" y="0"/>
          <a:ext cx="0" cy="0"/>
          <a:chOff x="0" y="0"/>
          <a:chExt cx="0" cy="0"/>
        </a:xfrm>
      </p:grpSpPr>
      <p:sp>
        <p:nvSpPr>
          <p:cNvPr id="426" name="Google Shape;426;g23e892d4d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3e892d4d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3" name="Shape 433"/>
        <p:cNvGrpSpPr/>
        <p:nvPr/>
      </p:nvGrpSpPr>
      <p:grpSpPr>
        <a:xfrm>
          <a:off x="0" y="0"/>
          <a:ext cx="0" cy="0"/>
          <a:chOff x="0" y="0"/>
          <a:chExt cx="0" cy="0"/>
        </a:xfrm>
      </p:grpSpPr>
      <p:sp>
        <p:nvSpPr>
          <p:cNvPr id="434" name="Google Shape;434;g23e892d4d4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3e892d4d4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1" name="Shape 441"/>
        <p:cNvGrpSpPr/>
        <p:nvPr/>
      </p:nvGrpSpPr>
      <p:grpSpPr>
        <a:xfrm>
          <a:off x="0" y="0"/>
          <a:ext cx="0" cy="0"/>
          <a:chOff x="0" y="0"/>
          <a:chExt cx="0" cy="0"/>
        </a:xfrm>
      </p:grpSpPr>
      <p:sp>
        <p:nvSpPr>
          <p:cNvPr id="442" name="Google Shape;442;g23e892d4d4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3e892d4d4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9" name="Shape 449"/>
        <p:cNvGrpSpPr/>
        <p:nvPr/>
      </p:nvGrpSpPr>
      <p:grpSpPr>
        <a:xfrm>
          <a:off x="0" y="0"/>
          <a:ext cx="0" cy="0"/>
          <a:chOff x="0" y="0"/>
          <a:chExt cx="0" cy="0"/>
        </a:xfrm>
      </p:grpSpPr>
      <p:sp>
        <p:nvSpPr>
          <p:cNvPr id="450" name="Google Shape;450;g23e892d4d4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3e892d4d4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7" name="Shape 457"/>
        <p:cNvGrpSpPr/>
        <p:nvPr/>
      </p:nvGrpSpPr>
      <p:grpSpPr>
        <a:xfrm>
          <a:off x="0" y="0"/>
          <a:ext cx="0" cy="0"/>
          <a:chOff x="0" y="0"/>
          <a:chExt cx="0" cy="0"/>
        </a:xfrm>
      </p:grpSpPr>
      <p:sp>
        <p:nvSpPr>
          <p:cNvPr id="458" name="Google Shape;458;g23e892d4d4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3e892d4d4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5" name="Shape 465"/>
        <p:cNvGrpSpPr/>
        <p:nvPr/>
      </p:nvGrpSpPr>
      <p:grpSpPr>
        <a:xfrm>
          <a:off x="0" y="0"/>
          <a:ext cx="0" cy="0"/>
          <a:chOff x="0" y="0"/>
          <a:chExt cx="0" cy="0"/>
        </a:xfrm>
      </p:grpSpPr>
      <p:sp>
        <p:nvSpPr>
          <p:cNvPr id="466" name="Google Shape;466;g23e892d4d4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3e892d4d4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3" name="Shape 473"/>
        <p:cNvGrpSpPr/>
        <p:nvPr/>
      </p:nvGrpSpPr>
      <p:grpSpPr>
        <a:xfrm>
          <a:off x="0" y="0"/>
          <a:ext cx="0" cy="0"/>
          <a:chOff x="0" y="0"/>
          <a:chExt cx="0" cy="0"/>
        </a:xfrm>
      </p:grpSpPr>
      <p:sp>
        <p:nvSpPr>
          <p:cNvPr id="474" name="Google Shape;474;g23e892d4d4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3e892d4d4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1" name="Shape 481"/>
        <p:cNvGrpSpPr/>
        <p:nvPr/>
      </p:nvGrpSpPr>
      <p:grpSpPr>
        <a:xfrm>
          <a:off x="0" y="0"/>
          <a:ext cx="0" cy="0"/>
          <a:chOff x="0" y="0"/>
          <a:chExt cx="0" cy="0"/>
        </a:xfrm>
      </p:grpSpPr>
      <p:sp>
        <p:nvSpPr>
          <p:cNvPr id="482" name="Google Shape;482;g23e892d4d4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3e892d4d4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9" name="Shape 489"/>
        <p:cNvGrpSpPr/>
        <p:nvPr/>
      </p:nvGrpSpPr>
      <p:grpSpPr>
        <a:xfrm>
          <a:off x="0" y="0"/>
          <a:ext cx="0" cy="0"/>
          <a:chOff x="0" y="0"/>
          <a:chExt cx="0" cy="0"/>
        </a:xfrm>
      </p:grpSpPr>
      <p:sp>
        <p:nvSpPr>
          <p:cNvPr id="490" name="Google Shape;490;g23e892d4d4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3e892d4d4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97" name="Shape 497"/>
        <p:cNvGrpSpPr/>
        <p:nvPr/>
      </p:nvGrpSpPr>
      <p:grpSpPr>
        <a:xfrm>
          <a:off x="0" y="0"/>
          <a:ext cx="0" cy="0"/>
          <a:chOff x="0" y="0"/>
          <a:chExt cx="0" cy="0"/>
        </a:xfrm>
      </p:grpSpPr>
      <p:sp>
        <p:nvSpPr>
          <p:cNvPr id="498" name="Google Shape;498;g23e892d4d4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3e892d4d4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5" name="Shape 505"/>
        <p:cNvGrpSpPr/>
        <p:nvPr/>
      </p:nvGrpSpPr>
      <p:grpSpPr>
        <a:xfrm>
          <a:off x="0" y="0"/>
          <a:ext cx="0" cy="0"/>
          <a:chOff x="0" y="0"/>
          <a:chExt cx="0" cy="0"/>
        </a:xfrm>
      </p:grpSpPr>
      <p:sp>
        <p:nvSpPr>
          <p:cNvPr id="506" name="Google Shape;506;g23e892d4d4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3e892d4d4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3" name="Shape 513"/>
        <p:cNvGrpSpPr/>
        <p:nvPr/>
      </p:nvGrpSpPr>
      <p:grpSpPr>
        <a:xfrm>
          <a:off x="0" y="0"/>
          <a:ext cx="0" cy="0"/>
          <a:chOff x="0" y="0"/>
          <a:chExt cx="0" cy="0"/>
        </a:xfrm>
      </p:grpSpPr>
      <p:sp>
        <p:nvSpPr>
          <p:cNvPr id="514" name="Google Shape;514;g23e892d4d4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3e892d4d4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1" name="Shape 521"/>
        <p:cNvGrpSpPr/>
        <p:nvPr/>
      </p:nvGrpSpPr>
      <p:grpSpPr>
        <a:xfrm>
          <a:off x="0" y="0"/>
          <a:ext cx="0" cy="0"/>
          <a:chOff x="0" y="0"/>
          <a:chExt cx="0" cy="0"/>
        </a:xfrm>
      </p:grpSpPr>
      <p:sp>
        <p:nvSpPr>
          <p:cNvPr id="522" name="Google Shape;522;g23e892d4d4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3e892d4d4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9" name="Shape 529"/>
        <p:cNvGrpSpPr/>
        <p:nvPr/>
      </p:nvGrpSpPr>
      <p:grpSpPr>
        <a:xfrm>
          <a:off x="0" y="0"/>
          <a:ext cx="0" cy="0"/>
          <a:chOff x="0" y="0"/>
          <a:chExt cx="0" cy="0"/>
        </a:xfrm>
      </p:grpSpPr>
      <p:sp>
        <p:nvSpPr>
          <p:cNvPr id="530" name="Google Shape;530;g23e892d4d4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3e892d4d4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7" name="Shape 537"/>
        <p:cNvGrpSpPr/>
        <p:nvPr/>
      </p:nvGrpSpPr>
      <p:grpSpPr>
        <a:xfrm>
          <a:off x="0" y="0"/>
          <a:ext cx="0" cy="0"/>
          <a:chOff x="0" y="0"/>
          <a:chExt cx="0" cy="0"/>
        </a:xfrm>
      </p:grpSpPr>
      <p:sp>
        <p:nvSpPr>
          <p:cNvPr id="538" name="Google Shape;538;g23e892d4d4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23e892d4d4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5" name="Shape 545"/>
        <p:cNvGrpSpPr/>
        <p:nvPr/>
      </p:nvGrpSpPr>
      <p:grpSpPr>
        <a:xfrm>
          <a:off x="0" y="0"/>
          <a:ext cx="0" cy="0"/>
          <a:chOff x="0" y="0"/>
          <a:chExt cx="0" cy="0"/>
        </a:xfrm>
      </p:grpSpPr>
      <p:sp>
        <p:nvSpPr>
          <p:cNvPr id="546" name="Google Shape;546;g23e892d4d4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3e892d4d4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3" name="Shape 553"/>
        <p:cNvGrpSpPr/>
        <p:nvPr/>
      </p:nvGrpSpPr>
      <p:grpSpPr>
        <a:xfrm>
          <a:off x="0" y="0"/>
          <a:ext cx="0" cy="0"/>
          <a:chOff x="0" y="0"/>
          <a:chExt cx="0" cy="0"/>
        </a:xfrm>
      </p:grpSpPr>
      <p:sp>
        <p:nvSpPr>
          <p:cNvPr id="554" name="Google Shape;554;g23e892d4d4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3e892d4d4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1" name="Shape 561"/>
        <p:cNvGrpSpPr/>
        <p:nvPr/>
      </p:nvGrpSpPr>
      <p:grpSpPr>
        <a:xfrm>
          <a:off x="0" y="0"/>
          <a:ext cx="0" cy="0"/>
          <a:chOff x="0" y="0"/>
          <a:chExt cx="0" cy="0"/>
        </a:xfrm>
      </p:grpSpPr>
      <p:sp>
        <p:nvSpPr>
          <p:cNvPr id="562" name="Google Shape;562;g23e892d4d4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3e892d4d4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9" name="Shape 569"/>
        <p:cNvGrpSpPr/>
        <p:nvPr/>
      </p:nvGrpSpPr>
      <p:grpSpPr>
        <a:xfrm>
          <a:off x="0" y="0"/>
          <a:ext cx="0" cy="0"/>
          <a:chOff x="0" y="0"/>
          <a:chExt cx="0" cy="0"/>
        </a:xfrm>
      </p:grpSpPr>
      <p:sp>
        <p:nvSpPr>
          <p:cNvPr id="570" name="Google Shape;570;g23e892d4d4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3e892d4d4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7" name="Shape 577"/>
        <p:cNvGrpSpPr/>
        <p:nvPr/>
      </p:nvGrpSpPr>
      <p:grpSpPr>
        <a:xfrm>
          <a:off x="0" y="0"/>
          <a:ext cx="0" cy="0"/>
          <a:chOff x="0" y="0"/>
          <a:chExt cx="0" cy="0"/>
        </a:xfrm>
      </p:grpSpPr>
      <p:sp>
        <p:nvSpPr>
          <p:cNvPr id="578" name="Google Shape;578;g23e892d4d4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3e892d4d4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6" name="Shape 586"/>
        <p:cNvGrpSpPr/>
        <p:nvPr/>
      </p:nvGrpSpPr>
      <p:grpSpPr>
        <a:xfrm>
          <a:off x="0" y="0"/>
          <a:ext cx="0" cy="0"/>
          <a:chOff x="0" y="0"/>
          <a:chExt cx="0" cy="0"/>
        </a:xfrm>
      </p:grpSpPr>
      <p:sp>
        <p:nvSpPr>
          <p:cNvPr id="587" name="Google Shape;587;g23e892d4d4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23e892d4d4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5" name="Shape 595"/>
        <p:cNvGrpSpPr/>
        <p:nvPr/>
      </p:nvGrpSpPr>
      <p:grpSpPr>
        <a:xfrm>
          <a:off x="0" y="0"/>
          <a:ext cx="0" cy="0"/>
          <a:chOff x="0" y="0"/>
          <a:chExt cx="0" cy="0"/>
        </a:xfrm>
      </p:grpSpPr>
      <p:sp>
        <p:nvSpPr>
          <p:cNvPr id="596" name="Google Shape;596;g23e892d4d4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3e892d4d4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04" name="Shape 604"/>
        <p:cNvGrpSpPr/>
        <p:nvPr/>
      </p:nvGrpSpPr>
      <p:grpSpPr>
        <a:xfrm>
          <a:off x="0" y="0"/>
          <a:ext cx="0" cy="0"/>
          <a:chOff x="0" y="0"/>
          <a:chExt cx="0" cy="0"/>
        </a:xfrm>
      </p:grpSpPr>
      <p:sp>
        <p:nvSpPr>
          <p:cNvPr id="605" name="Google Shape;605;g23e892d4d4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23e892d4d4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3" name="Shape 613"/>
        <p:cNvGrpSpPr/>
        <p:nvPr/>
      </p:nvGrpSpPr>
      <p:grpSpPr>
        <a:xfrm>
          <a:off x="0" y="0"/>
          <a:ext cx="0" cy="0"/>
          <a:chOff x="0" y="0"/>
          <a:chExt cx="0" cy="0"/>
        </a:xfrm>
      </p:grpSpPr>
      <p:sp>
        <p:nvSpPr>
          <p:cNvPr id="614" name="Google Shape;614;g23e892d4d4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3e892d4d4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2" name="Shape 622"/>
        <p:cNvGrpSpPr/>
        <p:nvPr/>
      </p:nvGrpSpPr>
      <p:grpSpPr>
        <a:xfrm>
          <a:off x="0" y="0"/>
          <a:ext cx="0" cy="0"/>
          <a:chOff x="0" y="0"/>
          <a:chExt cx="0" cy="0"/>
        </a:xfrm>
      </p:grpSpPr>
      <p:sp>
        <p:nvSpPr>
          <p:cNvPr id="623" name="Google Shape;623;g23e892d4d4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23e892d4d4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1" name="Shape 631"/>
        <p:cNvGrpSpPr/>
        <p:nvPr/>
      </p:nvGrpSpPr>
      <p:grpSpPr>
        <a:xfrm>
          <a:off x="0" y="0"/>
          <a:ext cx="0" cy="0"/>
          <a:chOff x="0" y="0"/>
          <a:chExt cx="0" cy="0"/>
        </a:xfrm>
      </p:grpSpPr>
      <p:sp>
        <p:nvSpPr>
          <p:cNvPr id="632" name="Google Shape;632;g23e892d4d4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23e892d4d4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9" name="Shape 639"/>
        <p:cNvGrpSpPr/>
        <p:nvPr/>
      </p:nvGrpSpPr>
      <p:grpSpPr>
        <a:xfrm>
          <a:off x="0" y="0"/>
          <a:ext cx="0" cy="0"/>
          <a:chOff x="0" y="0"/>
          <a:chExt cx="0" cy="0"/>
        </a:xfrm>
      </p:grpSpPr>
      <p:sp>
        <p:nvSpPr>
          <p:cNvPr id="640" name="Google Shape;640;g23e892d4d4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23e892d4d4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6" name="Shape 656"/>
        <p:cNvGrpSpPr/>
        <p:nvPr/>
      </p:nvGrpSpPr>
      <p:grpSpPr>
        <a:xfrm>
          <a:off x="0" y="0"/>
          <a:ext cx="0" cy="0"/>
          <a:chOff x="0" y="0"/>
          <a:chExt cx="0" cy="0"/>
        </a:xfrm>
      </p:grpSpPr>
      <p:sp>
        <p:nvSpPr>
          <p:cNvPr id="657" name="Google Shape;657;g23e892d4d4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23e892d4d4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77" name="Shape 677"/>
        <p:cNvGrpSpPr/>
        <p:nvPr/>
      </p:nvGrpSpPr>
      <p:grpSpPr>
        <a:xfrm>
          <a:off x="0" y="0"/>
          <a:ext cx="0" cy="0"/>
          <a:chOff x="0" y="0"/>
          <a:chExt cx="0" cy="0"/>
        </a:xfrm>
      </p:grpSpPr>
      <p:sp>
        <p:nvSpPr>
          <p:cNvPr id="678" name="Google Shape;678;g23e892d4d4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23e892d4d4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9" name="Shape 699"/>
        <p:cNvGrpSpPr/>
        <p:nvPr/>
      </p:nvGrpSpPr>
      <p:grpSpPr>
        <a:xfrm>
          <a:off x="0" y="0"/>
          <a:ext cx="0" cy="0"/>
          <a:chOff x="0" y="0"/>
          <a:chExt cx="0" cy="0"/>
        </a:xfrm>
      </p:grpSpPr>
      <p:sp>
        <p:nvSpPr>
          <p:cNvPr id="700" name="Google Shape;700;g23e892d4d4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23e892d4d4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07" name="Shape 707"/>
        <p:cNvGrpSpPr/>
        <p:nvPr/>
      </p:nvGrpSpPr>
      <p:grpSpPr>
        <a:xfrm>
          <a:off x="0" y="0"/>
          <a:ext cx="0" cy="0"/>
          <a:chOff x="0" y="0"/>
          <a:chExt cx="0" cy="0"/>
        </a:xfrm>
      </p:grpSpPr>
      <p:sp>
        <p:nvSpPr>
          <p:cNvPr id="708" name="Google Shape;708;g23e892d4d4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23e892d4d4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15" name="Shape 715"/>
        <p:cNvGrpSpPr/>
        <p:nvPr/>
      </p:nvGrpSpPr>
      <p:grpSpPr>
        <a:xfrm>
          <a:off x="0" y="0"/>
          <a:ext cx="0" cy="0"/>
          <a:chOff x="0" y="0"/>
          <a:chExt cx="0" cy="0"/>
        </a:xfrm>
      </p:grpSpPr>
      <p:sp>
        <p:nvSpPr>
          <p:cNvPr id="716" name="Google Shape;716;g23e892d4d4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23e892d4d4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34" name="Shape 734"/>
        <p:cNvGrpSpPr/>
        <p:nvPr/>
      </p:nvGrpSpPr>
      <p:grpSpPr>
        <a:xfrm>
          <a:off x="0" y="0"/>
          <a:ext cx="0" cy="0"/>
          <a:chOff x="0" y="0"/>
          <a:chExt cx="0" cy="0"/>
        </a:xfrm>
      </p:grpSpPr>
      <p:sp>
        <p:nvSpPr>
          <p:cNvPr id="735" name="Google Shape;735;g23e892d4d4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23e892d4d4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3" name="Shape 753"/>
        <p:cNvGrpSpPr/>
        <p:nvPr/>
      </p:nvGrpSpPr>
      <p:grpSpPr>
        <a:xfrm>
          <a:off x="0" y="0"/>
          <a:ext cx="0" cy="0"/>
          <a:chOff x="0" y="0"/>
          <a:chExt cx="0" cy="0"/>
        </a:xfrm>
      </p:grpSpPr>
      <p:sp>
        <p:nvSpPr>
          <p:cNvPr id="754" name="Google Shape;754;g23e892d4d4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3e892d4d4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72" name="Shape 772"/>
        <p:cNvGrpSpPr/>
        <p:nvPr/>
      </p:nvGrpSpPr>
      <p:grpSpPr>
        <a:xfrm>
          <a:off x="0" y="0"/>
          <a:ext cx="0" cy="0"/>
          <a:chOff x="0" y="0"/>
          <a:chExt cx="0" cy="0"/>
        </a:xfrm>
      </p:grpSpPr>
      <p:sp>
        <p:nvSpPr>
          <p:cNvPr id="773" name="Google Shape;773;g23e892d4d4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3e892d4d4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5" name="Shape 795"/>
        <p:cNvGrpSpPr/>
        <p:nvPr/>
      </p:nvGrpSpPr>
      <p:grpSpPr>
        <a:xfrm>
          <a:off x="0" y="0"/>
          <a:ext cx="0" cy="0"/>
          <a:chOff x="0" y="0"/>
          <a:chExt cx="0" cy="0"/>
        </a:xfrm>
      </p:grpSpPr>
      <p:sp>
        <p:nvSpPr>
          <p:cNvPr id="796" name="Google Shape;796;g23e892d4d4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23e892d4d4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3" name="Shape 803"/>
        <p:cNvGrpSpPr/>
        <p:nvPr/>
      </p:nvGrpSpPr>
      <p:grpSpPr>
        <a:xfrm>
          <a:off x="0" y="0"/>
          <a:ext cx="0" cy="0"/>
          <a:chOff x="0" y="0"/>
          <a:chExt cx="0" cy="0"/>
        </a:xfrm>
      </p:grpSpPr>
      <p:sp>
        <p:nvSpPr>
          <p:cNvPr id="804" name="Google Shape;804;g23e892d4d4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23e892d4d4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1" name="Shape 811"/>
        <p:cNvGrpSpPr/>
        <p:nvPr/>
      </p:nvGrpSpPr>
      <p:grpSpPr>
        <a:xfrm>
          <a:off x="0" y="0"/>
          <a:ext cx="0" cy="0"/>
          <a:chOff x="0" y="0"/>
          <a:chExt cx="0" cy="0"/>
        </a:xfrm>
      </p:grpSpPr>
      <p:sp>
        <p:nvSpPr>
          <p:cNvPr id="812" name="Google Shape;812;g23e892d4d4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3e892d4d4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9" name="Shape 819"/>
        <p:cNvGrpSpPr/>
        <p:nvPr/>
      </p:nvGrpSpPr>
      <p:grpSpPr>
        <a:xfrm>
          <a:off x="0" y="0"/>
          <a:ext cx="0" cy="0"/>
          <a:chOff x="0" y="0"/>
          <a:chExt cx="0" cy="0"/>
        </a:xfrm>
      </p:grpSpPr>
      <p:sp>
        <p:nvSpPr>
          <p:cNvPr id="820" name="Google Shape;820;g23e892d4d4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3e892d4d4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6" name="Shape 836"/>
        <p:cNvGrpSpPr/>
        <p:nvPr/>
      </p:nvGrpSpPr>
      <p:grpSpPr>
        <a:xfrm>
          <a:off x="0" y="0"/>
          <a:ext cx="0" cy="0"/>
          <a:chOff x="0" y="0"/>
          <a:chExt cx="0" cy="0"/>
        </a:xfrm>
      </p:grpSpPr>
      <p:sp>
        <p:nvSpPr>
          <p:cNvPr id="837" name="Google Shape;837;g23e892d4d4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23e892d4d4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54" name="Shape 854"/>
        <p:cNvGrpSpPr/>
        <p:nvPr/>
      </p:nvGrpSpPr>
      <p:grpSpPr>
        <a:xfrm>
          <a:off x="0" y="0"/>
          <a:ext cx="0" cy="0"/>
          <a:chOff x="0" y="0"/>
          <a:chExt cx="0" cy="0"/>
        </a:xfrm>
      </p:grpSpPr>
      <p:sp>
        <p:nvSpPr>
          <p:cNvPr id="855" name="Google Shape;855;g23e892d4d4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23e892d4d4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3" name="Shape 873"/>
        <p:cNvGrpSpPr/>
        <p:nvPr/>
      </p:nvGrpSpPr>
      <p:grpSpPr>
        <a:xfrm>
          <a:off x="0" y="0"/>
          <a:ext cx="0" cy="0"/>
          <a:chOff x="0" y="0"/>
          <a:chExt cx="0" cy="0"/>
        </a:xfrm>
      </p:grpSpPr>
      <p:sp>
        <p:nvSpPr>
          <p:cNvPr id="874" name="Google Shape;874;g23e892d4d4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23e892d4d4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3" name="Shape 893"/>
        <p:cNvGrpSpPr/>
        <p:nvPr/>
      </p:nvGrpSpPr>
      <p:grpSpPr>
        <a:xfrm>
          <a:off x="0" y="0"/>
          <a:ext cx="0" cy="0"/>
          <a:chOff x="0" y="0"/>
          <a:chExt cx="0" cy="0"/>
        </a:xfrm>
      </p:grpSpPr>
      <p:sp>
        <p:nvSpPr>
          <p:cNvPr id="894" name="Google Shape;894;g23e892d4d4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23e892d4d4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4" name="Shape 914"/>
        <p:cNvGrpSpPr/>
        <p:nvPr/>
      </p:nvGrpSpPr>
      <p:grpSpPr>
        <a:xfrm>
          <a:off x="0" y="0"/>
          <a:ext cx="0" cy="0"/>
          <a:chOff x="0" y="0"/>
          <a:chExt cx="0" cy="0"/>
        </a:xfrm>
      </p:grpSpPr>
      <p:sp>
        <p:nvSpPr>
          <p:cNvPr id="915" name="Google Shape;915;g23e892d4d4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23e892d4d4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2" name="Shape 922"/>
        <p:cNvGrpSpPr/>
        <p:nvPr/>
      </p:nvGrpSpPr>
      <p:grpSpPr>
        <a:xfrm>
          <a:off x="0" y="0"/>
          <a:ext cx="0" cy="0"/>
          <a:chOff x="0" y="0"/>
          <a:chExt cx="0" cy="0"/>
        </a:xfrm>
      </p:grpSpPr>
      <p:sp>
        <p:nvSpPr>
          <p:cNvPr id="923" name="Google Shape;923;g23e892d4d4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23e892d4d4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0" name="Shape 930"/>
        <p:cNvGrpSpPr/>
        <p:nvPr/>
      </p:nvGrpSpPr>
      <p:grpSpPr>
        <a:xfrm>
          <a:off x="0" y="0"/>
          <a:ext cx="0" cy="0"/>
          <a:chOff x="0" y="0"/>
          <a:chExt cx="0" cy="0"/>
        </a:xfrm>
      </p:grpSpPr>
      <p:sp>
        <p:nvSpPr>
          <p:cNvPr id="931" name="Google Shape;931;g23e892d4d4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23e892d4d4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8" name="Shape 938"/>
        <p:cNvGrpSpPr/>
        <p:nvPr/>
      </p:nvGrpSpPr>
      <p:grpSpPr>
        <a:xfrm>
          <a:off x="0" y="0"/>
          <a:ext cx="0" cy="0"/>
          <a:chOff x="0" y="0"/>
          <a:chExt cx="0" cy="0"/>
        </a:xfrm>
      </p:grpSpPr>
      <p:sp>
        <p:nvSpPr>
          <p:cNvPr id="939" name="Google Shape;939;g23e892d4d4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23e892d4d4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6" name="Shape 946"/>
        <p:cNvGrpSpPr/>
        <p:nvPr/>
      </p:nvGrpSpPr>
      <p:grpSpPr>
        <a:xfrm>
          <a:off x="0" y="0"/>
          <a:ext cx="0" cy="0"/>
          <a:chOff x="0" y="0"/>
          <a:chExt cx="0" cy="0"/>
        </a:xfrm>
      </p:grpSpPr>
      <p:sp>
        <p:nvSpPr>
          <p:cNvPr id="947" name="Google Shape;947;g23e892d4d4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3e892d4d4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5" name="Shape 955"/>
        <p:cNvGrpSpPr/>
        <p:nvPr/>
      </p:nvGrpSpPr>
      <p:grpSpPr>
        <a:xfrm>
          <a:off x="0" y="0"/>
          <a:ext cx="0" cy="0"/>
          <a:chOff x="0" y="0"/>
          <a:chExt cx="0" cy="0"/>
        </a:xfrm>
      </p:grpSpPr>
      <p:sp>
        <p:nvSpPr>
          <p:cNvPr id="956" name="Google Shape;956;g23e892d4d4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23e892d4d4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4" name="Shape 964"/>
        <p:cNvGrpSpPr/>
        <p:nvPr/>
      </p:nvGrpSpPr>
      <p:grpSpPr>
        <a:xfrm>
          <a:off x="0" y="0"/>
          <a:ext cx="0" cy="0"/>
          <a:chOff x="0" y="0"/>
          <a:chExt cx="0" cy="0"/>
        </a:xfrm>
      </p:grpSpPr>
      <p:sp>
        <p:nvSpPr>
          <p:cNvPr id="965" name="Google Shape;965;g23e892d4d4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3e892d4d4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3" name="Shape 973"/>
        <p:cNvGrpSpPr/>
        <p:nvPr/>
      </p:nvGrpSpPr>
      <p:grpSpPr>
        <a:xfrm>
          <a:off x="0" y="0"/>
          <a:ext cx="0" cy="0"/>
          <a:chOff x="0" y="0"/>
          <a:chExt cx="0" cy="0"/>
        </a:xfrm>
      </p:grpSpPr>
      <p:sp>
        <p:nvSpPr>
          <p:cNvPr id="974" name="Google Shape;974;g23e892d4d4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23e892d4d4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2" name="Shape 982"/>
        <p:cNvGrpSpPr/>
        <p:nvPr/>
      </p:nvGrpSpPr>
      <p:grpSpPr>
        <a:xfrm>
          <a:off x="0" y="0"/>
          <a:ext cx="0" cy="0"/>
          <a:chOff x="0" y="0"/>
          <a:chExt cx="0" cy="0"/>
        </a:xfrm>
      </p:grpSpPr>
      <p:sp>
        <p:nvSpPr>
          <p:cNvPr id="983" name="Google Shape;983;g23e892d4d4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23e892d4d4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1" name="Shape 991"/>
        <p:cNvGrpSpPr/>
        <p:nvPr/>
      </p:nvGrpSpPr>
      <p:grpSpPr>
        <a:xfrm>
          <a:off x="0" y="0"/>
          <a:ext cx="0" cy="0"/>
          <a:chOff x="0" y="0"/>
          <a:chExt cx="0" cy="0"/>
        </a:xfrm>
      </p:grpSpPr>
      <p:sp>
        <p:nvSpPr>
          <p:cNvPr id="992" name="Google Shape;992;g23e892d4d4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3e892d4d4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0" name="Shape 1000"/>
        <p:cNvGrpSpPr/>
        <p:nvPr/>
      </p:nvGrpSpPr>
      <p:grpSpPr>
        <a:xfrm>
          <a:off x="0" y="0"/>
          <a:ext cx="0" cy="0"/>
          <a:chOff x="0" y="0"/>
          <a:chExt cx="0" cy="0"/>
        </a:xfrm>
      </p:grpSpPr>
      <p:sp>
        <p:nvSpPr>
          <p:cNvPr id="1001" name="Google Shape;1001;g23e892d4d4_0_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3e892d4d4_0_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9" name="Shape 1009"/>
        <p:cNvGrpSpPr/>
        <p:nvPr/>
      </p:nvGrpSpPr>
      <p:grpSpPr>
        <a:xfrm>
          <a:off x="0" y="0"/>
          <a:ext cx="0" cy="0"/>
          <a:chOff x="0" y="0"/>
          <a:chExt cx="0" cy="0"/>
        </a:xfrm>
      </p:grpSpPr>
      <p:sp>
        <p:nvSpPr>
          <p:cNvPr id="1010" name="Google Shape;1010;g23e892d4d4_0_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3e892d4d4_0_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8" name="Shape 1018"/>
        <p:cNvGrpSpPr/>
        <p:nvPr/>
      </p:nvGrpSpPr>
      <p:grpSpPr>
        <a:xfrm>
          <a:off x="0" y="0"/>
          <a:ext cx="0" cy="0"/>
          <a:chOff x="0" y="0"/>
          <a:chExt cx="0" cy="0"/>
        </a:xfrm>
      </p:grpSpPr>
      <p:sp>
        <p:nvSpPr>
          <p:cNvPr id="1019" name="Google Shape;1019;g23e892d4d4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23e892d4d4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27" name="Shape 1027"/>
        <p:cNvGrpSpPr/>
        <p:nvPr/>
      </p:nvGrpSpPr>
      <p:grpSpPr>
        <a:xfrm>
          <a:off x="0" y="0"/>
          <a:ext cx="0" cy="0"/>
          <a:chOff x="0" y="0"/>
          <a:chExt cx="0" cy="0"/>
        </a:xfrm>
      </p:grpSpPr>
      <p:sp>
        <p:nvSpPr>
          <p:cNvPr id="1028" name="Google Shape;1028;g23e892d4d4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23e892d4d4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6" name="Shape 1036"/>
        <p:cNvGrpSpPr/>
        <p:nvPr/>
      </p:nvGrpSpPr>
      <p:grpSpPr>
        <a:xfrm>
          <a:off x="0" y="0"/>
          <a:ext cx="0" cy="0"/>
          <a:chOff x="0" y="0"/>
          <a:chExt cx="0" cy="0"/>
        </a:xfrm>
      </p:grpSpPr>
      <p:sp>
        <p:nvSpPr>
          <p:cNvPr id="1037" name="Google Shape;1037;g23e892d4d4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3e892d4d4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5" name="Shape 1045"/>
        <p:cNvGrpSpPr/>
        <p:nvPr/>
      </p:nvGrpSpPr>
      <p:grpSpPr>
        <a:xfrm>
          <a:off x="0" y="0"/>
          <a:ext cx="0" cy="0"/>
          <a:chOff x="0" y="0"/>
          <a:chExt cx="0" cy="0"/>
        </a:xfrm>
      </p:grpSpPr>
      <p:sp>
        <p:nvSpPr>
          <p:cNvPr id="1046" name="Google Shape;1046;g23e892d4d4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23e892d4d4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4" name="Shape 1054"/>
        <p:cNvGrpSpPr/>
        <p:nvPr/>
      </p:nvGrpSpPr>
      <p:grpSpPr>
        <a:xfrm>
          <a:off x="0" y="0"/>
          <a:ext cx="0" cy="0"/>
          <a:chOff x="0" y="0"/>
          <a:chExt cx="0" cy="0"/>
        </a:xfrm>
      </p:grpSpPr>
      <p:sp>
        <p:nvSpPr>
          <p:cNvPr id="1055" name="Google Shape;1055;g23e892d4d4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3e892d4d4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3" name="Shape 1063"/>
        <p:cNvGrpSpPr/>
        <p:nvPr/>
      </p:nvGrpSpPr>
      <p:grpSpPr>
        <a:xfrm>
          <a:off x="0" y="0"/>
          <a:ext cx="0" cy="0"/>
          <a:chOff x="0" y="0"/>
          <a:chExt cx="0" cy="0"/>
        </a:xfrm>
      </p:grpSpPr>
      <p:sp>
        <p:nvSpPr>
          <p:cNvPr id="1064" name="Google Shape;1064;g23e892d4d4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23e892d4d4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2" name="Shape 1072"/>
        <p:cNvGrpSpPr/>
        <p:nvPr/>
      </p:nvGrpSpPr>
      <p:grpSpPr>
        <a:xfrm>
          <a:off x="0" y="0"/>
          <a:ext cx="0" cy="0"/>
          <a:chOff x="0" y="0"/>
          <a:chExt cx="0" cy="0"/>
        </a:xfrm>
      </p:grpSpPr>
      <p:sp>
        <p:nvSpPr>
          <p:cNvPr id="1073" name="Google Shape;1073;g23fef8e7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23fef8e7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0" name="Shape 1080"/>
        <p:cNvGrpSpPr/>
        <p:nvPr/>
      </p:nvGrpSpPr>
      <p:grpSpPr>
        <a:xfrm>
          <a:off x="0" y="0"/>
          <a:ext cx="0" cy="0"/>
          <a:chOff x="0" y="0"/>
          <a:chExt cx="0" cy="0"/>
        </a:xfrm>
      </p:grpSpPr>
      <p:sp>
        <p:nvSpPr>
          <p:cNvPr id="1081" name="Google Shape;1081;g23fef8e77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23fef8e77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8" name="Shape 1088"/>
        <p:cNvGrpSpPr/>
        <p:nvPr/>
      </p:nvGrpSpPr>
      <p:grpSpPr>
        <a:xfrm>
          <a:off x="0" y="0"/>
          <a:ext cx="0" cy="0"/>
          <a:chOff x="0" y="0"/>
          <a:chExt cx="0" cy="0"/>
        </a:xfrm>
      </p:grpSpPr>
      <p:sp>
        <p:nvSpPr>
          <p:cNvPr id="1089" name="Google Shape;1089;g23fef8e77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3fef8e77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6" name="Shape 1096"/>
        <p:cNvGrpSpPr/>
        <p:nvPr/>
      </p:nvGrpSpPr>
      <p:grpSpPr>
        <a:xfrm>
          <a:off x="0" y="0"/>
          <a:ext cx="0" cy="0"/>
          <a:chOff x="0" y="0"/>
          <a:chExt cx="0" cy="0"/>
        </a:xfrm>
      </p:grpSpPr>
      <p:sp>
        <p:nvSpPr>
          <p:cNvPr id="1097" name="Google Shape;1097;g23fef8e77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23fef8e77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04" name="Shape 1104"/>
        <p:cNvGrpSpPr/>
        <p:nvPr/>
      </p:nvGrpSpPr>
      <p:grpSpPr>
        <a:xfrm>
          <a:off x="0" y="0"/>
          <a:ext cx="0" cy="0"/>
          <a:chOff x="0" y="0"/>
          <a:chExt cx="0" cy="0"/>
        </a:xfrm>
      </p:grpSpPr>
      <p:sp>
        <p:nvSpPr>
          <p:cNvPr id="1105" name="Google Shape;1105;g23e892d4d4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3e892d4d4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2" name="Shape 1112"/>
        <p:cNvGrpSpPr/>
        <p:nvPr/>
      </p:nvGrpSpPr>
      <p:grpSpPr>
        <a:xfrm>
          <a:off x="0" y="0"/>
          <a:ext cx="0" cy="0"/>
          <a:chOff x="0" y="0"/>
          <a:chExt cx="0" cy="0"/>
        </a:xfrm>
      </p:grpSpPr>
      <p:sp>
        <p:nvSpPr>
          <p:cNvPr id="1113" name="Google Shape;1113;g23e892d4d4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23e892d4d4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0" name="Shape 1120"/>
        <p:cNvGrpSpPr/>
        <p:nvPr/>
      </p:nvGrpSpPr>
      <p:grpSpPr>
        <a:xfrm>
          <a:off x="0" y="0"/>
          <a:ext cx="0" cy="0"/>
          <a:chOff x="0" y="0"/>
          <a:chExt cx="0" cy="0"/>
        </a:xfrm>
      </p:grpSpPr>
      <p:sp>
        <p:nvSpPr>
          <p:cNvPr id="1121" name="Google Shape;1121;g23e892d4d4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23e892d4d4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8" name="Shape 1128"/>
        <p:cNvGrpSpPr/>
        <p:nvPr/>
      </p:nvGrpSpPr>
      <p:grpSpPr>
        <a:xfrm>
          <a:off x="0" y="0"/>
          <a:ext cx="0" cy="0"/>
          <a:chOff x="0" y="0"/>
          <a:chExt cx="0" cy="0"/>
        </a:xfrm>
      </p:grpSpPr>
      <p:sp>
        <p:nvSpPr>
          <p:cNvPr id="1129" name="Google Shape;1129;g23e892d4d4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23e892d4d4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6" name="Shape 1136"/>
        <p:cNvGrpSpPr/>
        <p:nvPr/>
      </p:nvGrpSpPr>
      <p:grpSpPr>
        <a:xfrm>
          <a:off x="0" y="0"/>
          <a:ext cx="0" cy="0"/>
          <a:chOff x="0" y="0"/>
          <a:chExt cx="0" cy="0"/>
        </a:xfrm>
      </p:grpSpPr>
      <p:sp>
        <p:nvSpPr>
          <p:cNvPr id="1137" name="Google Shape;1137;g23e892d4d4_0_9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23e892d4d4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4" name="Shape 1144"/>
        <p:cNvGrpSpPr/>
        <p:nvPr/>
      </p:nvGrpSpPr>
      <p:grpSpPr>
        <a:xfrm>
          <a:off x="0" y="0"/>
          <a:ext cx="0" cy="0"/>
          <a:chOff x="0" y="0"/>
          <a:chExt cx="0" cy="0"/>
        </a:xfrm>
      </p:grpSpPr>
      <p:sp>
        <p:nvSpPr>
          <p:cNvPr id="1145" name="Google Shape;1145;g23e892d4d4_0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23e892d4d4_0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2" name="Shape 1152"/>
        <p:cNvGrpSpPr/>
        <p:nvPr/>
      </p:nvGrpSpPr>
      <p:grpSpPr>
        <a:xfrm>
          <a:off x="0" y="0"/>
          <a:ext cx="0" cy="0"/>
          <a:chOff x="0" y="0"/>
          <a:chExt cx="0" cy="0"/>
        </a:xfrm>
      </p:grpSpPr>
      <p:sp>
        <p:nvSpPr>
          <p:cNvPr id="1153" name="Google Shape;1153;g23e892d4d4_0_1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23e892d4d4_0_1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60" name="Shape 1160"/>
        <p:cNvGrpSpPr/>
        <p:nvPr/>
      </p:nvGrpSpPr>
      <p:grpSpPr>
        <a:xfrm>
          <a:off x="0" y="0"/>
          <a:ext cx="0" cy="0"/>
          <a:chOff x="0" y="0"/>
          <a:chExt cx="0" cy="0"/>
        </a:xfrm>
      </p:grpSpPr>
      <p:sp>
        <p:nvSpPr>
          <p:cNvPr id="1161" name="Google Shape;1161;g23e892d4d4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23e892d4d4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68" name="Shape 1168"/>
        <p:cNvGrpSpPr/>
        <p:nvPr/>
      </p:nvGrpSpPr>
      <p:grpSpPr>
        <a:xfrm>
          <a:off x="0" y="0"/>
          <a:ext cx="0" cy="0"/>
          <a:chOff x="0" y="0"/>
          <a:chExt cx="0" cy="0"/>
        </a:xfrm>
      </p:grpSpPr>
      <p:sp>
        <p:nvSpPr>
          <p:cNvPr id="1169" name="Google Shape;1169;g23e892d4d4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23e892d4d4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76" name="Shape 1176"/>
        <p:cNvGrpSpPr/>
        <p:nvPr/>
      </p:nvGrpSpPr>
      <p:grpSpPr>
        <a:xfrm>
          <a:off x="0" y="0"/>
          <a:ext cx="0" cy="0"/>
          <a:chOff x="0" y="0"/>
          <a:chExt cx="0" cy="0"/>
        </a:xfrm>
      </p:grpSpPr>
      <p:sp>
        <p:nvSpPr>
          <p:cNvPr id="1177" name="Google Shape;1177;g23e892d4d4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23e892d4d4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4" name="Shape 1184"/>
        <p:cNvGrpSpPr/>
        <p:nvPr/>
      </p:nvGrpSpPr>
      <p:grpSpPr>
        <a:xfrm>
          <a:off x="0" y="0"/>
          <a:ext cx="0" cy="0"/>
          <a:chOff x="0" y="0"/>
          <a:chExt cx="0" cy="0"/>
        </a:xfrm>
      </p:grpSpPr>
      <p:sp>
        <p:nvSpPr>
          <p:cNvPr id="1185" name="Google Shape;1185;g23e892d4d4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23e892d4d4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91" name="Shape 1191"/>
        <p:cNvGrpSpPr/>
        <p:nvPr/>
      </p:nvGrpSpPr>
      <p:grpSpPr>
        <a:xfrm>
          <a:off x="0" y="0"/>
          <a:ext cx="0" cy="0"/>
          <a:chOff x="0" y="0"/>
          <a:chExt cx="0" cy="0"/>
        </a:xfrm>
      </p:grpSpPr>
      <p:sp>
        <p:nvSpPr>
          <p:cNvPr id="1192" name="Google Shape;1192;g23e892d4d4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23e892d4d4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99" name="Shape 1199"/>
        <p:cNvGrpSpPr/>
        <p:nvPr/>
      </p:nvGrpSpPr>
      <p:grpSpPr>
        <a:xfrm>
          <a:off x="0" y="0"/>
          <a:ext cx="0" cy="0"/>
          <a:chOff x="0" y="0"/>
          <a:chExt cx="0" cy="0"/>
        </a:xfrm>
      </p:grpSpPr>
      <p:sp>
        <p:nvSpPr>
          <p:cNvPr id="1200" name="Google Shape;1200;g23e892d4d4_0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23e892d4d4_0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7" name="Shape 1207"/>
        <p:cNvGrpSpPr/>
        <p:nvPr/>
      </p:nvGrpSpPr>
      <p:grpSpPr>
        <a:xfrm>
          <a:off x="0" y="0"/>
          <a:ext cx="0" cy="0"/>
          <a:chOff x="0" y="0"/>
          <a:chExt cx="0" cy="0"/>
        </a:xfrm>
      </p:grpSpPr>
      <p:sp>
        <p:nvSpPr>
          <p:cNvPr id="1208" name="Google Shape;1208;g23e892d4d4_0_1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23e892d4d4_0_1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5" name="Shape 1215"/>
        <p:cNvGrpSpPr/>
        <p:nvPr/>
      </p:nvGrpSpPr>
      <p:grpSpPr>
        <a:xfrm>
          <a:off x="0" y="0"/>
          <a:ext cx="0" cy="0"/>
          <a:chOff x="0" y="0"/>
          <a:chExt cx="0" cy="0"/>
        </a:xfrm>
      </p:grpSpPr>
      <p:sp>
        <p:nvSpPr>
          <p:cNvPr id="1216" name="Google Shape;1216;g23e892d4d4_0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23e892d4d4_0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3" name="Shape 1223"/>
        <p:cNvGrpSpPr/>
        <p:nvPr/>
      </p:nvGrpSpPr>
      <p:grpSpPr>
        <a:xfrm>
          <a:off x="0" y="0"/>
          <a:ext cx="0" cy="0"/>
          <a:chOff x="0" y="0"/>
          <a:chExt cx="0" cy="0"/>
        </a:xfrm>
      </p:grpSpPr>
      <p:sp>
        <p:nvSpPr>
          <p:cNvPr id="1224" name="Google Shape;1224;g23e892d4d4_0_1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3e892d4d4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1" name="Shape 1231"/>
        <p:cNvGrpSpPr/>
        <p:nvPr/>
      </p:nvGrpSpPr>
      <p:grpSpPr>
        <a:xfrm>
          <a:off x="0" y="0"/>
          <a:ext cx="0" cy="0"/>
          <a:chOff x="0" y="0"/>
          <a:chExt cx="0" cy="0"/>
        </a:xfrm>
      </p:grpSpPr>
      <p:sp>
        <p:nvSpPr>
          <p:cNvPr id="1232" name="Google Shape;1232;g23e892d4d4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23e892d4d4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jpg"/><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6.png"/><Relationship Id="rId4"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jpg"/><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jpg"/><Relationship Id="rId4" Type="http://schemas.openxmlformats.org/officeDocument/2006/relationships/image" Target="../media/image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8.png"/><Relationship Id="rId4"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8.png"/><Relationship Id="rId4"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8.png"/><Relationship Id="rId4" Type="http://schemas.openxmlformats.org/officeDocument/2006/relationships/image" Target="../media/image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8.png"/><Relationship Id="rId4"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8.png"/><Relationship Id="rId4" Type="http://schemas.openxmlformats.org/officeDocument/2006/relationships/image" Target="../media/image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8.png"/><Relationship Id="rId4" Type="http://schemas.openxmlformats.org/officeDocument/2006/relationships/image" Target="../media/image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8.png"/><Relationship Id="rId4" Type="http://schemas.openxmlformats.org/officeDocument/2006/relationships/image" Target="../media/image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8.png"/><Relationship Id="rId4"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9.png"/><Relationship Id="rId4" Type="http://schemas.openxmlformats.org/officeDocument/2006/relationships/image" Target="../media/image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9.png"/><Relationship Id="rId4"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9.png"/><Relationship Id="rId4" Type="http://schemas.openxmlformats.org/officeDocument/2006/relationships/image" Target="../media/image1.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1.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327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Python Finance Fundamentals</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we will begin to really focus on using Python for finance and trading!</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this section we will cover some key concepts in regards to trading.</a:t>
            </a:r>
            <a:endParaRPr sz="30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discuss: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Portfolio Allocation</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Sharpe Ratio</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Portfolio Optimization</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Efficient Frontier</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CAPM - Capital Asset Pricing Model</a:t>
            </a:r>
            <a:endParaRPr sz="30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 name="Shape 77"/>
        <p:cNvGrpSpPr/>
        <p:nvPr/>
      </p:nvGrpSpPr>
      <p:grpSpPr>
        <a:xfrm>
          <a:off x="0" y="0"/>
          <a:ext cx="0" cy="0"/>
          <a:chOff x="0" y="0"/>
          <a:chExt cx="0" cy="0"/>
        </a:xfrm>
      </p:grpSpPr>
      <p:sp>
        <p:nvSpPr>
          <p:cNvPr id="78" name="Google Shape;78;p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also be introducing several other financial topics, like how the market works, how orders get made, and general arbitrage opportunities. </a:t>
            </a:r>
            <a:endParaRPr sz="3000">
              <a:solidFill>
                <a:srgbClr val="434343"/>
              </a:solidFill>
              <a:latin typeface="Montserrat"/>
              <a:ea typeface="Montserrat"/>
              <a:cs typeface="Montserrat"/>
              <a:sym typeface="Montserrat"/>
            </a:endParaRPr>
          </a:p>
        </p:txBody>
      </p:sp>
      <p:pic>
        <p:nvPicPr>
          <p:cNvPr descr="watermark.jpg" id="80" name="Google Shape;80;p1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1" name="Google Shape;81;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interchange shorter quick discussions of general finance topics, with longer, more detailed discussions of the actual implementation of these topics.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get started!</a:t>
            </a:r>
            <a:endParaRPr sz="3000">
              <a:solidFill>
                <a:srgbClr val="434343"/>
              </a:solidFill>
              <a:latin typeface="Montserrat"/>
              <a:ea typeface="Montserrat"/>
              <a:cs typeface="Montserrat"/>
              <a:sym typeface="Montserrat"/>
            </a:endParaRPr>
          </a:p>
        </p:txBody>
      </p:sp>
      <p:pic>
        <p:nvPicPr>
          <p:cNvPr descr="watermark.jpg" id="88" name="Google Shape;88;p1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9" name="Google Shape;89;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 name="Shape 93"/>
        <p:cNvGrpSpPr/>
        <p:nvPr/>
      </p:nvGrpSpPr>
      <p:grpSpPr>
        <a:xfrm>
          <a:off x="0" y="0"/>
          <a:ext cx="0" cy="0"/>
          <a:chOff x="0" y="0"/>
          <a:chExt cx="0" cy="0"/>
        </a:xfrm>
      </p:grpSpPr>
      <p:sp>
        <p:nvSpPr>
          <p:cNvPr id="94" name="Google Shape;94;p18"/>
          <p:cNvSpPr txBox="1"/>
          <p:nvPr>
            <p:ph type="ctrTitle"/>
          </p:nvPr>
        </p:nvSpPr>
        <p:spPr>
          <a:xfrm>
            <a:off x="311708" y="10874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Portfolio and Statistics</a:t>
            </a:r>
            <a:endParaRPr b="1">
              <a:latin typeface="Montserrat"/>
              <a:ea typeface="Montserrat"/>
              <a:cs typeface="Montserrat"/>
              <a:sym typeface="Montserrat"/>
            </a:endParaRPr>
          </a:p>
        </p:txBody>
      </p:sp>
      <p:sp>
        <p:nvSpPr>
          <p:cNvPr id="95" name="Google Shape;95;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96" name="Google Shape;96;p1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7" name="Google Shape;97;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03" name="Google Shape;103;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far we’ve really only analyzed individual stocks, now we will shift our attention to understanding a portfolio of multiple stocks.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what is a portfolio?</a:t>
            </a:r>
            <a:endParaRPr sz="3000">
              <a:solidFill>
                <a:srgbClr val="434343"/>
              </a:solidFill>
              <a:latin typeface="Montserrat"/>
              <a:ea typeface="Montserrat"/>
              <a:cs typeface="Montserrat"/>
              <a:sym typeface="Montserrat"/>
            </a:endParaRPr>
          </a:p>
        </p:txBody>
      </p:sp>
      <p:pic>
        <p:nvPicPr>
          <p:cNvPr descr="watermark.jpg" id="104" name="Google Shape;104;p1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5" name="Google Shape;105;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11" name="Google Shape;111;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Put simply a portfolio is just a set of allocations in a variety of securities.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example: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20 % in APPL</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30 % in FB</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50% in GOOG</a:t>
            </a:r>
            <a:endParaRPr sz="3000">
              <a:solidFill>
                <a:srgbClr val="434343"/>
              </a:solidFill>
              <a:latin typeface="Montserrat"/>
              <a:ea typeface="Montserrat"/>
              <a:cs typeface="Montserrat"/>
              <a:sym typeface="Montserrat"/>
            </a:endParaRPr>
          </a:p>
        </p:txBody>
      </p:sp>
      <p:pic>
        <p:nvPicPr>
          <p:cNvPr descr="watermark.jpg" id="112" name="Google Shape;112;p2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3" name="Google Shape;113;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19" name="Google Shape;119;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These percentages should add up to 100% (or if defined as weights they should add up to 1).</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review a few key statistics for a portfolio!</a:t>
            </a:r>
            <a:endParaRPr sz="3000">
              <a:solidFill>
                <a:srgbClr val="434343"/>
              </a:solidFill>
              <a:latin typeface="Montserrat"/>
              <a:ea typeface="Montserrat"/>
              <a:cs typeface="Montserrat"/>
              <a:sym typeface="Montserrat"/>
            </a:endParaRPr>
          </a:p>
        </p:txBody>
      </p:sp>
      <p:pic>
        <p:nvPicPr>
          <p:cNvPr descr="watermark.jpg" id="120" name="Google Shape;120;p2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1" name="Google Shape;121;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27" name="Google Shape;127;p22"/>
          <p:cNvSpPr txBox="1"/>
          <p:nvPr>
            <p:ph idx="1" type="body"/>
          </p:nvPr>
        </p:nvSpPr>
        <p:spPr>
          <a:xfrm>
            <a:off x="311700" y="1152475"/>
            <a:ext cx="8775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Daily Returns - The percent returned from 1 day to the next for a stock.</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Cumulative Return - The amount returned after an entire time period.</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Avg. Daily Return - Mean of Daily Returns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Std. Daily Return - Std. Dev of Daily Returns</a:t>
            </a:r>
            <a:endParaRPr sz="3000">
              <a:solidFill>
                <a:srgbClr val="434343"/>
              </a:solidFill>
              <a:latin typeface="Montserrat"/>
              <a:ea typeface="Montserrat"/>
              <a:cs typeface="Montserrat"/>
              <a:sym typeface="Montserrat"/>
            </a:endParaRPr>
          </a:p>
        </p:txBody>
      </p:sp>
      <p:pic>
        <p:nvPicPr>
          <p:cNvPr descr="watermark.jpg" id="128" name="Google Shape;128;p2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9" name="Google Shape;129;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35" name="Google Shape;135;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there is still one critical statistic we haven’t discussed yet, the Sharpe Ratio!</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Before we explain what it is, let’s give you an intuitive understanding of why it is necessary!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imagine 3 portfolio comparisons...</a:t>
            </a:r>
            <a:endParaRPr sz="3000">
              <a:solidFill>
                <a:srgbClr val="434343"/>
              </a:solidFill>
              <a:latin typeface="Montserrat"/>
              <a:ea typeface="Montserrat"/>
              <a:cs typeface="Montserrat"/>
              <a:sym typeface="Montserrat"/>
            </a:endParaRPr>
          </a:p>
        </p:txBody>
      </p:sp>
      <p:pic>
        <p:nvPicPr>
          <p:cNvPr descr="watermark.jpg" id="136" name="Google Shape;136;p2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37" name="Google Shape;137;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43" name="Google Shape;143;p24"/>
          <p:cNvSpPr txBox="1"/>
          <p:nvPr>
            <p:ph idx="1" type="body"/>
          </p:nvPr>
        </p:nvSpPr>
        <p:spPr>
          <a:xfrm>
            <a:off x="311700" y="3996175"/>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en" sz="3000">
                <a:solidFill>
                  <a:srgbClr val="434343"/>
                </a:solidFill>
                <a:latin typeface="Montserrat"/>
                <a:ea typeface="Montserrat"/>
                <a:cs typeface="Montserrat"/>
                <a:sym typeface="Montserrat"/>
              </a:rPr>
              <a:t>Case 1						Case 2					Case 3</a:t>
            </a:r>
            <a:endParaRPr sz="3000">
              <a:solidFill>
                <a:srgbClr val="434343"/>
              </a:solidFill>
              <a:latin typeface="Montserrat"/>
              <a:ea typeface="Montserrat"/>
              <a:cs typeface="Montserrat"/>
              <a:sym typeface="Montserrat"/>
            </a:endParaRPr>
          </a:p>
        </p:txBody>
      </p:sp>
      <p:pic>
        <p:nvPicPr>
          <p:cNvPr descr="watermark.jpg" id="144" name="Google Shape;144;p2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45" name="Google Shape;145;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46" name="Google Shape;146;p24"/>
          <p:cNvCxnSpPr/>
          <p:nvPr/>
        </p:nvCxnSpPr>
        <p:spPr>
          <a:xfrm>
            <a:off x="217175" y="3786700"/>
            <a:ext cx="2297400" cy="0"/>
          </a:xfrm>
          <a:prstGeom prst="straightConnector1">
            <a:avLst/>
          </a:prstGeom>
          <a:noFill/>
          <a:ln cap="flat" cmpd="sng" w="76200">
            <a:solidFill>
              <a:srgbClr val="434343"/>
            </a:solidFill>
            <a:prstDash val="solid"/>
            <a:round/>
            <a:headEnd len="med" w="med" type="none"/>
            <a:tailEnd len="med" w="med" type="none"/>
          </a:ln>
        </p:spPr>
      </p:cxnSp>
      <p:cxnSp>
        <p:nvCxnSpPr>
          <p:cNvPr id="147" name="Google Shape;147;p24"/>
          <p:cNvCxnSpPr/>
          <p:nvPr/>
        </p:nvCxnSpPr>
        <p:spPr>
          <a:xfrm>
            <a:off x="3423300" y="3752850"/>
            <a:ext cx="2297400" cy="0"/>
          </a:xfrm>
          <a:prstGeom prst="straightConnector1">
            <a:avLst/>
          </a:prstGeom>
          <a:noFill/>
          <a:ln cap="flat" cmpd="sng" w="76200">
            <a:solidFill>
              <a:srgbClr val="434343"/>
            </a:solidFill>
            <a:prstDash val="solid"/>
            <a:round/>
            <a:headEnd len="med" w="med" type="none"/>
            <a:tailEnd len="med" w="med" type="none"/>
          </a:ln>
        </p:spPr>
      </p:cxnSp>
      <p:cxnSp>
        <p:nvCxnSpPr>
          <p:cNvPr id="148" name="Google Shape;148;p24"/>
          <p:cNvCxnSpPr/>
          <p:nvPr/>
        </p:nvCxnSpPr>
        <p:spPr>
          <a:xfrm>
            <a:off x="6534825" y="3752850"/>
            <a:ext cx="2297400" cy="0"/>
          </a:xfrm>
          <a:prstGeom prst="straightConnector1">
            <a:avLst/>
          </a:prstGeom>
          <a:noFill/>
          <a:ln cap="flat" cmpd="sng" w="76200">
            <a:solidFill>
              <a:srgbClr val="434343"/>
            </a:solidFill>
            <a:prstDash val="solid"/>
            <a:round/>
            <a:headEnd len="med" w="med" type="none"/>
            <a:tailEnd len="med" w="med" type="none"/>
          </a:ln>
        </p:spPr>
      </p:cxnSp>
      <p:sp>
        <p:nvSpPr>
          <p:cNvPr id="149" name="Google Shape;149;p24"/>
          <p:cNvSpPr txBox="1"/>
          <p:nvPr>
            <p:ph idx="1" type="body"/>
          </p:nvPr>
        </p:nvSpPr>
        <p:spPr>
          <a:xfrm>
            <a:off x="376125" y="1132788"/>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en" sz="3000">
                <a:solidFill>
                  <a:srgbClr val="434343"/>
                </a:solidFill>
                <a:latin typeface="Montserrat"/>
                <a:ea typeface="Montserrat"/>
                <a:cs typeface="Montserrat"/>
                <a:sym typeface="Montserrat"/>
              </a:rPr>
              <a:t>For each case, which portfolio is better?</a:t>
            </a:r>
            <a:endParaRPr sz="3000">
              <a:solidFill>
                <a:srgbClr val="434343"/>
              </a:solidFill>
              <a:latin typeface="Montserrat"/>
              <a:ea typeface="Montserrat"/>
              <a:cs typeface="Montserrat"/>
              <a:sym typeface="Montserrat"/>
            </a:endParaRPr>
          </a:p>
        </p:txBody>
      </p:sp>
      <p:sp>
        <p:nvSpPr>
          <p:cNvPr id="150" name="Google Shape;150;p24"/>
          <p:cNvSpPr/>
          <p:nvPr/>
        </p:nvSpPr>
        <p:spPr>
          <a:xfrm>
            <a:off x="222900" y="2269700"/>
            <a:ext cx="2297413" cy="791765"/>
          </a:xfrm>
          <a:custGeom>
            <a:rect b="b" l="l" r="r" t="t"/>
            <a:pathLst>
              <a:path extrusionOk="0" h="74836" w="77885">
                <a:moveTo>
                  <a:pt x="0" y="74836"/>
                </a:moveTo>
                <a:lnTo>
                  <a:pt x="6334" y="55599"/>
                </a:lnTo>
                <a:lnTo>
                  <a:pt x="12433" y="61229"/>
                </a:lnTo>
                <a:lnTo>
                  <a:pt x="19940" y="43166"/>
                </a:lnTo>
                <a:lnTo>
                  <a:pt x="26040" y="49969"/>
                </a:lnTo>
                <a:lnTo>
                  <a:pt x="33781" y="33313"/>
                </a:lnTo>
                <a:lnTo>
                  <a:pt x="41288" y="41289"/>
                </a:lnTo>
                <a:lnTo>
                  <a:pt x="51141" y="20410"/>
                </a:lnTo>
                <a:lnTo>
                  <a:pt x="55599" y="26744"/>
                </a:lnTo>
                <a:lnTo>
                  <a:pt x="60994" y="11495"/>
                </a:lnTo>
                <a:lnTo>
                  <a:pt x="68501" y="19706"/>
                </a:lnTo>
                <a:lnTo>
                  <a:pt x="77885" y="0"/>
                </a:lnTo>
              </a:path>
            </a:pathLst>
          </a:custGeom>
          <a:noFill/>
          <a:ln cap="flat" cmpd="sng" w="28575">
            <a:solidFill>
              <a:srgbClr val="FF9900"/>
            </a:solidFill>
            <a:prstDash val="solid"/>
            <a:round/>
            <a:headEnd len="med" w="med" type="none"/>
            <a:tailEnd len="med" w="med" type="none"/>
          </a:ln>
        </p:spPr>
      </p:sp>
      <p:sp>
        <p:nvSpPr>
          <p:cNvPr id="151" name="Google Shape;151;p24"/>
          <p:cNvSpPr/>
          <p:nvPr/>
        </p:nvSpPr>
        <p:spPr>
          <a:xfrm>
            <a:off x="222900" y="2645558"/>
            <a:ext cx="2315910" cy="415901"/>
          </a:xfrm>
          <a:custGeom>
            <a:rect b="b" l="l" r="r" t="t"/>
            <a:pathLst>
              <a:path extrusionOk="0" h="74836" w="77885">
                <a:moveTo>
                  <a:pt x="0" y="74836"/>
                </a:moveTo>
                <a:lnTo>
                  <a:pt x="6334" y="55599"/>
                </a:lnTo>
                <a:lnTo>
                  <a:pt x="12433" y="61229"/>
                </a:lnTo>
                <a:lnTo>
                  <a:pt x="19940" y="43166"/>
                </a:lnTo>
                <a:lnTo>
                  <a:pt x="26040" y="49969"/>
                </a:lnTo>
                <a:lnTo>
                  <a:pt x="33781" y="33313"/>
                </a:lnTo>
                <a:lnTo>
                  <a:pt x="41288" y="41289"/>
                </a:lnTo>
                <a:lnTo>
                  <a:pt x="51141" y="20410"/>
                </a:lnTo>
                <a:lnTo>
                  <a:pt x="55599" y="26744"/>
                </a:lnTo>
                <a:lnTo>
                  <a:pt x="60994" y="11495"/>
                </a:lnTo>
                <a:lnTo>
                  <a:pt x="68501" y="19706"/>
                </a:lnTo>
                <a:lnTo>
                  <a:pt x="77885" y="0"/>
                </a:lnTo>
              </a:path>
            </a:pathLst>
          </a:custGeom>
          <a:noFill/>
          <a:ln cap="flat" cmpd="sng" w="28575">
            <a:solidFill>
              <a:srgbClr val="9900FF"/>
            </a:solidFill>
            <a:prstDash val="solid"/>
            <a:round/>
            <a:headEnd len="med" w="med" type="none"/>
            <a:tailEnd len="med" w="med" type="none"/>
          </a:ln>
        </p:spPr>
      </p:sp>
      <p:sp>
        <p:nvSpPr>
          <p:cNvPr id="152" name="Google Shape;152;p24"/>
          <p:cNvSpPr/>
          <p:nvPr/>
        </p:nvSpPr>
        <p:spPr>
          <a:xfrm>
            <a:off x="3414050" y="2645558"/>
            <a:ext cx="2315910" cy="415901"/>
          </a:xfrm>
          <a:custGeom>
            <a:rect b="b" l="l" r="r" t="t"/>
            <a:pathLst>
              <a:path extrusionOk="0" h="74836" w="77885">
                <a:moveTo>
                  <a:pt x="0" y="74836"/>
                </a:moveTo>
                <a:lnTo>
                  <a:pt x="6334" y="55599"/>
                </a:lnTo>
                <a:lnTo>
                  <a:pt x="12433" y="61229"/>
                </a:lnTo>
                <a:lnTo>
                  <a:pt x="19940" y="43166"/>
                </a:lnTo>
                <a:lnTo>
                  <a:pt x="26040" y="49969"/>
                </a:lnTo>
                <a:lnTo>
                  <a:pt x="33781" y="33313"/>
                </a:lnTo>
                <a:lnTo>
                  <a:pt x="41288" y="41289"/>
                </a:lnTo>
                <a:lnTo>
                  <a:pt x="51141" y="20410"/>
                </a:lnTo>
                <a:lnTo>
                  <a:pt x="55599" y="26744"/>
                </a:lnTo>
                <a:lnTo>
                  <a:pt x="60994" y="11495"/>
                </a:lnTo>
                <a:lnTo>
                  <a:pt x="68501" y="19706"/>
                </a:lnTo>
                <a:lnTo>
                  <a:pt x="77885" y="0"/>
                </a:lnTo>
              </a:path>
            </a:pathLst>
          </a:custGeom>
          <a:noFill/>
          <a:ln cap="flat" cmpd="sng" w="28575">
            <a:solidFill>
              <a:srgbClr val="9900FF"/>
            </a:solidFill>
            <a:prstDash val="solid"/>
            <a:round/>
            <a:headEnd len="med" w="med" type="none"/>
            <a:tailEnd len="med" w="med" type="none"/>
          </a:ln>
        </p:spPr>
      </p:sp>
      <p:sp>
        <p:nvSpPr>
          <p:cNvPr id="153" name="Google Shape;153;p24"/>
          <p:cNvSpPr/>
          <p:nvPr/>
        </p:nvSpPr>
        <p:spPr>
          <a:xfrm>
            <a:off x="3436825" y="2357675"/>
            <a:ext cx="2275575" cy="1008775"/>
          </a:xfrm>
          <a:custGeom>
            <a:rect b="b" l="l" r="r" t="t"/>
            <a:pathLst>
              <a:path extrusionOk="0" h="40351" w="91023">
                <a:moveTo>
                  <a:pt x="0" y="27683"/>
                </a:moveTo>
                <a:lnTo>
                  <a:pt x="7507" y="2815"/>
                </a:lnTo>
                <a:lnTo>
                  <a:pt x="19002" y="40351"/>
                </a:lnTo>
                <a:lnTo>
                  <a:pt x="26978" y="3050"/>
                </a:lnTo>
                <a:lnTo>
                  <a:pt x="37535" y="37066"/>
                </a:lnTo>
                <a:lnTo>
                  <a:pt x="47623" y="939"/>
                </a:lnTo>
                <a:lnTo>
                  <a:pt x="62637" y="36597"/>
                </a:lnTo>
                <a:lnTo>
                  <a:pt x="71317" y="0"/>
                </a:lnTo>
                <a:lnTo>
                  <a:pt x="83281" y="32374"/>
                </a:lnTo>
                <a:lnTo>
                  <a:pt x="91023" y="8680"/>
                </a:lnTo>
              </a:path>
            </a:pathLst>
          </a:custGeom>
          <a:noFill/>
          <a:ln cap="flat" cmpd="sng" w="28575">
            <a:solidFill>
              <a:srgbClr val="FF9900"/>
            </a:solidFill>
            <a:prstDash val="solid"/>
            <a:round/>
            <a:headEnd len="med" w="med" type="none"/>
            <a:tailEnd len="med" w="med" type="none"/>
          </a:ln>
        </p:spPr>
      </p:sp>
      <p:sp>
        <p:nvSpPr>
          <p:cNvPr id="154" name="Google Shape;154;p24"/>
          <p:cNvSpPr/>
          <p:nvPr/>
        </p:nvSpPr>
        <p:spPr>
          <a:xfrm>
            <a:off x="6545200" y="2076175"/>
            <a:ext cx="2123100" cy="1067400"/>
          </a:xfrm>
          <a:custGeom>
            <a:rect b="b" l="l" r="r" t="t"/>
            <a:pathLst>
              <a:path extrusionOk="0" h="42696" w="84924">
                <a:moveTo>
                  <a:pt x="0" y="36831"/>
                </a:moveTo>
                <a:lnTo>
                  <a:pt x="10088" y="17360"/>
                </a:lnTo>
                <a:lnTo>
                  <a:pt x="23460" y="42696"/>
                </a:lnTo>
                <a:lnTo>
                  <a:pt x="33078" y="15014"/>
                </a:lnTo>
                <a:lnTo>
                  <a:pt x="42227" y="30966"/>
                </a:lnTo>
                <a:lnTo>
                  <a:pt x="56303" y="0"/>
                </a:lnTo>
                <a:lnTo>
                  <a:pt x="66156" y="30028"/>
                </a:lnTo>
                <a:lnTo>
                  <a:pt x="84924" y="2346"/>
                </a:lnTo>
              </a:path>
            </a:pathLst>
          </a:custGeom>
          <a:noFill/>
          <a:ln cap="flat" cmpd="sng" w="28575">
            <a:solidFill>
              <a:srgbClr val="FF9900"/>
            </a:solidFill>
            <a:prstDash val="solid"/>
            <a:round/>
            <a:headEnd len="med" w="med" type="none"/>
            <a:tailEnd len="med" w="med" type="none"/>
          </a:ln>
        </p:spPr>
      </p:sp>
      <p:sp>
        <p:nvSpPr>
          <p:cNvPr id="155" name="Google Shape;155;p24"/>
          <p:cNvSpPr/>
          <p:nvPr/>
        </p:nvSpPr>
        <p:spPr>
          <a:xfrm>
            <a:off x="6551075" y="2826875"/>
            <a:ext cx="2105500" cy="258050"/>
          </a:xfrm>
          <a:custGeom>
            <a:rect b="b" l="l" r="r" t="t"/>
            <a:pathLst>
              <a:path extrusionOk="0" h="10322" w="84220">
                <a:moveTo>
                  <a:pt x="0" y="7272"/>
                </a:moveTo>
                <a:lnTo>
                  <a:pt x="8680" y="4223"/>
                </a:lnTo>
                <a:lnTo>
                  <a:pt x="15952" y="8915"/>
                </a:lnTo>
                <a:lnTo>
                  <a:pt x="25102" y="0"/>
                </a:lnTo>
                <a:lnTo>
                  <a:pt x="33078" y="8445"/>
                </a:lnTo>
                <a:lnTo>
                  <a:pt x="49969" y="1877"/>
                </a:lnTo>
                <a:lnTo>
                  <a:pt x="60291" y="10322"/>
                </a:lnTo>
                <a:lnTo>
                  <a:pt x="69675" y="0"/>
                </a:lnTo>
                <a:lnTo>
                  <a:pt x="84220" y="3988"/>
                </a:lnTo>
              </a:path>
            </a:pathLst>
          </a:custGeom>
          <a:noFill/>
          <a:ln cap="flat" cmpd="sng" w="28575">
            <a:solidFill>
              <a:srgbClr val="9900FF"/>
            </a:solidFill>
            <a:prstDash val="solid"/>
            <a:round/>
            <a:headEnd len="med" w="med" type="none"/>
            <a:tailEnd len="med" w="med" type="none"/>
          </a:ln>
        </p:spPr>
      </p:sp>
      <p:cxnSp>
        <p:nvCxnSpPr>
          <p:cNvPr id="156" name="Google Shape;156;p24"/>
          <p:cNvCxnSpPr/>
          <p:nvPr/>
        </p:nvCxnSpPr>
        <p:spPr>
          <a:xfrm>
            <a:off x="217175" y="2003625"/>
            <a:ext cx="0" cy="1806000"/>
          </a:xfrm>
          <a:prstGeom prst="straightConnector1">
            <a:avLst/>
          </a:prstGeom>
          <a:noFill/>
          <a:ln cap="flat" cmpd="sng" w="76200">
            <a:solidFill>
              <a:srgbClr val="434343"/>
            </a:solidFill>
            <a:prstDash val="solid"/>
            <a:round/>
            <a:headEnd len="med" w="med" type="none"/>
            <a:tailEnd len="med" w="med" type="none"/>
          </a:ln>
        </p:spPr>
      </p:cxnSp>
      <p:cxnSp>
        <p:nvCxnSpPr>
          <p:cNvPr id="157" name="Google Shape;157;p24"/>
          <p:cNvCxnSpPr/>
          <p:nvPr/>
        </p:nvCxnSpPr>
        <p:spPr>
          <a:xfrm>
            <a:off x="3423300" y="1969775"/>
            <a:ext cx="0" cy="1806000"/>
          </a:xfrm>
          <a:prstGeom prst="straightConnector1">
            <a:avLst/>
          </a:prstGeom>
          <a:noFill/>
          <a:ln cap="flat" cmpd="sng" w="76200">
            <a:solidFill>
              <a:srgbClr val="434343"/>
            </a:solidFill>
            <a:prstDash val="solid"/>
            <a:round/>
            <a:headEnd len="med" w="med" type="none"/>
            <a:tailEnd len="med" w="med" type="none"/>
          </a:ln>
        </p:spPr>
      </p:cxnSp>
      <p:cxnSp>
        <p:nvCxnSpPr>
          <p:cNvPr id="158" name="Google Shape;158;p24"/>
          <p:cNvCxnSpPr/>
          <p:nvPr/>
        </p:nvCxnSpPr>
        <p:spPr>
          <a:xfrm>
            <a:off x="6534825" y="1969775"/>
            <a:ext cx="0" cy="1806000"/>
          </a:xfrm>
          <a:prstGeom prst="straightConnector1">
            <a:avLst/>
          </a:prstGeom>
          <a:noFill/>
          <a:ln cap="flat" cmpd="sng" w="76200">
            <a:solidFill>
              <a:srgbClr val="434343"/>
            </a:solidFill>
            <a:prstDash val="solid"/>
            <a:round/>
            <a:headEnd len="med" w="med" type="none"/>
            <a:tailEnd len="med" w="med" type="none"/>
          </a:ln>
        </p:spPr>
      </p:cxnSp>
      <p:sp>
        <p:nvSpPr>
          <p:cNvPr id="159" name="Google Shape;159;p24"/>
          <p:cNvSpPr txBox="1"/>
          <p:nvPr/>
        </p:nvSpPr>
        <p:spPr>
          <a:xfrm>
            <a:off x="2545350" y="1988200"/>
            <a:ext cx="604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9900"/>
                </a:solidFill>
              </a:rPr>
              <a:t>8%</a:t>
            </a:r>
            <a:endParaRPr b="1" sz="1800">
              <a:solidFill>
                <a:srgbClr val="FF9900"/>
              </a:solidFill>
            </a:endParaRPr>
          </a:p>
        </p:txBody>
      </p:sp>
      <p:sp>
        <p:nvSpPr>
          <p:cNvPr id="160" name="Google Shape;160;p24"/>
          <p:cNvSpPr txBox="1"/>
          <p:nvPr/>
        </p:nvSpPr>
        <p:spPr>
          <a:xfrm>
            <a:off x="5712400" y="2261338"/>
            <a:ext cx="604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9900"/>
                </a:solidFill>
              </a:rPr>
              <a:t>5</a:t>
            </a:r>
            <a:r>
              <a:rPr b="1" lang="en" sz="1800">
                <a:solidFill>
                  <a:srgbClr val="FF9900"/>
                </a:solidFill>
              </a:rPr>
              <a:t>%</a:t>
            </a:r>
            <a:endParaRPr b="1" sz="1800">
              <a:solidFill>
                <a:srgbClr val="FF9900"/>
              </a:solidFill>
            </a:endParaRPr>
          </a:p>
        </p:txBody>
      </p:sp>
      <p:sp>
        <p:nvSpPr>
          <p:cNvPr id="161" name="Google Shape;161;p24"/>
          <p:cNvSpPr txBox="1"/>
          <p:nvPr/>
        </p:nvSpPr>
        <p:spPr>
          <a:xfrm>
            <a:off x="8433700" y="1776900"/>
            <a:ext cx="7104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9900"/>
                </a:solidFill>
              </a:rPr>
              <a:t>12</a:t>
            </a:r>
            <a:r>
              <a:rPr b="1" lang="en" sz="1800">
                <a:solidFill>
                  <a:srgbClr val="FF9900"/>
                </a:solidFill>
              </a:rPr>
              <a:t>%</a:t>
            </a:r>
            <a:endParaRPr b="1" sz="1800">
              <a:solidFill>
                <a:srgbClr val="FF9900"/>
              </a:solidFill>
            </a:endParaRPr>
          </a:p>
        </p:txBody>
      </p:sp>
      <p:sp>
        <p:nvSpPr>
          <p:cNvPr id="162" name="Google Shape;162;p24"/>
          <p:cNvSpPr txBox="1"/>
          <p:nvPr/>
        </p:nvSpPr>
        <p:spPr>
          <a:xfrm>
            <a:off x="2544525" y="2438875"/>
            <a:ext cx="604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rPr>
              <a:t>5</a:t>
            </a:r>
            <a:r>
              <a:rPr b="1" lang="en" sz="1800">
                <a:solidFill>
                  <a:srgbClr val="9900FF"/>
                </a:solidFill>
              </a:rPr>
              <a:t>%</a:t>
            </a:r>
            <a:endParaRPr b="1" sz="1800">
              <a:solidFill>
                <a:srgbClr val="9900FF"/>
              </a:solidFill>
            </a:endParaRPr>
          </a:p>
        </p:txBody>
      </p:sp>
      <p:sp>
        <p:nvSpPr>
          <p:cNvPr id="163" name="Google Shape;163;p24"/>
          <p:cNvSpPr txBox="1"/>
          <p:nvPr/>
        </p:nvSpPr>
        <p:spPr>
          <a:xfrm>
            <a:off x="5712400" y="2603338"/>
            <a:ext cx="604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rPr>
              <a:t>5%</a:t>
            </a:r>
            <a:endParaRPr b="1" sz="1800">
              <a:solidFill>
                <a:srgbClr val="9900FF"/>
              </a:solidFill>
            </a:endParaRPr>
          </a:p>
        </p:txBody>
      </p:sp>
      <p:sp>
        <p:nvSpPr>
          <p:cNvPr id="164" name="Google Shape;164;p24"/>
          <p:cNvSpPr txBox="1"/>
          <p:nvPr/>
        </p:nvSpPr>
        <p:spPr>
          <a:xfrm>
            <a:off x="8605700" y="2735625"/>
            <a:ext cx="604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rPr>
              <a:t>6</a:t>
            </a:r>
            <a:r>
              <a:rPr b="1" lang="en" sz="1800">
                <a:solidFill>
                  <a:srgbClr val="9900FF"/>
                </a:solidFill>
              </a:rPr>
              <a:t>%</a:t>
            </a:r>
            <a:endParaRPr b="1" sz="1800">
              <a:solidFill>
                <a:srgbClr val="99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70" name="Google Shape;170;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Sharpe Ratio is a measure for calculating risk-adjusted return, and this ratio has become the industry standard for such calculations.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was developed by Nobel laureate William F. Sharpe.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171" name="Google Shape;171;p2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2" name="Google Shape;172;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6" name="Shape 176"/>
        <p:cNvGrpSpPr/>
        <p:nvPr/>
      </p:nvGrpSpPr>
      <p:grpSpPr>
        <a:xfrm>
          <a:off x="0" y="0"/>
          <a:ext cx="0" cy="0"/>
          <a:chOff x="0" y="0"/>
          <a:chExt cx="0" cy="0"/>
        </a:xfrm>
      </p:grpSpPr>
      <p:pic>
        <p:nvPicPr>
          <p:cNvPr id="177" name="Google Shape;177;p26"/>
          <p:cNvPicPr preferRelativeResize="0"/>
          <p:nvPr/>
        </p:nvPicPr>
        <p:blipFill>
          <a:blip r:embed="rId3">
            <a:alphaModFix/>
          </a:blip>
          <a:stretch>
            <a:fillRect/>
          </a:stretch>
        </p:blipFill>
        <p:spPr>
          <a:xfrm>
            <a:off x="2918300" y="1738625"/>
            <a:ext cx="2729575" cy="1214900"/>
          </a:xfrm>
          <a:prstGeom prst="rect">
            <a:avLst/>
          </a:prstGeom>
          <a:noFill/>
          <a:ln>
            <a:noFill/>
          </a:ln>
        </p:spPr>
      </p:pic>
      <p:sp>
        <p:nvSpPr>
          <p:cNvPr id="178" name="Google Shape;178;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79" name="Google Shape;179;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formula for the Sharpe Ratio:</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160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Rp is Expected Portfolio return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Rf is Risk-Free Return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Sigma p is Portfolio Standard Deviation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180" name="Google Shape;180;p26"/>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81" name="Google Shape;181;p2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87" name="Google Shape;187;p2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8" name="Google Shape;188;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89" name="Google Shape;189;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is risk free return?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return you would receive if you put your money in an investment such as a bank savings account, LIBOR, Treasury Bonds that are essentially “risk-free”.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95" name="Google Shape;195;p2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96" name="Google Shape;196;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7" name="Google Shape;197;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Currently in the United States (early 2017), these returns are very close to 0%, so its just easier to approximate Rf as 0.</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Keep in mind though, the Federal Reserve may continue to raise interest rates in the future, effecting this result!</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03" name="Google Shape;203;p2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04" name="Google Shape;204;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05" name="Google Shape;205;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now, assuming Rf is 0, we get: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SR = Mean Return / Std. Dev.</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Keep in mind that Sharpe originally thought of this as a yearly metric (as in mean yearly return vs. mean daily return)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easy to fix for us though!</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11" name="Google Shape;211;p3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12" name="Google Shape;212;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13" name="Google Shape;213;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annualized Sharpe Ratio can be obtained by multiplying against a K-Factor based off your Sampling Rate:</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Daily: K= sqrt(252)</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Weekly: K=sqrt(52)</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Monthly: K=sqrt(12)</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that you just calculate ASR = K * SR</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19" name="Google Shape;219;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see how to do all of this with Python!</a:t>
            </a:r>
            <a:endParaRPr sz="3000">
              <a:solidFill>
                <a:srgbClr val="434343"/>
              </a:solidFill>
              <a:latin typeface="Montserrat"/>
              <a:ea typeface="Montserrat"/>
              <a:cs typeface="Montserrat"/>
              <a:sym typeface="Montserrat"/>
            </a:endParaRPr>
          </a:p>
        </p:txBody>
      </p:sp>
      <p:pic>
        <p:nvPicPr>
          <p:cNvPr descr="watermark.jpg" id="220" name="Google Shape;220;p3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21" name="Google Shape;221;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5" name="Shape 225"/>
        <p:cNvGrpSpPr/>
        <p:nvPr/>
      </p:nvGrpSpPr>
      <p:grpSpPr>
        <a:xfrm>
          <a:off x="0" y="0"/>
          <a:ext cx="0" cy="0"/>
          <a:chOff x="0" y="0"/>
          <a:chExt cx="0" cy="0"/>
        </a:xfrm>
      </p:grpSpPr>
      <p:sp>
        <p:nvSpPr>
          <p:cNvPr id="226" name="Google Shape;226;p32"/>
          <p:cNvSpPr txBox="1"/>
          <p:nvPr>
            <p:ph type="ctrTitle"/>
          </p:nvPr>
        </p:nvSpPr>
        <p:spPr>
          <a:xfrm>
            <a:off x="341033" y="15454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Portfolio Allocation &amp;</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Sharpe Ratio</a:t>
            </a:r>
            <a:endParaRPr b="1">
              <a:latin typeface="Montserrat"/>
              <a:ea typeface="Montserrat"/>
              <a:cs typeface="Montserrat"/>
              <a:sym typeface="Montserrat"/>
            </a:endParaRPr>
          </a:p>
        </p:txBody>
      </p:sp>
      <p:pic>
        <p:nvPicPr>
          <p:cNvPr descr="watermark.jpg" id="227" name="Google Shape;227;p3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28" name="Google Shape;228;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2" name="Shape 232"/>
        <p:cNvGrpSpPr/>
        <p:nvPr/>
      </p:nvGrpSpPr>
      <p:grpSpPr>
        <a:xfrm>
          <a:off x="0" y="0"/>
          <a:ext cx="0" cy="0"/>
          <a:chOff x="0" y="0"/>
          <a:chExt cx="0" cy="0"/>
        </a:xfrm>
      </p:grpSpPr>
      <p:sp>
        <p:nvSpPr>
          <p:cNvPr id="233" name="Google Shape;233;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34" name="Google Shape;23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jump to the notebook and code it out!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All the stock information is available as csv files in case Quandl or pandas-datareader are unavailable for you.</a:t>
            </a:r>
            <a:endParaRPr sz="3000">
              <a:solidFill>
                <a:srgbClr val="434343"/>
              </a:solidFill>
              <a:latin typeface="Montserrat"/>
              <a:ea typeface="Montserrat"/>
              <a:cs typeface="Montserrat"/>
              <a:sym typeface="Montserrat"/>
            </a:endParaRPr>
          </a:p>
        </p:txBody>
      </p:sp>
      <p:pic>
        <p:nvPicPr>
          <p:cNvPr descr="watermark.jpg" id="235" name="Google Shape;235;p3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6" name="Google Shape;236;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0" name="Shape 240"/>
        <p:cNvGrpSpPr/>
        <p:nvPr/>
      </p:nvGrpSpPr>
      <p:grpSpPr>
        <a:xfrm>
          <a:off x="0" y="0"/>
          <a:ext cx="0" cy="0"/>
          <a:chOff x="0" y="0"/>
          <a:chExt cx="0" cy="0"/>
        </a:xfrm>
      </p:grpSpPr>
      <p:sp>
        <p:nvSpPr>
          <p:cNvPr id="241" name="Google Shape;241;p34"/>
          <p:cNvSpPr txBox="1"/>
          <p:nvPr>
            <p:ph type="ctrTitle"/>
          </p:nvPr>
        </p:nvSpPr>
        <p:spPr>
          <a:xfrm>
            <a:off x="0" y="1545450"/>
            <a:ext cx="91440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Portfolio Allocation &amp;</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Sharpe Ratio Code Along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Part Two</a:t>
            </a:r>
            <a:endParaRPr b="1">
              <a:latin typeface="Montserrat"/>
              <a:ea typeface="Montserrat"/>
              <a:cs typeface="Montserrat"/>
              <a:sym typeface="Montserrat"/>
            </a:endParaRPr>
          </a:p>
        </p:txBody>
      </p:sp>
      <p:pic>
        <p:nvPicPr>
          <p:cNvPr descr="watermark.jpg" id="242" name="Google Shape;242;p3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3" name="Google Shape;243;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7" name="Shape 247"/>
        <p:cNvGrpSpPr/>
        <p:nvPr/>
      </p:nvGrpSpPr>
      <p:grpSpPr>
        <a:xfrm>
          <a:off x="0" y="0"/>
          <a:ext cx="0" cy="0"/>
          <a:chOff x="0" y="0"/>
          <a:chExt cx="0" cy="0"/>
        </a:xfrm>
      </p:grpSpPr>
      <p:sp>
        <p:nvSpPr>
          <p:cNvPr id="248" name="Google Shape;248;p35"/>
          <p:cNvSpPr txBox="1"/>
          <p:nvPr>
            <p:ph type="ctrTitle"/>
          </p:nvPr>
        </p:nvSpPr>
        <p:spPr>
          <a:xfrm>
            <a:off x="346908" y="1158375"/>
            <a:ext cx="8520600" cy="2052600"/>
          </a:xfrm>
          <a:prstGeom prst="rect">
            <a:avLst/>
          </a:prstGeom>
        </p:spPr>
        <p:txBody>
          <a:bodyPr anchorCtr="0" anchor="b" bIns="91425" lIns="91425" spcFirstLastPara="1" rIns="91425" wrap="square" tIns="91425">
            <a:noAutofit/>
          </a:bodyPr>
          <a:lstStyle/>
          <a:p>
            <a:pPr indent="457200" lvl="0" marL="0" rtl="0" algn="l">
              <a:spcBef>
                <a:spcPts val="0"/>
              </a:spcBef>
              <a:spcAft>
                <a:spcPts val="0"/>
              </a:spcAft>
              <a:buNone/>
            </a:pPr>
            <a:r>
              <a:rPr b="1" lang="en">
                <a:latin typeface="Montserrat"/>
                <a:ea typeface="Montserrat"/>
                <a:cs typeface="Montserrat"/>
                <a:sym typeface="Montserrat"/>
              </a:rPr>
              <a:t>Portfolio Optimization</a:t>
            </a:r>
            <a:endParaRPr b="1">
              <a:latin typeface="Montserrat"/>
              <a:ea typeface="Montserrat"/>
              <a:cs typeface="Montserrat"/>
              <a:sym typeface="Montserrat"/>
            </a:endParaRPr>
          </a:p>
        </p:txBody>
      </p:sp>
      <p:pic>
        <p:nvPicPr>
          <p:cNvPr descr="watermark.jpg" id="249" name="Google Shape;249;p3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0" name="Google Shape;250;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 name="Shape 254"/>
        <p:cNvGrpSpPr/>
        <p:nvPr/>
      </p:nvGrpSpPr>
      <p:grpSpPr>
        <a:xfrm>
          <a:off x="0" y="0"/>
          <a:ext cx="0" cy="0"/>
          <a:chOff x="0" y="0"/>
          <a:chExt cx="0" cy="0"/>
        </a:xfrm>
      </p:grpSpPr>
      <p:sp>
        <p:nvSpPr>
          <p:cNvPr id="255" name="Google Shape;255;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56" name="Google Shape;256;p3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7" name="Google Shape;257;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8" name="Google Shape;258;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that we have a nice metric to evaluate Portfolio Allocations against each other, how can we optimize the portfolio holdings?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could just guess and check a bunch of random allocations and see which one has the best Sharpe Ratio!</a:t>
            </a:r>
            <a:endParaRPr sz="3000">
              <a:solidFill>
                <a:srgbClr val="434343"/>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2" name="Shape 262"/>
        <p:cNvGrpSpPr/>
        <p:nvPr/>
      </p:nvGrpSpPr>
      <p:grpSpPr>
        <a:xfrm>
          <a:off x="0" y="0"/>
          <a:ext cx="0" cy="0"/>
          <a:chOff x="0" y="0"/>
          <a:chExt cx="0" cy="0"/>
        </a:xfrm>
      </p:grpSpPr>
      <p:sp>
        <p:nvSpPr>
          <p:cNvPr id="263" name="Google Shape;263;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64" name="Google Shape;264;p3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5" name="Google Shape;265;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6" name="Google Shape;266;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known as Monte Carlo Simulation.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randomly assign a weight to each security in our portfolio, then calculate its mean daily return and std. dev. of daily return.</a:t>
            </a:r>
            <a:endParaRPr sz="3000">
              <a:solidFill>
                <a:srgbClr val="434343"/>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72" name="Google Shape;272;p3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3" name="Google Shape;273;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74" name="Google Shape;274;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allows us to calculate the Sharpe Ratio for thousands of randomly selected allocations.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then plot the allocations on a chart showing return vs. volatility, colored by the Sharpe Ratio.</a:t>
            </a:r>
            <a:endParaRPr sz="3000">
              <a:solidFill>
                <a:srgbClr val="434343"/>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8" name="Shape 278"/>
        <p:cNvGrpSpPr/>
        <p:nvPr/>
      </p:nvGrpSpPr>
      <p:grpSpPr>
        <a:xfrm>
          <a:off x="0" y="0"/>
          <a:ext cx="0" cy="0"/>
          <a:chOff x="0" y="0"/>
          <a:chExt cx="0" cy="0"/>
        </a:xfrm>
      </p:grpSpPr>
      <p:sp>
        <p:nvSpPr>
          <p:cNvPr id="279" name="Google Shape;279;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80" name="Google Shape;280;p3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1" name="Google Shape;281;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2" name="Google Shape;282;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create something like this:</a:t>
            </a:r>
            <a:endParaRPr sz="3000">
              <a:solidFill>
                <a:srgbClr val="434343"/>
              </a:solidFill>
              <a:latin typeface="Montserrat"/>
              <a:ea typeface="Montserrat"/>
              <a:cs typeface="Montserrat"/>
              <a:sym typeface="Montserrat"/>
            </a:endParaRPr>
          </a:p>
        </p:txBody>
      </p:sp>
      <p:pic>
        <p:nvPicPr>
          <p:cNvPr id="283" name="Google Shape;283;p39"/>
          <p:cNvPicPr preferRelativeResize="0"/>
          <p:nvPr/>
        </p:nvPicPr>
        <p:blipFill>
          <a:blip r:embed="rId4">
            <a:alphaModFix/>
          </a:blip>
          <a:stretch>
            <a:fillRect/>
          </a:stretch>
        </p:blipFill>
        <p:spPr>
          <a:xfrm>
            <a:off x="2120671" y="1727496"/>
            <a:ext cx="4301826" cy="3033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7" name="Shape 287"/>
        <p:cNvGrpSpPr/>
        <p:nvPr/>
      </p:nvGrpSpPr>
      <p:grpSpPr>
        <a:xfrm>
          <a:off x="0" y="0"/>
          <a:ext cx="0" cy="0"/>
          <a:chOff x="0" y="0"/>
          <a:chExt cx="0" cy="0"/>
        </a:xfrm>
      </p:grpSpPr>
      <p:sp>
        <p:nvSpPr>
          <p:cNvPr id="288" name="Google Shape;288;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89" name="Google Shape;289;p4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0" name="Google Shape;290;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1" name="Google Shape;291;p40"/>
          <p:cNvSpPr txBox="1"/>
          <p:nvPr>
            <p:ph idx="1" type="body"/>
          </p:nvPr>
        </p:nvSpPr>
        <p:spPr>
          <a:xfrm>
            <a:off x="311700" y="1152475"/>
            <a:ext cx="87978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Red dot indicates the highest Sharpe Ratio</a:t>
            </a:r>
            <a:endParaRPr sz="3000">
              <a:solidFill>
                <a:srgbClr val="434343"/>
              </a:solidFill>
              <a:latin typeface="Montserrat"/>
              <a:ea typeface="Montserrat"/>
              <a:cs typeface="Montserrat"/>
              <a:sym typeface="Montserrat"/>
            </a:endParaRPr>
          </a:p>
        </p:txBody>
      </p:sp>
      <p:pic>
        <p:nvPicPr>
          <p:cNvPr id="292" name="Google Shape;292;p40"/>
          <p:cNvPicPr preferRelativeResize="0"/>
          <p:nvPr/>
        </p:nvPicPr>
        <p:blipFill>
          <a:blip r:embed="rId4">
            <a:alphaModFix/>
          </a:blip>
          <a:stretch>
            <a:fillRect/>
          </a:stretch>
        </p:blipFill>
        <p:spPr>
          <a:xfrm>
            <a:off x="2120671" y="1727496"/>
            <a:ext cx="4301826" cy="3033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6" name="Shape 296"/>
        <p:cNvGrpSpPr/>
        <p:nvPr/>
      </p:nvGrpSpPr>
      <p:grpSpPr>
        <a:xfrm>
          <a:off x="0" y="0"/>
          <a:ext cx="0" cy="0"/>
          <a:chOff x="0" y="0"/>
          <a:chExt cx="0" cy="0"/>
        </a:xfrm>
      </p:grpSpPr>
      <p:sp>
        <p:nvSpPr>
          <p:cNvPr id="297" name="Google Shape;297;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98" name="Google Shape;298;p4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9" name="Google Shape;299;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0" name="Google Shape;300;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However guessing and checking is not very efficient, instead we can use math to figure out the optimal Sharpe Ratio for any given portfolio.</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To understand optimization algorithms, we need to understand minimization!</a:t>
            </a:r>
            <a:endParaRPr sz="3000">
              <a:solidFill>
                <a:srgbClr val="434343"/>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4" name="Shape 304"/>
        <p:cNvGrpSpPr/>
        <p:nvPr/>
      </p:nvGrpSpPr>
      <p:grpSpPr>
        <a:xfrm>
          <a:off x="0" y="0"/>
          <a:ext cx="0" cy="0"/>
          <a:chOff x="0" y="0"/>
          <a:chExt cx="0" cy="0"/>
        </a:xfrm>
      </p:grpSpPr>
      <p:sp>
        <p:nvSpPr>
          <p:cNvPr id="305" name="Google Shape;305;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06" name="Google Shape;306;p4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07" name="Google Shape;307;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8" name="Google Shape;308;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Before we discuss optimization directly, let’s discuss minimization, which is a very similar concept!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say we are given simple equations: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 = x</a:t>
            </a:r>
            <a:r>
              <a:rPr baseline="30000" lang="en" sz="3000">
                <a:solidFill>
                  <a:srgbClr val="434343"/>
                </a:solidFill>
                <a:latin typeface="Montserrat"/>
                <a:ea typeface="Montserrat"/>
                <a:cs typeface="Montserrat"/>
                <a:sym typeface="Montserrat"/>
              </a:rPr>
              <a:t>2 </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 = ( 2 - x)</a:t>
            </a:r>
            <a:r>
              <a:rPr baseline="30000" lang="en" sz="3000">
                <a:solidFill>
                  <a:srgbClr val="434343"/>
                </a:solidFill>
                <a:latin typeface="Montserrat"/>
                <a:ea typeface="Montserrat"/>
                <a:cs typeface="Montserrat"/>
                <a:sym typeface="Montserrat"/>
              </a:rPr>
              <a:t>2</a:t>
            </a:r>
            <a:endParaRPr baseline="30000" sz="3000">
              <a:solidFill>
                <a:srgbClr val="434343"/>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2" name="Shape 312"/>
        <p:cNvGrpSpPr/>
        <p:nvPr/>
      </p:nvGrpSpPr>
      <p:grpSpPr>
        <a:xfrm>
          <a:off x="0" y="0"/>
          <a:ext cx="0" cy="0"/>
          <a:chOff x="0" y="0"/>
          <a:chExt cx="0" cy="0"/>
        </a:xfrm>
      </p:grpSpPr>
      <p:sp>
        <p:nvSpPr>
          <p:cNvPr id="313" name="Google Shape;313;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14" name="Google Shape;314;p4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15" name="Google Shape;315;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16" name="Google Shape;316;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value of x will minimize y?</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 = x</a:t>
            </a:r>
            <a:r>
              <a:rPr baseline="30000" lang="en" sz="3000">
                <a:solidFill>
                  <a:srgbClr val="434343"/>
                </a:solidFill>
                <a:latin typeface="Montserrat"/>
                <a:ea typeface="Montserrat"/>
                <a:cs typeface="Montserrat"/>
                <a:sym typeface="Montserrat"/>
              </a:rPr>
              <a:t>2 </a:t>
            </a:r>
            <a:r>
              <a:rPr lang="en" sz="3000">
                <a:solidFill>
                  <a:srgbClr val="434343"/>
                </a:solidFill>
                <a:latin typeface="Montserrat"/>
                <a:ea typeface="Montserrat"/>
                <a:cs typeface="Montserrat"/>
                <a:sym typeface="Montserrat"/>
              </a:rPr>
              <a:t>   ----&gt;    x = 0</a:t>
            </a:r>
            <a:r>
              <a:rPr baseline="30000" lang="en" sz="3000">
                <a:solidFill>
                  <a:srgbClr val="434343"/>
                </a:solidFill>
                <a:latin typeface="Montserrat"/>
                <a:ea typeface="Montserrat"/>
                <a:cs typeface="Montserrat"/>
                <a:sym typeface="Montserrat"/>
              </a:rPr>
              <a:t> </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 = ( 2 - x)</a:t>
            </a:r>
            <a:r>
              <a:rPr baseline="30000" lang="en" sz="3000">
                <a:solidFill>
                  <a:srgbClr val="434343"/>
                </a:solidFill>
                <a:latin typeface="Montserrat"/>
                <a:ea typeface="Montserrat"/>
                <a:cs typeface="Montserrat"/>
                <a:sym typeface="Montserrat"/>
              </a:rPr>
              <a:t>2</a:t>
            </a:r>
            <a:r>
              <a:rPr lang="en" sz="3000">
                <a:solidFill>
                  <a:srgbClr val="434343"/>
                </a:solidFill>
                <a:latin typeface="Montserrat"/>
                <a:ea typeface="Montserrat"/>
                <a:cs typeface="Montserrat"/>
                <a:sym typeface="Montserrat"/>
              </a:rPr>
              <a:t> ----&gt;  x = 2</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idea of using a minimizer will allow us to build an optimizer.</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Luckily for more complex equations, SciPy can do the heavy math for us!</a:t>
            </a:r>
            <a:endParaRPr sz="3000">
              <a:solidFill>
                <a:srgbClr val="434343"/>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0" name="Shape 320"/>
        <p:cNvGrpSpPr/>
        <p:nvPr/>
      </p:nvGrpSpPr>
      <p:grpSpPr>
        <a:xfrm>
          <a:off x="0" y="0"/>
          <a:ext cx="0" cy="0"/>
          <a:chOff x="0" y="0"/>
          <a:chExt cx="0" cy="0"/>
        </a:xfrm>
      </p:grpSpPr>
      <p:sp>
        <p:nvSpPr>
          <p:cNvPr id="321" name="Google Shape;321;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22" name="Google Shape;322;p4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23" name="Google Shape;323;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24" name="Google Shape;324;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Referring back to our Sharpe Ratio, we want to actually maximize the Sharpe Ratio, meaning we can create an optimizer that will attempt to minimize the negative Sharpe Ratio!</a:t>
            </a:r>
            <a:endParaRPr sz="3000">
              <a:solidFill>
                <a:srgbClr val="434343"/>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8" name="Shape 328"/>
        <p:cNvGrpSpPr/>
        <p:nvPr/>
      </p:nvGrpSpPr>
      <p:grpSpPr>
        <a:xfrm>
          <a:off x="0" y="0"/>
          <a:ext cx="0" cy="0"/>
          <a:chOff x="0" y="0"/>
          <a:chExt cx="0" cy="0"/>
        </a:xfrm>
      </p:grpSpPr>
      <p:sp>
        <p:nvSpPr>
          <p:cNvPr id="329" name="Google Shape;329;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30" name="Google Shape;330;p4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31" name="Google Shape;331;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32" name="Google Shape;332;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use SciPy’s built-in optimization algorithms to calculate the optimal weight allocation for our portfolio (optimized by Sharpe Ratio).</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go back to the return vs. volatility plot again</a:t>
            </a:r>
            <a:endParaRPr sz="3000">
              <a:solidFill>
                <a:srgbClr val="434343"/>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6" name="Shape 336"/>
        <p:cNvGrpSpPr/>
        <p:nvPr/>
      </p:nvGrpSpPr>
      <p:grpSpPr>
        <a:xfrm>
          <a:off x="0" y="0"/>
          <a:ext cx="0" cy="0"/>
          <a:chOff x="0" y="0"/>
          <a:chExt cx="0" cy="0"/>
        </a:xfrm>
      </p:grpSpPr>
      <p:sp>
        <p:nvSpPr>
          <p:cNvPr id="337" name="Google Shape;337;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38" name="Google Shape;338;p4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39" name="Google Shape;339;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40" name="Google Shape;340;p46"/>
          <p:cNvSpPr txBox="1"/>
          <p:nvPr>
            <p:ph idx="1" type="body"/>
          </p:nvPr>
        </p:nvSpPr>
        <p:spPr>
          <a:xfrm>
            <a:off x="311700" y="1152475"/>
            <a:ext cx="87978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Notice the shape of the plot.</a:t>
            </a:r>
            <a:endParaRPr sz="3000">
              <a:solidFill>
                <a:srgbClr val="434343"/>
              </a:solidFill>
              <a:latin typeface="Montserrat"/>
              <a:ea typeface="Montserrat"/>
              <a:cs typeface="Montserrat"/>
              <a:sym typeface="Montserrat"/>
            </a:endParaRPr>
          </a:p>
        </p:txBody>
      </p:sp>
      <p:pic>
        <p:nvPicPr>
          <p:cNvPr id="341" name="Google Shape;341;p46"/>
          <p:cNvPicPr preferRelativeResize="0"/>
          <p:nvPr/>
        </p:nvPicPr>
        <p:blipFill>
          <a:blip r:embed="rId4">
            <a:alphaModFix/>
          </a:blip>
          <a:stretch>
            <a:fillRect/>
          </a:stretch>
        </p:blipFill>
        <p:spPr>
          <a:xfrm>
            <a:off x="2120671" y="1727496"/>
            <a:ext cx="4301826" cy="3033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5" name="Shape 345"/>
        <p:cNvGrpSpPr/>
        <p:nvPr/>
      </p:nvGrpSpPr>
      <p:grpSpPr>
        <a:xfrm>
          <a:off x="0" y="0"/>
          <a:ext cx="0" cy="0"/>
          <a:chOff x="0" y="0"/>
          <a:chExt cx="0" cy="0"/>
        </a:xfrm>
      </p:grpSpPr>
      <p:sp>
        <p:nvSpPr>
          <p:cNvPr id="346" name="Google Shape;346;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47" name="Google Shape;347;p4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48" name="Google Shape;348;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49" name="Google Shape;349;p47"/>
          <p:cNvSpPr txBox="1"/>
          <p:nvPr>
            <p:ph idx="1" type="body"/>
          </p:nvPr>
        </p:nvSpPr>
        <p:spPr>
          <a:xfrm>
            <a:off x="311700" y="1152475"/>
            <a:ext cx="87978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seems to create a border.</a:t>
            </a:r>
            <a:endParaRPr sz="3000">
              <a:solidFill>
                <a:srgbClr val="434343"/>
              </a:solidFill>
              <a:latin typeface="Montserrat"/>
              <a:ea typeface="Montserrat"/>
              <a:cs typeface="Montserrat"/>
              <a:sym typeface="Montserrat"/>
            </a:endParaRPr>
          </a:p>
        </p:txBody>
      </p:sp>
      <p:pic>
        <p:nvPicPr>
          <p:cNvPr id="350" name="Google Shape;350;p47"/>
          <p:cNvPicPr preferRelativeResize="0"/>
          <p:nvPr/>
        </p:nvPicPr>
        <p:blipFill>
          <a:blip r:embed="rId4">
            <a:alphaModFix/>
          </a:blip>
          <a:stretch>
            <a:fillRect/>
          </a:stretch>
        </p:blipFill>
        <p:spPr>
          <a:xfrm>
            <a:off x="2120671" y="1727496"/>
            <a:ext cx="4301826" cy="30332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4" name="Shape 354"/>
        <p:cNvGrpSpPr/>
        <p:nvPr/>
      </p:nvGrpSpPr>
      <p:grpSpPr>
        <a:xfrm>
          <a:off x="0" y="0"/>
          <a:ext cx="0" cy="0"/>
          <a:chOff x="0" y="0"/>
          <a:chExt cx="0" cy="0"/>
        </a:xfrm>
      </p:grpSpPr>
      <p:sp>
        <p:nvSpPr>
          <p:cNvPr id="355" name="Google Shape;355;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56" name="Google Shape;356;p4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57" name="Google Shape;357;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58" name="Google Shape;358;p48"/>
          <p:cNvSpPr txBox="1"/>
          <p:nvPr>
            <p:ph idx="1" type="body"/>
          </p:nvPr>
        </p:nvSpPr>
        <p:spPr>
          <a:xfrm>
            <a:off x="152400" y="1152475"/>
            <a:ext cx="89571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indicates the highest return for volatility</a:t>
            </a:r>
            <a:endParaRPr sz="3000">
              <a:solidFill>
                <a:srgbClr val="434343"/>
              </a:solidFill>
              <a:latin typeface="Montserrat"/>
              <a:ea typeface="Montserrat"/>
              <a:cs typeface="Montserrat"/>
              <a:sym typeface="Montserrat"/>
            </a:endParaRPr>
          </a:p>
        </p:txBody>
      </p:sp>
      <p:pic>
        <p:nvPicPr>
          <p:cNvPr id="359" name="Google Shape;359;p48"/>
          <p:cNvPicPr preferRelativeResize="0"/>
          <p:nvPr/>
        </p:nvPicPr>
        <p:blipFill>
          <a:blip r:embed="rId4">
            <a:alphaModFix/>
          </a:blip>
          <a:stretch>
            <a:fillRect/>
          </a:stretch>
        </p:blipFill>
        <p:spPr>
          <a:xfrm>
            <a:off x="2120671" y="1727496"/>
            <a:ext cx="4301826" cy="3033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3" name="Shape 363"/>
        <p:cNvGrpSpPr/>
        <p:nvPr/>
      </p:nvGrpSpPr>
      <p:grpSpPr>
        <a:xfrm>
          <a:off x="0" y="0"/>
          <a:ext cx="0" cy="0"/>
          <a:chOff x="0" y="0"/>
          <a:chExt cx="0" cy="0"/>
        </a:xfrm>
      </p:grpSpPr>
      <p:sp>
        <p:nvSpPr>
          <p:cNvPr id="364" name="Google Shape;364;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65" name="Google Shape;365;p4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66" name="Google Shape;366;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67" name="Google Shape;367;p49"/>
          <p:cNvSpPr txBox="1"/>
          <p:nvPr>
            <p:ph idx="1" type="body"/>
          </p:nvPr>
        </p:nvSpPr>
        <p:spPr>
          <a:xfrm>
            <a:off x="152400" y="1152475"/>
            <a:ext cx="89571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Anything below the border is a bad choice.</a:t>
            </a:r>
            <a:endParaRPr sz="3000">
              <a:solidFill>
                <a:srgbClr val="434343"/>
              </a:solidFill>
              <a:latin typeface="Montserrat"/>
              <a:ea typeface="Montserrat"/>
              <a:cs typeface="Montserrat"/>
              <a:sym typeface="Montserrat"/>
            </a:endParaRPr>
          </a:p>
        </p:txBody>
      </p:sp>
      <p:pic>
        <p:nvPicPr>
          <p:cNvPr id="368" name="Google Shape;368;p49"/>
          <p:cNvPicPr preferRelativeResize="0"/>
          <p:nvPr/>
        </p:nvPicPr>
        <p:blipFill>
          <a:blip r:embed="rId4">
            <a:alphaModFix/>
          </a:blip>
          <a:stretch>
            <a:fillRect/>
          </a:stretch>
        </p:blipFill>
        <p:spPr>
          <a:xfrm>
            <a:off x="2120671" y="1727496"/>
            <a:ext cx="4301826" cy="30332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2" name="Shape 372"/>
        <p:cNvGrpSpPr/>
        <p:nvPr/>
      </p:nvGrpSpPr>
      <p:grpSpPr>
        <a:xfrm>
          <a:off x="0" y="0"/>
          <a:ext cx="0" cy="0"/>
          <a:chOff x="0" y="0"/>
          <a:chExt cx="0" cy="0"/>
        </a:xfrm>
      </p:grpSpPr>
      <p:sp>
        <p:nvSpPr>
          <p:cNvPr id="373" name="Google Shape;373;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74" name="Google Shape;374;p5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75" name="Google Shape;375;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76" name="Google Shape;376;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border is known as the efficient frontier.</a:t>
            </a:r>
            <a:endParaRPr sz="3000">
              <a:solidFill>
                <a:srgbClr val="434343"/>
              </a:solidFill>
              <a:latin typeface="Montserrat"/>
              <a:ea typeface="Montserrat"/>
              <a:cs typeface="Montserrat"/>
              <a:sym typeface="Montserrat"/>
            </a:endParaRPr>
          </a:p>
        </p:txBody>
      </p:sp>
      <p:pic>
        <p:nvPicPr>
          <p:cNvPr id="377" name="Google Shape;377;p50"/>
          <p:cNvPicPr preferRelativeResize="0"/>
          <p:nvPr/>
        </p:nvPicPr>
        <p:blipFill>
          <a:blip r:embed="rId4">
            <a:alphaModFix/>
          </a:blip>
          <a:stretch>
            <a:fillRect/>
          </a:stretch>
        </p:blipFill>
        <p:spPr>
          <a:xfrm>
            <a:off x="2716109" y="1792371"/>
            <a:ext cx="4442425" cy="3132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1" name="Shape 381"/>
        <p:cNvGrpSpPr/>
        <p:nvPr/>
      </p:nvGrpSpPr>
      <p:grpSpPr>
        <a:xfrm>
          <a:off x="0" y="0"/>
          <a:ext cx="0" cy="0"/>
          <a:chOff x="0" y="0"/>
          <a:chExt cx="0" cy="0"/>
        </a:xfrm>
      </p:grpSpPr>
      <p:sp>
        <p:nvSpPr>
          <p:cNvPr id="382" name="Google Shape;382;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383" name="Google Shape;383;p5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84" name="Google Shape;384;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85" name="Google Shape;385;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walk through using Python to calculate all of these metrics and topics!</a:t>
            </a:r>
            <a:endParaRPr sz="3000">
              <a:solidFill>
                <a:srgbClr val="434343"/>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9" name="Shape 389"/>
        <p:cNvGrpSpPr/>
        <p:nvPr/>
      </p:nvGrpSpPr>
      <p:grpSpPr>
        <a:xfrm>
          <a:off x="0" y="0"/>
          <a:ext cx="0" cy="0"/>
          <a:chOff x="0" y="0"/>
          <a:chExt cx="0" cy="0"/>
        </a:xfrm>
      </p:grpSpPr>
      <p:sp>
        <p:nvSpPr>
          <p:cNvPr id="390" name="Google Shape;390;p52"/>
          <p:cNvSpPr txBox="1"/>
          <p:nvPr>
            <p:ph type="ctrTitle"/>
          </p:nvPr>
        </p:nvSpPr>
        <p:spPr>
          <a:xfrm>
            <a:off x="0" y="1545450"/>
            <a:ext cx="91440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Portfolio Optimization Code Along</a:t>
            </a:r>
            <a:endParaRPr b="1">
              <a:latin typeface="Montserrat"/>
              <a:ea typeface="Montserrat"/>
              <a:cs typeface="Montserrat"/>
              <a:sym typeface="Montserrat"/>
            </a:endParaRPr>
          </a:p>
        </p:txBody>
      </p:sp>
      <p:pic>
        <p:nvPicPr>
          <p:cNvPr descr="watermark.jpg" id="391" name="Google Shape;391;p5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92" name="Google Shape;392;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6" name="Shape 396"/>
        <p:cNvGrpSpPr/>
        <p:nvPr/>
      </p:nvGrpSpPr>
      <p:grpSpPr>
        <a:xfrm>
          <a:off x="0" y="0"/>
          <a:ext cx="0" cy="0"/>
          <a:chOff x="0" y="0"/>
          <a:chExt cx="0" cy="0"/>
        </a:xfrm>
      </p:grpSpPr>
      <p:sp>
        <p:nvSpPr>
          <p:cNvPr id="397" name="Google Shape;397;p53"/>
          <p:cNvSpPr txBox="1"/>
          <p:nvPr>
            <p:ph type="ctrTitle"/>
          </p:nvPr>
        </p:nvSpPr>
        <p:spPr>
          <a:xfrm>
            <a:off x="0" y="744575"/>
            <a:ext cx="9109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Financial Market Concepts</a:t>
            </a:r>
            <a:endParaRPr b="1">
              <a:latin typeface="Montserrat"/>
              <a:ea typeface="Montserrat"/>
              <a:cs typeface="Montserrat"/>
              <a:sym typeface="Montserrat"/>
            </a:endParaRPr>
          </a:p>
        </p:txBody>
      </p:sp>
      <p:sp>
        <p:nvSpPr>
          <p:cNvPr id="398" name="Google Shape;398;p5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399" name="Google Shape;399;p5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00" name="Google Shape;400;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4" name="Shape 404"/>
        <p:cNvGrpSpPr/>
        <p:nvPr/>
      </p:nvGrpSpPr>
      <p:grpSpPr>
        <a:xfrm>
          <a:off x="0" y="0"/>
          <a:ext cx="0" cy="0"/>
          <a:chOff x="0" y="0"/>
          <a:chExt cx="0" cy="0"/>
        </a:xfrm>
      </p:grpSpPr>
      <p:sp>
        <p:nvSpPr>
          <p:cNvPr id="405" name="Google Shape;405;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06" name="Google Shape;406;p5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07" name="Google Shape;407;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08" name="Google Shape;408;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this series of lectures we will go over a few key financial topics</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Types of Funds</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Order Books</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Latency Arbitrage (HFT)</a:t>
            </a:r>
            <a:endParaRPr sz="3000">
              <a:solidFill>
                <a:srgbClr val="434343"/>
              </a:solidFill>
              <a:latin typeface="Montserrat"/>
              <a:ea typeface="Montserrat"/>
              <a:cs typeface="Montserrat"/>
              <a:sym typeface="Montserrat"/>
            </a:endParaRPr>
          </a:p>
          <a:p>
            <a:pPr indent="-419100" lvl="1" marL="9144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Short Selling</a:t>
            </a:r>
            <a:endParaRPr sz="3000">
              <a:solidFill>
                <a:srgbClr val="434343"/>
              </a:solidFill>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2" name="Shape 412"/>
        <p:cNvGrpSpPr/>
        <p:nvPr/>
      </p:nvGrpSpPr>
      <p:grpSpPr>
        <a:xfrm>
          <a:off x="0" y="0"/>
          <a:ext cx="0" cy="0"/>
          <a:chOff x="0" y="0"/>
          <a:chExt cx="0" cy="0"/>
        </a:xfrm>
      </p:grpSpPr>
      <p:sp>
        <p:nvSpPr>
          <p:cNvPr id="413" name="Google Shape;413;p55"/>
          <p:cNvSpPr txBox="1"/>
          <p:nvPr>
            <p:ph type="ctrTitle"/>
          </p:nvPr>
        </p:nvSpPr>
        <p:spPr>
          <a:xfrm>
            <a:off x="0" y="744575"/>
            <a:ext cx="9109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Let’s get started!</a:t>
            </a:r>
            <a:endParaRPr b="1">
              <a:latin typeface="Montserrat"/>
              <a:ea typeface="Montserrat"/>
              <a:cs typeface="Montserrat"/>
              <a:sym typeface="Montserrat"/>
            </a:endParaRPr>
          </a:p>
        </p:txBody>
      </p:sp>
      <p:sp>
        <p:nvSpPr>
          <p:cNvPr id="414" name="Google Shape;414;p5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415" name="Google Shape;415;p5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16" name="Google Shape;416;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0" name="Shape 420"/>
        <p:cNvGrpSpPr/>
        <p:nvPr/>
      </p:nvGrpSpPr>
      <p:grpSpPr>
        <a:xfrm>
          <a:off x="0" y="0"/>
          <a:ext cx="0" cy="0"/>
          <a:chOff x="0" y="0"/>
          <a:chExt cx="0" cy="0"/>
        </a:xfrm>
      </p:grpSpPr>
      <p:sp>
        <p:nvSpPr>
          <p:cNvPr id="421" name="Google Shape;421;p56"/>
          <p:cNvSpPr txBox="1"/>
          <p:nvPr>
            <p:ph type="ctrTitle"/>
          </p:nvPr>
        </p:nvSpPr>
        <p:spPr>
          <a:xfrm>
            <a:off x="0" y="744575"/>
            <a:ext cx="9109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Types of Funds</a:t>
            </a:r>
            <a:endParaRPr b="1">
              <a:latin typeface="Montserrat"/>
              <a:ea typeface="Montserrat"/>
              <a:cs typeface="Montserrat"/>
              <a:sym typeface="Montserrat"/>
            </a:endParaRPr>
          </a:p>
        </p:txBody>
      </p:sp>
      <p:sp>
        <p:nvSpPr>
          <p:cNvPr id="422" name="Google Shape;422;p5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423" name="Google Shape;423;p5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24" name="Google Shape;424;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8" name="Shape 428"/>
        <p:cNvGrpSpPr/>
        <p:nvPr/>
      </p:nvGrpSpPr>
      <p:grpSpPr>
        <a:xfrm>
          <a:off x="0" y="0"/>
          <a:ext cx="0" cy="0"/>
          <a:chOff x="0" y="0"/>
          <a:chExt cx="0" cy="0"/>
        </a:xfrm>
      </p:grpSpPr>
      <p:sp>
        <p:nvSpPr>
          <p:cNvPr id="429" name="Google Shape;429;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30" name="Google Shape;430;p5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31" name="Google Shape;431;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32" name="Google Shape;432;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are 3 major fund types: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ETF - Exchange Traded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Hedge Funds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These funds vary by fees, transparency, regulation, and more.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discuss their differences.</a:t>
            </a:r>
            <a:endParaRPr sz="3000">
              <a:solidFill>
                <a:srgbClr val="434343"/>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6" name="Shape 436"/>
        <p:cNvGrpSpPr/>
        <p:nvPr/>
      </p:nvGrpSpPr>
      <p:grpSpPr>
        <a:xfrm>
          <a:off x="0" y="0"/>
          <a:ext cx="0" cy="0"/>
          <a:chOff x="0" y="0"/>
          <a:chExt cx="0" cy="0"/>
        </a:xfrm>
      </p:grpSpPr>
      <p:sp>
        <p:nvSpPr>
          <p:cNvPr id="437" name="Google Shape;437;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38" name="Google Shape;438;p5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39" name="Google Shape;439;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40" name="Google Shape;440;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ETFs are exchange traded funds that are constituted of a basket of funds, bonds, commodities etc…</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Their holdings are completely public and transparent and individuals can buy and trade the marketable security</a:t>
            </a:r>
            <a:endParaRPr sz="3000">
              <a:solidFill>
                <a:srgbClr val="434343"/>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4" name="Shape 444"/>
        <p:cNvGrpSpPr/>
        <p:nvPr/>
      </p:nvGrpSpPr>
      <p:grpSpPr>
        <a:xfrm>
          <a:off x="0" y="0"/>
          <a:ext cx="0" cy="0"/>
          <a:chOff x="0" y="0"/>
          <a:chExt cx="0" cy="0"/>
        </a:xfrm>
      </p:grpSpPr>
      <p:sp>
        <p:nvSpPr>
          <p:cNvPr id="445" name="Google Shape;445;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46" name="Google Shape;446;p5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47" name="Google Shape;447;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48" name="Google Shape;448;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Typically people investing in ETFs are more interested in a diversified portfolio and want to keep their investment in an ETF for a longer period of time.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One of the most common ETFs is the Spider (SPY) which tracks the S&amp;P500</a:t>
            </a:r>
            <a:endParaRPr sz="3000">
              <a:solidFill>
                <a:srgbClr val="434343"/>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2" name="Shape 452"/>
        <p:cNvGrpSpPr/>
        <p:nvPr/>
      </p:nvGrpSpPr>
      <p:grpSpPr>
        <a:xfrm>
          <a:off x="0" y="0"/>
          <a:ext cx="0" cy="0"/>
          <a:chOff x="0" y="0"/>
          <a:chExt cx="0" cy="0"/>
        </a:xfrm>
      </p:grpSpPr>
      <p:sp>
        <p:nvSpPr>
          <p:cNvPr id="453" name="Google Shape;453;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54" name="Google Shape;454;p6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55" name="Google Shape;455;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56" name="Google Shape;456;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mutual fund is an investment vehicle made up of a pool of funds collected from many investors for the purpose of investing in securities such as stocks, bonds, money market instruments and similar assets. </a:t>
            </a:r>
            <a:endParaRPr sz="3000">
              <a:solidFill>
                <a:srgbClr val="434343"/>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0" name="Shape 460"/>
        <p:cNvGrpSpPr/>
        <p:nvPr/>
      </p:nvGrpSpPr>
      <p:grpSpPr>
        <a:xfrm>
          <a:off x="0" y="0"/>
          <a:ext cx="0" cy="0"/>
          <a:chOff x="0" y="0"/>
          <a:chExt cx="0" cy="0"/>
        </a:xfrm>
      </p:grpSpPr>
      <p:sp>
        <p:nvSpPr>
          <p:cNvPr id="461" name="Google Shape;461;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62" name="Google Shape;462;p6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63" name="Google Shape;463;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64" name="Google Shape;464;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 funds are operated by money managers, who invest the fund's capital and attempt to produce capital gains and income for the fund's investors. </a:t>
            </a:r>
            <a:endParaRPr sz="3000">
              <a:solidFill>
                <a:srgbClr val="434343"/>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8" name="Shape 468"/>
        <p:cNvGrpSpPr/>
        <p:nvPr/>
      </p:nvGrpSpPr>
      <p:grpSpPr>
        <a:xfrm>
          <a:off x="0" y="0"/>
          <a:ext cx="0" cy="0"/>
          <a:chOff x="0" y="0"/>
          <a:chExt cx="0" cy="0"/>
        </a:xfrm>
      </p:grpSpPr>
      <p:sp>
        <p:nvSpPr>
          <p:cNvPr id="469" name="Google Shape;469;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70" name="Google Shape;470;p6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71" name="Google Shape;471;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72" name="Google Shape;472;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mutual fund's portfolio is structured and maintained to match the investment objectives stated in its prospectus.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 Funds disclose their holdings typically once a quarter, although this can vary by fund.</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76" name="Shape 476"/>
        <p:cNvGrpSpPr/>
        <p:nvPr/>
      </p:nvGrpSpPr>
      <p:grpSpPr>
        <a:xfrm>
          <a:off x="0" y="0"/>
          <a:ext cx="0" cy="0"/>
          <a:chOff x="0" y="0"/>
          <a:chExt cx="0" cy="0"/>
        </a:xfrm>
      </p:grpSpPr>
      <p:sp>
        <p:nvSpPr>
          <p:cNvPr id="477" name="Google Shape;477;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78" name="Google Shape;478;p6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79" name="Google Shape;479;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80" name="Google Shape;480;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Hedge funds are alternative investments using pooled funds that employ numerous different strategies to earn active return, or alpha, for their investors.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4" name="Shape 484"/>
        <p:cNvGrpSpPr/>
        <p:nvPr/>
      </p:nvGrpSpPr>
      <p:grpSpPr>
        <a:xfrm>
          <a:off x="0" y="0"/>
          <a:ext cx="0" cy="0"/>
          <a:chOff x="0" y="0"/>
          <a:chExt cx="0" cy="0"/>
        </a:xfrm>
      </p:grpSpPr>
      <p:sp>
        <p:nvSpPr>
          <p:cNvPr id="485" name="Google Shape;485;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86" name="Google Shape;486;p6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87" name="Google Shape;487;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88" name="Google Shape;488;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Hedge funds may be aggressively managed or make use of derivatives and leverage in both domestic and international markets with the goal of generating high returns (either in an absolute sense or over a specified market benchmark).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2" name="Shape 492"/>
        <p:cNvGrpSpPr/>
        <p:nvPr/>
      </p:nvGrpSpPr>
      <p:grpSpPr>
        <a:xfrm>
          <a:off x="0" y="0"/>
          <a:ext cx="0" cy="0"/>
          <a:chOff x="0" y="0"/>
          <a:chExt cx="0" cy="0"/>
        </a:xfrm>
      </p:grpSpPr>
      <p:sp>
        <p:nvSpPr>
          <p:cNvPr id="493" name="Google Shape;493;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494" name="Google Shape;494;p6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95" name="Google Shape;495;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96" name="Google Shape;496;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is important to note that hedge funds are generally only accessible to accredited investors as they require less SEC regulations than other funds.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0" name="Shape 500"/>
        <p:cNvGrpSpPr/>
        <p:nvPr/>
      </p:nvGrpSpPr>
      <p:grpSpPr>
        <a:xfrm>
          <a:off x="0" y="0"/>
          <a:ext cx="0" cy="0"/>
          <a:chOff x="0" y="0"/>
          <a:chExt cx="0" cy="0"/>
        </a:xfrm>
      </p:grpSpPr>
      <p:sp>
        <p:nvSpPr>
          <p:cNvPr id="501" name="Google Shape;501;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02" name="Google Shape;502;p6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03" name="Google Shape;503;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04" name="Google Shape;504;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One aspect that has set the hedge fund industry apart is the fact that hedge funds face less regulation than mutual funds and other investment vehicles.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Much of what we do in this course, mimics the way a hedge fund would operate.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8" name="Shape 508"/>
        <p:cNvGrpSpPr/>
        <p:nvPr/>
      </p:nvGrpSpPr>
      <p:grpSpPr>
        <a:xfrm>
          <a:off x="0" y="0"/>
          <a:ext cx="0" cy="0"/>
          <a:chOff x="0" y="0"/>
          <a:chExt cx="0" cy="0"/>
        </a:xfrm>
      </p:grpSpPr>
      <p:sp>
        <p:nvSpPr>
          <p:cNvPr id="509" name="Google Shape;509;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10" name="Google Shape;510;p6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11" name="Google Shape;511;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12" name="Google Shape;512;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try to use python and math to attempt to beat some benchmark.</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also won’t need to disclose our strategy.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discuss the fee structure for these three fund types.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6" name="Shape 516"/>
        <p:cNvGrpSpPr/>
        <p:nvPr/>
      </p:nvGrpSpPr>
      <p:grpSpPr>
        <a:xfrm>
          <a:off x="0" y="0"/>
          <a:ext cx="0" cy="0"/>
          <a:chOff x="0" y="0"/>
          <a:chExt cx="0" cy="0"/>
        </a:xfrm>
      </p:grpSpPr>
      <p:sp>
        <p:nvSpPr>
          <p:cNvPr id="517" name="Google Shape;517;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18" name="Google Shape;518;p6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19" name="Google Shape;519;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20" name="Google Shape;520;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are the fees associated with each?</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ETF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Expense Ratio - 0.01% - 1%</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Expense Ratio - 0.5% - 3%</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Hedge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2% of Fund. 20% of profits.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4" name="Shape 524"/>
        <p:cNvGrpSpPr/>
        <p:nvPr/>
      </p:nvGrpSpPr>
      <p:grpSpPr>
        <a:xfrm>
          <a:off x="0" y="0"/>
          <a:ext cx="0" cy="0"/>
          <a:chOff x="0" y="0"/>
          <a:chExt cx="0" cy="0"/>
        </a:xfrm>
      </p:grpSpPr>
      <p:sp>
        <p:nvSpPr>
          <p:cNvPr id="525" name="Google Shape;525;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26" name="Google Shape;526;p6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27" name="Google Shape;527;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28" name="Google Shape;528;p69"/>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is the liquidity with each?</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ETF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Buy/Sell just like a stock.</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Mutual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Buy/Sell at end of day through broker.</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Hedge Funds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Depends on agreement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2" name="Shape 532"/>
        <p:cNvGrpSpPr/>
        <p:nvPr/>
      </p:nvGrpSpPr>
      <p:grpSpPr>
        <a:xfrm>
          <a:off x="0" y="0"/>
          <a:ext cx="0" cy="0"/>
          <a:chOff x="0" y="0"/>
          <a:chExt cx="0" cy="0"/>
        </a:xfrm>
      </p:grpSpPr>
      <p:sp>
        <p:nvSpPr>
          <p:cNvPr id="533" name="Google Shape;533;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34" name="Google Shape;534;p7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35" name="Google Shape;535;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36" name="Google Shape;536;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That is all we really need to know about the basics of the different fund types!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Up next, let’s discuss what actually happens when we buy or sell a stock on an exchange!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0" name="Shape 540"/>
        <p:cNvGrpSpPr/>
        <p:nvPr/>
      </p:nvGrpSpPr>
      <p:grpSpPr>
        <a:xfrm>
          <a:off x="0" y="0"/>
          <a:ext cx="0" cy="0"/>
          <a:chOff x="0" y="0"/>
          <a:chExt cx="0" cy="0"/>
        </a:xfrm>
      </p:grpSpPr>
      <p:sp>
        <p:nvSpPr>
          <p:cNvPr id="541" name="Google Shape;541;p71"/>
          <p:cNvSpPr txBox="1"/>
          <p:nvPr>
            <p:ph type="ctrTitle"/>
          </p:nvPr>
        </p:nvSpPr>
        <p:spPr>
          <a:xfrm>
            <a:off x="0" y="744575"/>
            <a:ext cx="9109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Order Books</a:t>
            </a:r>
            <a:endParaRPr b="1">
              <a:latin typeface="Montserrat"/>
              <a:ea typeface="Montserrat"/>
              <a:cs typeface="Montserrat"/>
              <a:sym typeface="Montserrat"/>
            </a:endParaRPr>
          </a:p>
        </p:txBody>
      </p:sp>
      <p:sp>
        <p:nvSpPr>
          <p:cNvPr id="542" name="Google Shape;542;p7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43" name="Google Shape;543;p7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44" name="Google Shape;544;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8" name="Shape 548"/>
        <p:cNvGrpSpPr/>
        <p:nvPr/>
      </p:nvGrpSpPr>
      <p:grpSpPr>
        <a:xfrm>
          <a:off x="0" y="0"/>
          <a:ext cx="0" cy="0"/>
          <a:chOff x="0" y="0"/>
          <a:chExt cx="0" cy="0"/>
        </a:xfrm>
      </p:grpSpPr>
      <p:sp>
        <p:nvSpPr>
          <p:cNvPr id="549" name="Google Shape;549;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50" name="Google Shape;550;p7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51" name="Google Shape;551;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52" name="Google Shape;552;p72"/>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you’ve decided to buy/sell a stock!</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log on to your brokerage account (Robinhood, E*Trade, Ameritrade, etc…).</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click on the stock you want to buy/sell and then you either pay or receive money.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what actually happens when you click?</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go through the process!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6" name="Shape 556"/>
        <p:cNvGrpSpPr/>
        <p:nvPr/>
      </p:nvGrpSpPr>
      <p:grpSpPr>
        <a:xfrm>
          <a:off x="0" y="0"/>
          <a:ext cx="0" cy="0"/>
          <a:chOff x="0" y="0"/>
          <a:chExt cx="0" cy="0"/>
        </a:xfrm>
      </p:grpSpPr>
      <p:sp>
        <p:nvSpPr>
          <p:cNvPr id="557" name="Google Shape;557;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58" name="Google Shape;558;p7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59" name="Google Shape;559;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60" name="Google Shape;560;p7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Making an Order includes the following:</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Buy or Sell</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Symbol</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Number of Shares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LIMIT or MARKET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Price (only needed for a LIMIT order)</a:t>
            </a:r>
            <a:endParaRPr sz="3000">
              <a:solidFill>
                <a:srgbClr val="434343"/>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4" name="Shape 564"/>
        <p:cNvGrpSpPr/>
        <p:nvPr/>
      </p:nvGrpSpPr>
      <p:grpSpPr>
        <a:xfrm>
          <a:off x="0" y="0"/>
          <a:ext cx="0" cy="0"/>
          <a:chOff x="0" y="0"/>
          <a:chExt cx="0" cy="0"/>
        </a:xfrm>
      </p:grpSpPr>
      <p:sp>
        <p:nvSpPr>
          <p:cNvPr id="565" name="Google Shape;565;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66" name="Google Shape;566;p7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67" name="Google Shape;567;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68" name="Google Shape;568;p7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Example orders:</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BUY, AAPL, 200, MARKET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SELL, TSLA, 400, MARKET</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BUY, AMD, 2000, LIMIT, 13.95</a:t>
            </a:r>
            <a:endParaRPr sz="3000">
              <a:solidFill>
                <a:srgbClr val="434343"/>
              </a:solidFill>
              <a:latin typeface="Montserrat"/>
              <a:ea typeface="Montserrat"/>
              <a:cs typeface="Montserrat"/>
              <a:sym typeface="Montserrat"/>
            </a:endParaRPr>
          </a:p>
          <a:p>
            <a:pPr indent="-419100" lvl="1"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SELL, NVDA, 150,LIMIT,160.99</a:t>
            </a:r>
            <a:endParaRPr sz="3000">
              <a:solidFill>
                <a:srgbClr val="434343"/>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2" name="Shape 572"/>
        <p:cNvGrpSpPr/>
        <p:nvPr/>
      </p:nvGrpSpPr>
      <p:grpSpPr>
        <a:xfrm>
          <a:off x="0" y="0"/>
          <a:ext cx="0" cy="0"/>
          <a:chOff x="0" y="0"/>
          <a:chExt cx="0" cy="0"/>
        </a:xfrm>
      </p:grpSpPr>
      <p:sp>
        <p:nvSpPr>
          <p:cNvPr id="573" name="Google Shape;573;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74" name="Google Shape;574;p7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75" name="Google Shape;575;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76" name="Google Shape;576;p75"/>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Once you’ve sent an order (usually to your broker), it goes to an exchange (for a larger order it can go to multiple exchanges, but more on that later)</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Once an exchange receives your order, it goes into an order book.</a:t>
            </a:r>
            <a:endParaRPr sz="3000">
              <a:solidFill>
                <a:srgbClr val="434343"/>
              </a:solidFill>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0" name="Shape 580"/>
        <p:cNvGrpSpPr/>
        <p:nvPr/>
      </p:nvGrpSpPr>
      <p:grpSpPr>
        <a:xfrm>
          <a:off x="0" y="0"/>
          <a:ext cx="0" cy="0"/>
          <a:chOff x="0" y="0"/>
          <a:chExt cx="0" cy="0"/>
        </a:xfrm>
      </p:grpSpPr>
      <p:sp>
        <p:nvSpPr>
          <p:cNvPr id="581" name="Google Shape;581;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82" name="Google Shape;582;p7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83" name="Google Shape;583;p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84" name="Google Shape;584;p7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build out an order book!</a:t>
            </a:r>
            <a:endParaRPr sz="3000">
              <a:solidFill>
                <a:srgbClr val="434343"/>
              </a:solidFill>
              <a:latin typeface="Montserrat"/>
              <a:ea typeface="Montserrat"/>
              <a:cs typeface="Montserrat"/>
              <a:sym typeface="Montserrat"/>
            </a:endParaRPr>
          </a:p>
        </p:txBody>
      </p:sp>
      <p:graphicFrame>
        <p:nvGraphicFramePr>
          <p:cNvPr id="585" name="Google Shape;585;p76"/>
          <p:cNvGraphicFramePr/>
          <p:nvPr/>
        </p:nvGraphicFramePr>
        <p:xfrm>
          <a:off x="1013150" y="1891550"/>
          <a:ext cx="3000000" cy="3000000"/>
        </p:xfrm>
        <a:graphic>
          <a:graphicData uri="http://schemas.openxmlformats.org/drawingml/2006/table">
            <a:tbl>
              <a:tblPr>
                <a:noFill/>
                <a:tableStyleId>{9F5D553C-894B-446A-A3F6-645C051B40E3}</a:tableStyleId>
              </a:tblPr>
              <a:tblGrid>
                <a:gridCol w="904875"/>
                <a:gridCol w="904875"/>
                <a:gridCol w="904875"/>
                <a:gridCol w="904875"/>
                <a:gridCol w="904875"/>
                <a:gridCol w="904875"/>
                <a:gridCol w="904875"/>
                <a:gridCol w="904875"/>
              </a:tblGrid>
              <a:tr h="381000">
                <a:tc gridSpan="8">
                  <a:txBody>
                    <a:bodyPr/>
                    <a:lstStyle/>
                    <a:p>
                      <a:pPr indent="0" lvl="0" marL="0" rtl="0" algn="ctr">
                        <a:spcBef>
                          <a:spcPts val="0"/>
                        </a:spcBef>
                        <a:spcAft>
                          <a:spcPts val="0"/>
                        </a:spcAft>
                        <a:buNone/>
                      </a:pPr>
                      <a:r>
                        <a:rPr b="1" lang="en" sz="1600"/>
                        <a:t>NYSE BAC ORDER BOOK</a:t>
                      </a:r>
                      <a:endParaRPr b="1" sz="1600"/>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hMerge="1"/>
                <a:tc hMerge="1"/>
                <a:tc hMerge="1"/>
                <a:tc hMerge="1"/>
                <a:tc hMerge="1"/>
                <a:tc hMerge="1"/>
                <a:tc hMerge="1"/>
              </a:tr>
              <a:tr h="381000">
                <a:tc gridSpan="4">
                  <a:txBody>
                    <a:bodyPr/>
                    <a:lstStyle/>
                    <a:p>
                      <a:pPr indent="0" lvl="0" marL="0" rtl="0" algn="ctr">
                        <a:spcBef>
                          <a:spcPts val="0"/>
                        </a:spcBef>
                        <a:spcAft>
                          <a:spcPts val="0"/>
                        </a:spcAft>
                        <a:buNone/>
                      </a:pPr>
                      <a:r>
                        <a:rPr b="1" lang="en"/>
                        <a:t>BUY ORDERS</a:t>
                      </a:r>
                      <a:endParaRPr b="1"/>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9D2E9"/>
                    </a:solidFill>
                  </a:tcPr>
                </a:tc>
                <a:tc hMerge="1"/>
                <a:tc hMerge="1"/>
                <a:tc hMerge="1"/>
                <a:tc gridSpan="4">
                  <a:txBody>
                    <a:bodyPr/>
                    <a:lstStyle/>
                    <a:p>
                      <a:pPr indent="0" lvl="0" marL="0" rtl="0" algn="ctr">
                        <a:spcBef>
                          <a:spcPts val="0"/>
                        </a:spcBef>
                        <a:spcAft>
                          <a:spcPts val="0"/>
                        </a:spcAft>
                        <a:buNone/>
                      </a:pPr>
                      <a:r>
                        <a:rPr b="1" lang="en">
                          <a:solidFill>
                            <a:schemeClr val="dk1"/>
                          </a:solidFill>
                        </a:rPr>
                        <a:t>SELL ORDERS</a:t>
                      </a:r>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FCE5CD"/>
                    </a:solidFill>
                  </a:tcPr>
                </a:tc>
                <a:tc hMerge="1"/>
                <a:tc hMerge="1"/>
                <a:tc hMerge="1"/>
              </a:tr>
              <a:tr h="381000">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BID</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ASK</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9" name="Shape 589"/>
        <p:cNvGrpSpPr/>
        <p:nvPr/>
      </p:nvGrpSpPr>
      <p:grpSpPr>
        <a:xfrm>
          <a:off x="0" y="0"/>
          <a:ext cx="0" cy="0"/>
          <a:chOff x="0" y="0"/>
          <a:chExt cx="0" cy="0"/>
        </a:xfrm>
      </p:grpSpPr>
      <p:sp>
        <p:nvSpPr>
          <p:cNvPr id="590" name="Google Shape;590;p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591" name="Google Shape;591;p7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92" name="Google Shape;592;p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93" name="Google Shape;593;p7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(BUY,BAC,200,LIMIT,199.95)</a:t>
            </a:r>
            <a:endParaRPr sz="3000">
              <a:solidFill>
                <a:srgbClr val="434343"/>
              </a:solidFill>
              <a:latin typeface="Montserrat"/>
              <a:ea typeface="Montserrat"/>
              <a:cs typeface="Montserrat"/>
              <a:sym typeface="Montserrat"/>
            </a:endParaRPr>
          </a:p>
        </p:txBody>
      </p:sp>
      <p:graphicFrame>
        <p:nvGraphicFramePr>
          <p:cNvPr id="594" name="Google Shape;594;p77"/>
          <p:cNvGraphicFramePr/>
          <p:nvPr/>
        </p:nvGraphicFramePr>
        <p:xfrm>
          <a:off x="1013150" y="1891550"/>
          <a:ext cx="3000000" cy="3000000"/>
        </p:xfrm>
        <a:graphic>
          <a:graphicData uri="http://schemas.openxmlformats.org/drawingml/2006/table">
            <a:tbl>
              <a:tblPr>
                <a:noFill/>
                <a:tableStyleId>{9F5D553C-894B-446A-A3F6-645C051B40E3}</a:tableStyleId>
              </a:tblPr>
              <a:tblGrid>
                <a:gridCol w="904875"/>
                <a:gridCol w="904875"/>
                <a:gridCol w="904875"/>
                <a:gridCol w="904875"/>
                <a:gridCol w="904875"/>
                <a:gridCol w="904875"/>
                <a:gridCol w="904875"/>
                <a:gridCol w="904875"/>
              </a:tblGrid>
              <a:tr h="381000">
                <a:tc gridSpan="8">
                  <a:txBody>
                    <a:bodyPr/>
                    <a:lstStyle/>
                    <a:p>
                      <a:pPr indent="0" lvl="0" marL="0" rtl="0" algn="ctr">
                        <a:spcBef>
                          <a:spcPts val="0"/>
                        </a:spcBef>
                        <a:spcAft>
                          <a:spcPts val="0"/>
                        </a:spcAft>
                        <a:buNone/>
                      </a:pPr>
                      <a:r>
                        <a:rPr b="1" lang="en" sz="1600"/>
                        <a:t>NYSE BAC ORDER BOOK</a:t>
                      </a:r>
                      <a:endParaRPr b="1" sz="1600"/>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hMerge="1"/>
                <a:tc hMerge="1"/>
                <a:tc hMerge="1"/>
                <a:tc hMerge="1"/>
                <a:tc hMerge="1"/>
                <a:tc hMerge="1"/>
                <a:tc hMerge="1"/>
              </a:tr>
              <a:tr h="381000">
                <a:tc gridSpan="4">
                  <a:txBody>
                    <a:bodyPr/>
                    <a:lstStyle/>
                    <a:p>
                      <a:pPr indent="0" lvl="0" marL="0" rtl="0" algn="ctr">
                        <a:spcBef>
                          <a:spcPts val="0"/>
                        </a:spcBef>
                        <a:spcAft>
                          <a:spcPts val="0"/>
                        </a:spcAft>
                        <a:buNone/>
                      </a:pPr>
                      <a:r>
                        <a:rPr b="1" lang="en"/>
                        <a:t>BUY ORDERS</a:t>
                      </a:r>
                      <a:endParaRPr b="1"/>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9D2E9"/>
                    </a:solidFill>
                  </a:tcPr>
                </a:tc>
                <a:tc hMerge="1"/>
                <a:tc hMerge="1"/>
                <a:tc hMerge="1"/>
                <a:tc gridSpan="4">
                  <a:txBody>
                    <a:bodyPr/>
                    <a:lstStyle/>
                    <a:p>
                      <a:pPr indent="0" lvl="0" marL="0" rtl="0" algn="ctr">
                        <a:spcBef>
                          <a:spcPts val="0"/>
                        </a:spcBef>
                        <a:spcAft>
                          <a:spcPts val="0"/>
                        </a:spcAft>
                        <a:buNone/>
                      </a:pPr>
                      <a:r>
                        <a:rPr b="1" lang="en">
                          <a:solidFill>
                            <a:schemeClr val="dk1"/>
                          </a:solidFill>
                        </a:rPr>
                        <a:t>SELL ORDERS</a:t>
                      </a:r>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FCE5CD"/>
                    </a:solidFill>
                  </a:tcPr>
                </a:tc>
                <a:tc hMerge="1"/>
                <a:tc hMerge="1"/>
                <a:tc hMerge="1"/>
              </a:tr>
              <a:tr h="381000">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BID</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ASK</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rPr lang="en"/>
                        <a:t>200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199.95</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8" name="Shape 598"/>
        <p:cNvGrpSpPr/>
        <p:nvPr/>
      </p:nvGrpSpPr>
      <p:grpSpPr>
        <a:xfrm>
          <a:off x="0" y="0"/>
          <a:ext cx="0" cy="0"/>
          <a:chOff x="0" y="0"/>
          <a:chExt cx="0" cy="0"/>
        </a:xfrm>
      </p:grpSpPr>
      <p:sp>
        <p:nvSpPr>
          <p:cNvPr id="599" name="Google Shape;599;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600" name="Google Shape;600;p7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01" name="Google Shape;601;p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02" name="Google Shape;602;p7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(SELL,BAC,100,LIMIT,199.90)</a:t>
            </a:r>
            <a:endParaRPr sz="3000">
              <a:solidFill>
                <a:srgbClr val="434343"/>
              </a:solidFill>
              <a:latin typeface="Montserrat"/>
              <a:ea typeface="Montserrat"/>
              <a:cs typeface="Montserrat"/>
              <a:sym typeface="Montserrat"/>
            </a:endParaRPr>
          </a:p>
        </p:txBody>
      </p:sp>
      <p:graphicFrame>
        <p:nvGraphicFramePr>
          <p:cNvPr id="603" name="Google Shape;603;p78"/>
          <p:cNvGraphicFramePr/>
          <p:nvPr/>
        </p:nvGraphicFramePr>
        <p:xfrm>
          <a:off x="1013150" y="1891550"/>
          <a:ext cx="3000000" cy="3000000"/>
        </p:xfrm>
        <a:graphic>
          <a:graphicData uri="http://schemas.openxmlformats.org/drawingml/2006/table">
            <a:tbl>
              <a:tblPr>
                <a:noFill/>
                <a:tableStyleId>{9F5D553C-894B-446A-A3F6-645C051B40E3}</a:tableStyleId>
              </a:tblPr>
              <a:tblGrid>
                <a:gridCol w="904875"/>
                <a:gridCol w="904875"/>
                <a:gridCol w="904875"/>
                <a:gridCol w="904875"/>
                <a:gridCol w="904875"/>
                <a:gridCol w="904875"/>
                <a:gridCol w="904875"/>
                <a:gridCol w="904875"/>
              </a:tblGrid>
              <a:tr h="381000">
                <a:tc gridSpan="8">
                  <a:txBody>
                    <a:bodyPr/>
                    <a:lstStyle/>
                    <a:p>
                      <a:pPr indent="0" lvl="0" marL="0" rtl="0" algn="ctr">
                        <a:spcBef>
                          <a:spcPts val="0"/>
                        </a:spcBef>
                        <a:spcAft>
                          <a:spcPts val="0"/>
                        </a:spcAft>
                        <a:buNone/>
                      </a:pPr>
                      <a:r>
                        <a:rPr b="1" lang="en" sz="1600"/>
                        <a:t>NYSE BAC ORDER BOOK</a:t>
                      </a:r>
                      <a:endParaRPr b="1" sz="1600"/>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hMerge="1"/>
                <a:tc hMerge="1"/>
                <a:tc hMerge="1"/>
                <a:tc hMerge="1"/>
                <a:tc hMerge="1"/>
                <a:tc hMerge="1"/>
                <a:tc hMerge="1"/>
              </a:tr>
              <a:tr h="381000">
                <a:tc gridSpan="4">
                  <a:txBody>
                    <a:bodyPr/>
                    <a:lstStyle/>
                    <a:p>
                      <a:pPr indent="0" lvl="0" marL="0" rtl="0" algn="ctr">
                        <a:spcBef>
                          <a:spcPts val="0"/>
                        </a:spcBef>
                        <a:spcAft>
                          <a:spcPts val="0"/>
                        </a:spcAft>
                        <a:buNone/>
                      </a:pPr>
                      <a:r>
                        <a:rPr b="1" lang="en"/>
                        <a:t>BUY ORDERS</a:t>
                      </a:r>
                      <a:endParaRPr b="1"/>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9D2E9"/>
                    </a:solidFill>
                  </a:tcPr>
                </a:tc>
                <a:tc hMerge="1"/>
                <a:tc hMerge="1"/>
                <a:tc hMerge="1"/>
                <a:tc gridSpan="4">
                  <a:txBody>
                    <a:bodyPr/>
                    <a:lstStyle/>
                    <a:p>
                      <a:pPr indent="0" lvl="0" marL="0" rtl="0" algn="ctr">
                        <a:spcBef>
                          <a:spcPts val="0"/>
                        </a:spcBef>
                        <a:spcAft>
                          <a:spcPts val="0"/>
                        </a:spcAft>
                        <a:buNone/>
                      </a:pPr>
                      <a:r>
                        <a:rPr b="1" lang="en">
                          <a:solidFill>
                            <a:schemeClr val="dk1"/>
                          </a:solidFill>
                        </a:rPr>
                        <a:t>SELL ORDERS</a:t>
                      </a:r>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FCE5CD"/>
                    </a:solidFill>
                  </a:tcPr>
                </a:tc>
                <a:tc hMerge="1"/>
                <a:tc hMerge="1"/>
                <a:tc hMerge="1"/>
              </a:tr>
              <a:tr h="381000">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BID</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ASK</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rPr lang="en"/>
                        <a:t>200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199.95</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100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7" name="Shape 607"/>
        <p:cNvGrpSpPr/>
        <p:nvPr/>
      </p:nvGrpSpPr>
      <p:grpSpPr>
        <a:xfrm>
          <a:off x="0" y="0"/>
          <a:ext cx="0" cy="0"/>
          <a:chOff x="0" y="0"/>
          <a:chExt cx="0" cy="0"/>
        </a:xfrm>
      </p:grpSpPr>
      <p:sp>
        <p:nvSpPr>
          <p:cNvPr id="608" name="Google Shape;608;p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609" name="Google Shape;609;p7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10" name="Google Shape;610;p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11" name="Google Shape;611;p79"/>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(SELL,BAC,50,LIMIT,199.91)</a:t>
            </a:r>
            <a:endParaRPr sz="3000">
              <a:solidFill>
                <a:srgbClr val="434343"/>
              </a:solidFill>
              <a:latin typeface="Montserrat"/>
              <a:ea typeface="Montserrat"/>
              <a:cs typeface="Montserrat"/>
              <a:sym typeface="Montserrat"/>
            </a:endParaRPr>
          </a:p>
        </p:txBody>
      </p:sp>
      <p:graphicFrame>
        <p:nvGraphicFramePr>
          <p:cNvPr id="612" name="Google Shape;612;p79"/>
          <p:cNvGraphicFramePr/>
          <p:nvPr/>
        </p:nvGraphicFramePr>
        <p:xfrm>
          <a:off x="1013150" y="1891550"/>
          <a:ext cx="3000000" cy="3000000"/>
        </p:xfrm>
        <a:graphic>
          <a:graphicData uri="http://schemas.openxmlformats.org/drawingml/2006/table">
            <a:tbl>
              <a:tblPr>
                <a:noFill/>
                <a:tableStyleId>{9F5D553C-894B-446A-A3F6-645C051B40E3}</a:tableStyleId>
              </a:tblPr>
              <a:tblGrid>
                <a:gridCol w="904875"/>
                <a:gridCol w="904875"/>
                <a:gridCol w="904875"/>
                <a:gridCol w="904875"/>
                <a:gridCol w="904875"/>
                <a:gridCol w="904875"/>
                <a:gridCol w="904875"/>
                <a:gridCol w="904875"/>
              </a:tblGrid>
              <a:tr h="381000">
                <a:tc gridSpan="8">
                  <a:txBody>
                    <a:bodyPr/>
                    <a:lstStyle/>
                    <a:p>
                      <a:pPr indent="0" lvl="0" marL="0" rtl="0" algn="ctr">
                        <a:spcBef>
                          <a:spcPts val="0"/>
                        </a:spcBef>
                        <a:spcAft>
                          <a:spcPts val="0"/>
                        </a:spcAft>
                        <a:buNone/>
                      </a:pPr>
                      <a:r>
                        <a:rPr b="1" lang="en" sz="1600"/>
                        <a:t>NYSE BAC ORDER BOOK</a:t>
                      </a:r>
                      <a:endParaRPr b="1" sz="1600"/>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hMerge="1"/>
                <a:tc hMerge="1"/>
                <a:tc hMerge="1"/>
                <a:tc hMerge="1"/>
                <a:tc hMerge="1"/>
                <a:tc hMerge="1"/>
                <a:tc hMerge="1"/>
              </a:tr>
              <a:tr h="381000">
                <a:tc gridSpan="4">
                  <a:txBody>
                    <a:bodyPr/>
                    <a:lstStyle/>
                    <a:p>
                      <a:pPr indent="0" lvl="0" marL="0" rtl="0" algn="ctr">
                        <a:spcBef>
                          <a:spcPts val="0"/>
                        </a:spcBef>
                        <a:spcAft>
                          <a:spcPts val="0"/>
                        </a:spcAft>
                        <a:buNone/>
                      </a:pPr>
                      <a:r>
                        <a:rPr b="1" lang="en"/>
                        <a:t>BUY ORDERS</a:t>
                      </a:r>
                      <a:endParaRPr b="1"/>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9D2E9"/>
                    </a:solidFill>
                  </a:tcPr>
                </a:tc>
                <a:tc hMerge="1"/>
                <a:tc hMerge="1"/>
                <a:tc hMerge="1"/>
                <a:tc gridSpan="4">
                  <a:txBody>
                    <a:bodyPr/>
                    <a:lstStyle/>
                    <a:p>
                      <a:pPr indent="0" lvl="0" marL="0" rtl="0" algn="ctr">
                        <a:spcBef>
                          <a:spcPts val="0"/>
                        </a:spcBef>
                        <a:spcAft>
                          <a:spcPts val="0"/>
                        </a:spcAft>
                        <a:buNone/>
                      </a:pPr>
                      <a:r>
                        <a:rPr b="1" lang="en">
                          <a:solidFill>
                            <a:schemeClr val="dk1"/>
                          </a:solidFill>
                        </a:rPr>
                        <a:t>SELL ORDERS</a:t>
                      </a:r>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FCE5CD"/>
                    </a:solidFill>
                  </a:tcPr>
                </a:tc>
                <a:tc hMerge="1"/>
                <a:tc hMerge="1"/>
                <a:tc hMerge="1"/>
              </a:tr>
              <a:tr h="381000">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BID</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ASK</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rPr lang="en"/>
                        <a:t>200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199.95</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100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199.91</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50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6" name="Shape 616"/>
        <p:cNvGrpSpPr/>
        <p:nvPr/>
      </p:nvGrpSpPr>
      <p:grpSpPr>
        <a:xfrm>
          <a:off x="0" y="0"/>
          <a:ext cx="0" cy="0"/>
          <a:chOff x="0" y="0"/>
          <a:chExt cx="0" cy="0"/>
        </a:xfrm>
      </p:grpSpPr>
      <p:sp>
        <p:nvSpPr>
          <p:cNvPr id="617" name="Google Shape;617;p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618" name="Google Shape;618;p8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19" name="Google Shape;619;p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20" name="Google Shape;620;p8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(SELL,BAC,50,LIMIT,199.92)</a:t>
            </a:r>
            <a:endParaRPr sz="3000">
              <a:solidFill>
                <a:srgbClr val="434343"/>
              </a:solidFill>
              <a:latin typeface="Montserrat"/>
              <a:ea typeface="Montserrat"/>
              <a:cs typeface="Montserrat"/>
              <a:sym typeface="Montserrat"/>
            </a:endParaRPr>
          </a:p>
        </p:txBody>
      </p:sp>
      <p:graphicFrame>
        <p:nvGraphicFramePr>
          <p:cNvPr id="621" name="Google Shape;621;p80"/>
          <p:cNvGraphicFramePr/>
          <p:nvPr/>
        </p:nvGraphicFramePr>
        <p:xfrm>
          <a:off x="1013150" y="1891550"/>
          <a:ext cx="3000000" cy="3000000"/>
        </p:xfrm>
        <a:graphic>
          <a:graphicData uri="http://schemas.openxmlformats.org/drawingml/2006/table">
            <a:tbl>
              <a:tblPr>
                <a:noFill/>
                <a:tableStyleId>{9F5D553C-894B-446A-A3F6-645C051B40E3}</a:tableStyleId>
              </a:tblPr>
              <a:tblGrid>
                <a:gridCol w="904875"/>
                <a:gridCol w="904875"/>
                <a:gridCol w="904875"/>
                <a:gridCol w="904875"/>
                <a:gridCol w="904875"/>
                <a:gridCol w="904875"/>
                <a:gridCol w="904875"/>
                <a:gridCol w="904875"/>
              </a:tblGrid>
              <a:tr h="381000">
                <a:tc gridSpan="8">
                  <a:txBody>
                    <a:bodyPr/>
                    <a:lstStyle/>
                    <a:p>
                      <a:pPr indent="0" lvl="0" marL="0" rtl="0" algn="ctr">
                        <a:spcBef>
                          <a:spcPts val="0"/>
                        </a:spcBef>
                        <a:spcAft>
                          <a:spcPts val="0"/>
                        </a:spcAft>
                        <a:buNone/>
                      </a:pPr>
                      <a:r>
                        <a:rPr b="1" lang="en" sz="1600"/>
                        <a:t>NYSE BAC ORDER BOOK</a:t>
                      </a:r>
                      <a:endParaRPr b="1" sz="1600"/>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tcPr>
                </a:tc>
                <a:tc hMerge="1"/>
                <a:tc hMerge="1"/>
                <a:tc hMerge="1"/>
                <a:tc hMerge="1"/>
                <a:tc hMerge="1"/>
                <a:tc hMerge="1"/>
                <a:tc hMerge="1"/>
              </a:tr>
              <a:tr h="381000">
                <a:tc gridSpan="4">
                  <a:txBody>
                    <a:bodyPr/>
                    <a:lstStyle/>
                    <a:p>
                      <a:pPr indent="0" lvl="0" marL="0" rtl="0" algn="ctr">
                        <a:spcBef>
                          <a:spcPts val="0"/>
                        </a:spcBef>
                        <a:spcAft>
                          <a:spcPts val="0"/>
                        </a:spcAft>
                        <a:buNone/>
                      </a:pPr>
                      <a:r>
                        <a:rPr b="1" lang="en"/>
                        <a:t>BUY ORDERS</a:t>
                      </a:r>
                      <a:endParaRPr b="1"/>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D9D2E9"/>
                    </a:solidFill>
                  </a:tcPr>
                </a:tc>
                <a:tc hMerge="1"/>
                <a:tc hMerge="1"/>
                <a:tc hMerge="1"/>
                <a:tc gridSpan="4">
                  <a:txBody>
                    <a:bodyPr/>
                    <a:lstStyle/>
                    <a:p>
                      <a:pPr indent="0" lvl="0" marL="0" rtl="0" algn="ctr">
                        <a:spcBef>
                          <a:spcPts val="0"/>
                        </a:spcBef>
                        <a:spcAft>
                          <a:spcPts val="0"/>
                        </a:spcAft>
                        <a:buNone/>
                      </a:pPr>
                      <a:r>
                        <a:rPr b="1" lang="en">
                          <a:solidFill>
                            <a:schemeClr val="dk1"/>
                          </a:solidFill>
                        </a:rPr>
                        <a:t>SELL ORDERS</a:t>
                      </a:r>
                      <a:endParaRPr/>
                    </a:p>
                  </a:txBody>
                  <a:tcPr marT="91425" marB="91425" marR="91425" marL="91425">
                    <a:lnL cap="flat" cmpd="sng" w="28575">
                      <a:solidFill>
                        <a:srgbClr val="434343"/>
                      </a:solidFill>
                      <a:prstDash val="solid"/>
                      <a:round/>
                      <a:headEnd len="sm" w="sm" type="none"/>
                      <a:tailEnd len="sm" w="sm" type="none"/>
                    </a:lnL>
                    <a:lnR cap="flat" cmpd="sng" w="2857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28575">
                      <a:solidFill>
                        <a:srgbClr val="434343"/>
                      </a:solidFill>
                      <a:prstDash val="solid"/>
                      <a:round/>
                      <a:headEnd len="sm" w="sm" type="none"/>
                      <a:tailEnd len="sm" w="sm" type="none"/>
                    </a:lnB>
                    <a:solidFill>
                      <a:srgbClr val="FCE5CD"/>
                    </a:solidFill>
                  </a:tcPr>
                </a:tc>
                <a:tc hMerge="1"/>
                <a:tc hMerge="1"/>
                <a:tc hMerge="1"/>
              </a:tr>
              <a:tr h="381000">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BID</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ASK</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SHARES</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2857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rPr lang="en"/>
                        <a:t>200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199.95</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100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199.91</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50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rPr lang="en"/>
                        <a:t>199.92</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rPr lang="en"/>
                        <a:t>50</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r h="381000">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9D2E9"/>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c gridSpan="2">
                  <a:txBody>
                    <a:bodyPr/>
                    <a:lstStyle/>
                    <a:p>
                      <a:pPr indent="0" lvl="0" marL="0" rtl="0" algn="ctr">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FCE5CD"/>
                    </a:solidFill>
                  </a:tcPr>
                </a:tc>
                <a:tc hMerge="1"/>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5" name="Shape 625"/>
        <p:cNvGrpSpPr/>
        <p:nvPr/>
      </p:nvGrpSpPr>
      <p:grpSpPr>
        <a:xfrm>
          <a:off x="0" y="0"/>
          <a:ext cx="0" cy="0"/>
          <a:chOff x="0" y="0"/>
          <a:chExt cx="0" cy="0"/>
        </a:xfrm>
      </p:grpSpPr>
      <p:sp>
        <p:nvSpPr>
          <p:cNvPr id="626" name="Google Shape;626;p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627" name="Google Shape;627;p8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28" name="Google Shape;628;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29" name="Google Shape;629;p81"/>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Example of an order book:</a:t>
            </a:r>
            <a:endParaRPr sz="3000">
              <a:solidFill>
                <a:srgbClr val="434343"/>
              </a:solidFill>
              <a:latin typeface="Montserrat"/>
              <a:ea typeface="Montserrat"/>
              <a:cs typeface="Montserrat"/>
              <a:sym typeface="Montserrat"/>
            </a:endParaRPr>
          </a:p>
        </p:txBody>
      </p:sp>
      <p:pic>
        <p:nvPicPr>
          <p:cNvPr id="630" name="Google Shape;630;p81"/>
          <p:cNvPicPr preferRelativeResize="0"/>
          <p:nvPr/>
        </p:nvPicPr>
        <p:blipFill>
          <a:blip r:embed="rId4">
            <a:alphaModFix/>
          </a:blip>
          <a:stretch>
            <a:fillRect/>
          </a:stretch>
        </p:blipFill>
        <p:spPr>
          <a:xfrm>
            <a:off x="2759200" y="1692150"/>
            <a:ext cx="2837500" cy="34513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4" name="Shape 634"/>
        <p:cNvGrpSpPr/>
        <p:nvPr/>
      </p:nvGrpSpPr>
      <p:grpSpPr>
        <a:xfrm>
          <a:off x="0" y="0"/>
          <a:ext cx="0" cy="0"/>
          <a:chOff x="0" y="0"/>
          <a:chExt cx="0" cy="0"/>
        </a:xfrm>
      </p:grpSpPr>
      <p:sp>
        <p:nvSpPr>
          <p:cNvPr id="635" name="Google Shape;635;p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636" name="Google Shape;636;p8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37" name="Google Shape;637;p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38" name="Google Shape;638;p82"/>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how does an order actually get to the exchange?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walk through the steps, we’ll also explain how certain HFT (High Frequency Trading) firms can attempt Latency Arbitrage!</a:t>
            </a:r>
            <a:endParaRPr sz="3000">
              <a:solidFill>
                <a:srgbClr val="434343"/>
              </a:solidFill>
              <a:latin typeface="Montserrat"/>
              <a:ea typeface="Montserrat"/>
              <a:cs typeface="Montserrat"/>
              <a:sym typeface="Montserra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2" name="Shape 642"/>
        <p:cNvGrpSpPr/>
        <p:nvPr/>
      </p:nvGrpSpPr>
      <p:grpSpPr>
        <a:xfrm>
          <a:off x="0" y="0"/>
          <a:ext cx="0" cy="0"/>
          <a:chOff x="0" y="0"/>
          <a:chExt cx="0" cy="0"/>
        </a:xfrm>
      </p:grpSpPr>
      <p:sp>
        <p:nvSpPr>
          <p:cNvPr id="643" name="Google Shape;643;p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Scenario #1 : Simple Buy</a:t>
            </a:r>
            <a:endParaRPr>
              <a:latin typeface="Montserrat"/>
              <a:ea typeface="Montserrat"/>
              <a:cs typeface="Montserrat"/>
              <a:sym typeface="Montserrat"/>
            </a:endParaRPr>
          </a:p>
        </p:txBody>
      </p:sp>
      <p:pic>
        <p:nvPicPr>
          <p:cNvPr descr="watermark.jpg" id="644" name="Google Shape;644;p8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45" name="Google Shape;645;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46" name="Google Shape;646;p83"/>
          <p:cNvSpPr txBox="1"/>
          <p:nvPr/>
        </p:nvSpPr>
        <p:spPr>
          <a:xfrm>
            <a:off x="0" y="1611000"/>
            <a:ext cx="702900" cy="421800"/>
          </a:xfrm>
          <a:prstGeom prst="rect">
            <a:avLst/>
          </a:prstGeom>
          <a:noFill/>
          <a:ln cap="flat" cmpd="sng" w="38100">
            <a:solidFill>
              <a:srgbClr val="674EA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YOU</a:t>
            </a:r>
            <a:endParaRPr b="1" sz="1800"/>
          </a:p>
        </p:txBody>
      </p:sp>
      <p:cxnSp>
        <p:nvCxnSpPr>
          <p:cNvPr id="647" name="Google Shape;647;p83"/>
          <p:cNvCxnSpPr/>
          <p:nvPr/>
        </p:nvCxnSpPr>
        <p:spPr>
          <a:xfrm>
            <a:off x="703000" y="1833600"/>
            <a:ext cx="697200" cy="0"/>
          </a:xfrm>
          <a:prstGeom prst="straightConnector1">
            <a:avLst/>
          </a:prstGeom>
          <a:noFill/>
          <a:ln cap="flat" cmpd="sng" w="38100">
            <a:solidFill>
              <a:srgbClr val="000000"/>
            </a:solidFill>
            <a:prstDash val="solid"/>
            <a:round/>
            <a:headEnd len="med" w="med" type="none"/>
            <a:tailEnd len="med" w="med" type="triangle"/>
          </a:ln>
        </p:spPr>
      </p:cxnSp>
      <p:sp>
        <p:nvSpPr>
          <p:cNvPr id="648" name="Google Shape;648;p83"/>
          <p:cNvSpPr txBox="1"/>
          <p:nvPr/>
        </p:nvSpPr>
        <p:spPr>
          <a:xfrm>
            <a:off x="1400200" y="1554913"/>
            <a:ext cx="1329600" cy="533100"/>
          </a:xfrm>
          <a:prstGeom prst="rect">
            <a:avLst/>
          </a:prstGeom>
          <a:noFill/>
          <a:ln cap="flat" cmpd="sng" w="38100">
            <a:solidFill>
              <a:srgbClr val="134F5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BROKER</a:t>
            </a:r>
            <a:endParaRPr b="1" sz="1800"/>
          </a:p>
        </p:txBody>
      </p:sp>
      <p:sp>
        <p:nvSpPr>
          <p:cNvPr id="649" name="Google Shape;649;p83"/>
          <p:cNvSpPr txBox="1"/>
          <p:nvPr/>
        </p:nvSpPr>
        <p:spPr>
          <a:xfrm>
            <a:off x="746900" y="1382525"/>
            <a:ext cx="6093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BUY</a:t>
            </a:r>
            <a:endParaRPr b="1"/>
          </a:p>
        </p:txBody>
      </p:sp>
      <p:sp>
        <p:nvSpPr>
          <p:cNvPr id="650" name="Google Shape;650;p83"/>
          <p:cNvSpPr txBox="1"/>
          <p:nvPr/>
        </p:nvSpPr>
        <p:spPr>
          <a:xfrm>
            <a:off x="5881650" y="1048625"/>
            <a:ext cx="1482000" cy="1107300"/>
          </a:xfrm>
          <a:prstGeom prst="rect">
            <a:avLst/>
          </a:prstGeom>
          <a:noFill/>
          <a:ln cap="flat" cmpd="sng" w="76200">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NYSE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651" name="Google Shape;651;p83"/>
          <p:cNvSpPr txBox="1"/>
          <p:nvPr/>
        </p:nvSpPr>
        <p:spPr>
          <a:xfrm>
            <a:off x="5881650" y="2384400"/>
            <a:ext cx="1482000" cy="1107300"/>
          </a:xfrm>
          <a:prstGeom prst="rect">
            <a:avLst/>
          </a:prstGeom>
          <a:noFill/>
          <a:ln cap="flat" cmpd="sng" w="76200">
            <a:solidFill>
              <a:srgbClr val="E691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NASDAQ</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652" name="Google Shape;652;p83"/>
          <p:cNvSpPr txBox="1"/>
          <p:nvPr/>
        </p:nvSpPr>
        <p:spPr>
          <a:xfrm>
            <a:off x="5881650" y="3749425"/>
            <a:ext cx="1482000" cy="1107300"/>
          </a:xfrm>
          <a:prstGeom prst="rect">
            <a:avLst/>
          </a:prstGeom>
          <a:noFill/>
          <a:ln cap="flat" cmpd="sng" w="7620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BATS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cxnSp>
        <p:nvCxnSpPr>
          <p:cNvPr id="653" name="Google Shape;653;p83"/>
          <p:cNvCxnSpPr>
            <a:endCxn id="648" idx="3"/>
          </p:cNvCxnSpPr>
          <p:nvPr/>
        </p:nvCxnSpPr>
        <p:spPr>
          <a:xfrm flipH="1">
            <a:off x="2729800" y="1605163"/>
            <a:ext cx="3169500" cy="216300"/>
          </a:xfrm>
          <a:prstGeom prst="curvedConnector3">
            <a:avLst>
              <a:gd fmla="val 50000" name="adj1"/>
            </a:avLst>
          </a:prstGeom>
          <a:noFill/>
          <a:ln cap="flat" cmpd="sng" w="28575">
            <a:solidFill>
              <a:srgbClr val="000000"/>
            </a:solidFill>
            <a:prstDash val="solid"/>
            <a:round/>
            <a:headEnd len="med" w="med" type="stealth"/>
            <a:tailEnd len="med" w="med" type="triangle"/>
          </a:ln>
        </p:spPr>
      </p:cxnSp>
      <p:cxnSp>
        <p:nvCxnSpPr>
          <p:cNvPr id="654" name="Google Shape;654;p83"/>
          <p:cNvCxnSpPr>
            <a:stCxn id="651" idx="1"/>
          </p:cNvCxnSpPr>
          <p:nvPr/>
        </p:nvCxnSpPr>
        <p:spPr>
          <a:xfrm rot="10800000">
            <a:off x="2729850" y="1833450"/>
            <a:ext cx="3151800" cy="1104600"/>
          </a:xfrm>
          <a:prstGeom prst="curvedConnector3">
            <a:avLst>
              <a:gd fmla="val 50000" name="adj1"/>
            </a:avLst>
          </a:prstGeom>
          <a:noFill/>
          <a:ln cap="flat" cmpd="sng" w="28575">
            <a:solidFill>
              <a:srgbClr val="000000"/>
            </a:solidFill>
            <a:prstDash val="solid"/>
            <a:round/>
            <a:headEnd len="med" w="med" type="stealth"/>
            <a:tailEnd len="med" w="med" type="triangle"/>
          </a:ln>
        </p:spPr>
      </p:cxnSp>
      <p:cxnSp>
        <p:nvCxnSpPr>
          <p:cNvPr id="655" name="Google Shape;655;p83"/>
          <p:cNvCxnSpPr>
            <a:stCxn id="652" idx="1"/>
          </p:cNvCxnSpPr>
          <p:nvPr/>
        </p:nvCxnSpPr>
        <p:spPr>
          <a:xfrm rot="10800000">
            <a:off x="2738550" y="1833475"/>
            <a:ext cx="3143100" cy="2469600"/>
          </a:xfrm>
          <a:prstGeom prst="curvedConnector3">
            <a:avLst>
              <a:gd fmla="val 50000" name="adj1"/>
            </a:avLst>
          </a:prstGeom>
          <a:noFill/>
          <a:ln cap="flat" cmpd="sng" w="28575">
            <a:solidFill>
              <a:srgbClr val="000000"/>
            </a:solidFill>
            <a:prstDash val="solid"/>
            <a:round/>
            <a:headEnd len="med" w="med" type="stealth"/>
            <a:tailEnd len="med" w="med" type="triangl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9" name="Shape 659"/>
        <p:cNvGrpSpPr/>
        <p:nvPr/>
      </p:nvGrpSpPr>
      <p:grpSpPr>
        <a:xfrm>
          <a:off x="0" y="0"/>
          <a:ext cx="0" cy="0"/>
          <a:chOff x="0" y="0"/>
          <a:chExt cx="0" cy="0"/>
        </a:xfrm>
      </p:grpSpPr>
      <p:sp>
        <p:nvSpPr>
          <p:cNvPr id="660" name="Google Shape;660;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Scenario #2 : Broker Buy/Sell</a:t>
            </a:r>
            <a:endParaRPr>
              <a:latin typeface="Montserrat"/>
              <a:ea typeface="Montserrat"/>
              <a:cs typeface="Montserrat"/>
              <a:sym typeface="Montserrat"/>
            </a:endParaRPr>
          </a:p>
        </p:txBody>
      </p:sp>
      <p:pic>
        <p:nvPicPr>
          <p:cNvPr descr="watermark.jpg" id="661" name="Google Shape;661;p8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62" name="Google Shape;662;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63" name="Google Shape;663;p84"/>
          <p:cNvSpPr txBox="1"/>
          <p:nvPr/>
        </p:nvSpPr>
        <p:spPr>
          <a:xfrm>
            <a:off x="0" y="1611000"/>
            <a:ext cx="702900" cy="421800"/>
          </a:xfrm>
          <a:prstGeom prst="rect">
            <a:avLst/>
          </a:prstGeom>
          <a:noFill/>
          <a:ln cap="flat" cmpd="sng" w="38100">
            <a:solidFill>
              <a:srgbClr val="674EA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YOU</a:t>
            </a:r>
            <a:endParaRPr b="1" sz="1800"/>
          </a:p>
        </p:txBody>
      </p:sp>
      <p:cxnSp>
        <p:nvCxnSpPr>
          <p:cNvPr id="664" name="Google Shape;664;p84"/>
          <p:cNvCxnSpPr/>
          <p:nvPr/>
        </p:nvCxnSpPr>
        <p:spPr>
          <a:xfrm>
            <a:off x="703000" y="1833600"/>
            <a:ext cx="697200" cy="0"/>
          </a:xfrm>
          <a:prstGeom prst="straightConnector1">
            <a:avLst/>
          </a:prstGeom>
          <a:noFill/>
          <a:ln cap="flat" cmpd="sng" w="38100">
            <a:solidFill>
              <a:srgbClr val="000000"/>
            </a:solidFill>
            <a:prstDash val="solid"/>
            <a:round/>
            <a:headEnd len="med" w="med" type="none"/>
            <a:tailEnd len="med" w="med" type="triangle"/>
          </a:ln>
        </p:spPr>
      </p:cxnSp>
      <p:sp>
        <p:nvSpPr>
          <p:cNvPr id="665" name="Google Shape;665;p84"/>
          <p:cNvSpPr txBox="1"/>
          <p:nvPr/>
        </p:nvSpPr>
        <p:spPr>
          <a:xfrm>
            <a:off x="1400200" y="1554913"/>
            <a:ext cx="1329600" cy="533100"/>
          </a:xfrm>
          <a:prstGeom prst="rect">
            <a:avLst/>
          </a:prstGeom>
          <a:noFill/>
          <a:ln cap="flat" cmpd="sng" w="38100">
            <a:solidFill>
              <a:srgbClr val="134F5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BROKER</a:t>
            </a:r>
            <a:endParaRPr b="1" sz="1800"/>
          </a:p>
        </p:txBody>
      </p:sp>
      <p:sp>
        <p:nvSpPr>
          <p:cNvPr id="666" name="Google Shape;666;p84"/>
          <p:cNvSpPr txBox="1"/>
          <p:nvPr/>
        </p:nvSpPr>
        <p:spPr>
          <a:xfrm>
            <a:off x="746900" y="1382525"/>
            <a:ext cx="6093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BUY</a:t>
            </a:r>
            <a:endParaRPr b="1"/>
          </a:p>
        </p:txBody>
      </p:sp>
      <p:sp>
        <p:nvSpPr>
          <p:cNvPr id="667" name="Google Shape;667;p84"/>
          <p:cNvSpPr txBox="1"/>
          <p:nvPr/>
        </p:nvSpPr>
        <p:spPr>
          <a:xfrm>
            <a:off x="5881650" y="1048625"/>
            <a:ext cx="1482000" cy="1107300"/>
          </a:xfrm>
          <a:prstGeom prst="rect">
            <a:avLst/>
          </a:prstGeom>
          <a:noFill/>
          <a:ln cap="flat" cmpd="sng" w="76200">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NYSE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668" name="Google Shape;668;p84"/>
          <p:cNvSpPr txBox="1"/>
          <p:nvPr/>
        </p:nvSpPr>
        <p:spPr>
          <a:xfrm>
            <a:off x="5881650" y="2384400"/>
            <a:ext cx="1482000" cy="1107300"/>
          </a:xfrm>
          <a:prstGeom prst="rect">
            <a:avLst/>
          </a:prstGeom>
          <a:noFill/>
          <a:ln cap="flat" cmpd="sng" w="76200">
            <a:solidFill>
              <a:srgbClr val="E691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NASDAQ</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669" name="Google Shape;669;p84"/>
          <p:cNvSpPr txBox="1"/>
          <p:nvPr/>
        </p:nvSpPr>
        <p:spPr>
          <a:xfrm>
            <a:off x="5881650" y="3749425"/>
            <a:ext cx="1482000" cy="1107300"/>
          </a:xfrm>
          <a:prstGeom prst="rect">
            <a:avLst/>
          </a:prstGeom>
          <a:noFill/>
          <a:ln cap="flat" cmpd="sng" w="7620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BATS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cxnSp>
        <p:nvCxnSpPr>
          <p:cNvPr id="670" name="Google Shape;670;p84"/>
          <p:cNvCxnSpPr>
            <a:endCxn id="665" idx="3"/>
          </p:cNvCxnSpPr>
          <p:nvPr/>
        </p:nvCxnSpPr>
        <p:spPr>
          <a:xfrm flipH="1">
            <a:off x="2729800" y="1605163"/>
            <a:ext cx="3169500" cy="216300"/>
          </a:xfrm>
          <a:prstGeom prst="curvedConnector3">
            <a:avLst>
              <a:gd fmla="val 50000" name="adj1"/>
            </a:avLst>
          </a:prstGeom>
          <a:noFill/>
          <a:ln cap="flat" cmpd="sng" w="28575">
            <a:solidFill>
              <a:srgbClr val="000000"/>
            </a:solidFill>
            <a:prstDash val="solid"/>
            <a:round/>
            <a:headEnd len="med" w="med" type="stealth"/>
            <a:tailEnd len="med" w="med" type="none"/>
          </a:ln>
        </p:spPr>
      </p:cxnSp>
      <p:cxnSp>
        <p:nvCxnSpPr>
          <p:cNvPr id="671" name="Google Shape;671;p84"/>
          <p:cNvCxnSpPr>
            <a:stCxn id="668" idx="1"/>
          </p:cNvCxnSpPr>
          <p:nvPr/>
        </p:nvCxnSpPr>
        <p:spPr>
          <a:xfrm rot="10800000">
            <a:off x="2729850" y="1833450"/>
            <a:ext cx="3151800" cy="1104600"/>
          </a:xfrm>
          <a:prstGeom prst="curvedConnector3">
            <a:avLst>
              <a:gd fmla="val 50000" name="adj1"/>
            </a:avLst>
          </a:prstGeom>
          <a:noFill/>
          <a:ln cap="flat" cmpd="sng" w="28575">
            <a:solidFill>
              <a:srgbClr val="000000"/>
            </a:solidFill>
            <a:prstDash val="solid"/>
            <a:round/>
            <a:headEnd len="med" w="med" type="stealth"/>
            <a:tailEnd len="med" w="med" type="none"/>
          </a:ln>
        </p:spPr>
      </p:cxnSp>
      <p:cxnSp>
        <p:nvCxnSpPr>
          <p:cNvPr id="672" name="Google Shape;672;p84"/>
          <p:cNvCxnSpPr>
            <a:stCxn id="669" idx="1"/>
          </p:cNvCxnSpPr>
          <p:nvPr/>
        </p:nvCxnSpPr>
        <p:spPr>
          <a:xfrm rot="10800000">
            <a:off x="2738550" y="1833475"/>
            <a:ext cx="3143100" cy="2469600"/>
          </a:xfrm>
          <a:prstGeom prst="curvedConnector3">
            <a:avLst>
              <a:gd fmla="val 50000" name="adj1"/>
            </a:avLst>
          </a:prstGeom>
          <a:noFill/>
          <a:ln cap="flat" cmpd="sng" w="28575">
            <a:solidFill>
              <a:srgbClr val="000000"/>
            </a:solidFill>
            <a:prstDash val="solid"/>
            <a:round/>
            <a:headEnd len="med" w="med" type="stealth"/>
            <a:tailEnd len="med" w="med" type="none"/>
          </a:ln>
        </p:spPr>
      </p:cxnSp>
      <p:sp>
        <p:nvSpPr>
          <p:cNvPr id="673" name="Google Shape;673;p84"/>
          <p:cNvSpPr txBox="1"/>
          <p:nvPr/>
        </p:nvSpPr>
        <p:spPr>
          <a:xfrm>
            <a:off x="0" y="2360850"/>
            <a:ext cx="796800" cy="421800"/>
          </a:xfrm>
          <a:prstGeom prst="rect">
            <a:avLst/>
          </a:prstGeom>
          <a:noFill/>
          <a:ln cap="flat" cmpd="sng" w="38100">
            <a:solidFill>
              <a:srgbClr val="674EA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Other</a:t>
            </a:r>
            <a:endParaRPr b="1" sz="1800"/>
          </a:p>
        </p:txBody>
      </p:sp>
      <p:cxnSp>
        <p:nvCxnSpPr>
          <p:cNvPr id="674" name="Google Shape;674;p84"/>
          <p:cNvCxnSpPr>
            <a:endCxn id="665" idx="2"/>
          </p:cNvCxnSpPr>
          <p:nvPr/>
        </p:nvCxnSpPr>
        <p:spPr>
          <a:xfrm flipH="1" rot="10800000">
            <a:off x="832000" y="2088013"/>
            <a:ext cx="1233000" cy="483600"/>
          </a:xfrm>
          <a:prstGeom prst="straightConnector1">
            <a:avLst/>
          </a:prstGeom>
          <a:noFill/>
          <a:ln cap="flat" cmpd="sng" w="38100">
            <a:solidFill>
              <a:srgbClr val="000000"/>
            </a:solidFill>
            <a:prstDash val="solid"/>
            <a:round/>
            <a:headEnd len="med" w="med" type="none"/>
            <a:tailEnd len="med" w="med" type="triangle"/>
          </a:ln>
        </p:spPr>
      </p:cxnSp>
      <p:sp>
        <p:nvSpPr>
          <p:cNvPr id="675" name="Google Shape;675;p84"/>
          <p:cNvSpPr txBox="1"/>
          <p:nvPr/>
        </p:nvSpPr>
        <p:spPr>
          <a:xfrm>
            <a:off x="1126275" y="2384400"/>
            <a:ext cx="697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SELL</a:t>
            </a:r>
            <a:endParaRPr b="1"/>
          </a:p>
        </p:txBody>
      </p:sp>
      <p:sp>
        <p:nvSpPr>
          <p:cNvPr id="676" name="Google Shape;676;p84"/>
          <p:cNvSpPr txBox="1"/>
          <p:nvPr/>
        </p:nvSpPr>
        <p:spPr>
          <a:xfrm>
            <a:off x="345225" y="3055487"/>
            <a:ext cx="3087600" cy="13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t>This can all happen within the broker, without ever reaching the exchange.</a:t>
            </a:r>
            <a:endParaRPr b="1" i="1"/>
          </a:p>
          <a:p>
            <a:pPr indent="0" lvl="0" marL="0" rtl="0" algn="l">
              <a:spcBef>
                <a:spcPts val="0"/>
              </a:spcBef>
              <a:spcAft>
                <a:spcPts val="0"/>
              </a:spcAft>
              <a:buNone/>
            </a:pPr>
            <a:r>
              <a:t/>
            </a:r>
            <a:endParaRPr b="1" i="1"/>
          </a:p>
          <a:p>
            <a:pPr indent="0" lvl="0" marL="0" rtl="0" algn="l">
              <a:spcBef>
                <a:spcPts val="0"/>
              </a:spcBef>
              <a:spcAft>
                <a:spcPts val="0"/>
              </a:spcAft>
              <a:buNone/>
            </a:pPr>
            <a:r>
              <a:rPr b="1" i="1" lang="en"/>
              <a:t>By law the broker must provide the same price you could have gotten on the exchange.</a:t>
            </a:r>
            <a:endParaRPr b="1" i="1"/>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0" name="Shape 680"/>
        <p:cNvGrpSpPr/>
        <p:nvPr/>
      </p:nvGrpSpPr>
      <p:grpSpPr>
        <a:xfrm>
          <a:off x="0" y="0"/>
          <a:ext cx="0" cy="0"/>
          <a:chOff x="0" y="0"/>
          <a:chExt cx="0" cy="0"/>
        </a:xfrm>
      </p:grpSpPr>
      <p:sp>
        <p:nvSpPr>
          <p:cNvPr id="681" name="Google Shape;681;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Scenario #3 : Dark Pool</a:t>
            </a:r>
            <a:endParaRPr>
              <a:latin typeface="Montserrat"/>
              <a:ea typeface="Montserrat"/>
              <a:cs typeface="Montserrat"/>
              <a:sym typeface="Montserrat"/>
            </a:endParaRPr>
          </a:p>
        </p:txBody>
      </p:sp>
      <p:pic>
        <p:nvPicPr>
          <p:cNvPr descr="watermark.jpg" id="682" name="Google Shape;682;p8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83" name="Google Shape;683;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84" name="Google Shape;684;p85"/>
          <p:cNvSpPr txBox="1"/>
          <p:nvPr/>
        </p:nvSpPr>
        <p:spPr>
          <a:xfrm>
            <a:off x="0" y="1611000"/>
            <a:ext cx="702900" cy="421800"/>
          </a:xfrm>
          <a:prstGeom prst="rect">
            <a:avLst/>
          </a:prstGeom>
          <a:noFill/>
          <a:ln cap="flat" cmpd="sng" w="38100">
            <a:solidFill>
              <a:srgbClr val="674EA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YOU</a:t>
            </a:r>
            <a:endParaRPr b="1" sz="1800"/>
          </a:p>
        </p:txBody>
      </p:sp>
      <p:cxnSp>
        <p:nvCxnSpPr>
          <p:cNvPr id="685" name="Google Shape;685;p85"/>
          <p:cNvCxnSpPr/>
          <p:nvPr/>
        </p:nvCxnSpPr>
        <p:spPr>
          <a:xfrm>
            <a:off x="703000" y="1833600"/>
            <a:ext cx="697200" cy="0"/>
          </a:xfrm>
          <a:prstGeom prst="straightConnector1">
            <a:avLst/>
          </a:prstGeom>
          <a:noFill/>
          <a:ln cap="flat" cmpd="sng" w="38100">
            <a:solidFill>
              <a:srgbClr val="000000"/>
            </a:solidFill>
            <a:prstDash val="solid"/>
            <a:round/>
            <a:headEnd len="med" w="med" type="none"/>
            <a:tailEnd len="med" w="med" type="triangle"/>
          </a:ln>
        </p:spPr>
      </p:cxnSp>
      <p:sp>
        <p:nvSpPr>
          <p:cNvPr id="686" name="Google Shape;686;p85"/>
          <p:cNvSpPr txBox="1"/>
          <p:nvPr/>
        </p:nvSpPr>
        <p:spPr>
          <a:xfrm>
            <a:off x="1400200" y="1554925"/>
            <a:ext cx="1394100" cy="533100"/>
          </a:xfrm>
          <a:prstGeom prst="rect">
            <a:avLst/>
          </a:prstGeom>
          <a:noFill/>
          <a:ln cap="flat" cmpd="sng" w="38100">
            <a:solidFill>
              <a:srgbClr val="134F5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BROKER 1</a:t>
            </a:r>
            <a:endParaRPr b="1" sz="1800"/>
          </a:p>
        </p:txBody>
      </p:sp>
      <p:sp>
        <p:nvSpPr>
          <p:cNvPr id="687" name="Google Shape;687;p85"/>
          <p:cNvSpPr txBox="1"/>
          <p:nvPr/>
        </p:nvSpPr>
        <p:spPr>
          <a:xfrm>
            <a:off x="746900" y="1382525"/>
            <a:ext cx="6093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BUY</a:t>
            </a:r>
            <a:endParaRPr b="1"/>
          </a:p>
        </p:txBody>
      </p:sp>
      <p:sp>
        <p:nvSpPr>
          <p:cNvPr id="688" name="Google Shape;688;p85"/>
          <p:cNvSpPr txBox="1"/>
          <p:nvPr/>
        </p:nvSpPr>
        <p:spPr>
          <a:xfrm>
            <a:off x="5881650" y="1048625"/>
            <a:ext cx="1482000" cy="1107300"/>
          </a:xfrm>
          <a:prstGeom prst="rect">
            <a:avLst/>
          </a:prstGeom>
          <a:noFill/>
          <a:ln cap="flat" cmpd="sng" w="76200">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NYSE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689" name="Google Shape;689;p85"/>
          <p:cNvSpPr txBox="1"/>
          <p:nvPr/>
        </p:nvSpPr>
        <p:spPr>
          <a:xfrm>
            <a:off x="5881650" y="2384400"/>
            <a:ext cx="1482000" cy="1107300"/>
          </a:xfrm>
          <a:prstGeom prst="rect">
            <a:avLst/>
          </a:prstGeom>
          <a:noFill/>
          <a:ln cap="flat" cmpd="sng" w="76200">
            <a:solidFill>
              <a:srgbClr val="E691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NASDAQ</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690" name="Google Shape;690;p85"/>
          <p:cNvSpPr txBox="1"/>
          <p:nvPr/>
        </p:nvSpPr>
        <p:spPr>
          <a:xfrm>
            <a:off x="5881650" y="3749425"/>
            <a:ext cx="1482000" cy="1107300"/>
          </a:xfrm>
          <a:prstGeom prst="rect">
            <a:avLst/>
          </a:prstGeom>
          <a:noFill/>
          <a:ln cap="flat" cmpd="sng" w="7620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BATS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691" name="Google Shape;691;p85"/>
          <p:cNvSpPr txBox="1"/>
          <p:nvPr/>
        </p:nvSpPr>
        <p:spPr>
          <a:xfrm>
            <a:off x="0" y="3257150"/>
            <a:ext cx="796800" cy="421800"/>
          </a:xfrm>
          <a:prstGeom prst="rect">
            <a:avLst/>
          </a:prstGeom>
          <a:noFill/>
          <a:ln cap="flat" cmpd="sng" w="38100">
            <a:solidFill>
              <a:srgbClr val="674EA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Other</a:t>
            </a:r>
            <a:endParaRPr b="1" sz="1800"/>
          </a:p>
        </p:txBody>
      </p:sp>
      <p:cxnSp>
        <p:nvCxnSpPr>
          <p:cNvPr id="692" name="Google Shape;692;p85"/>
          <p:cNvCxnSpPr/>
          <p:nvPr/>
        </p:nvCxnSpPr>
        <p:spPr>
          <a:xfrm>
            <a:off x="796800" y="3491700"/>
            <a:ext cx="585600" cy="5700"/>
          </a:xfrm>
          <a:prstGeom prst="straightConnector1">
            <a:avLst/>
          </a:prstGeom>
          <a:noFill/>
          <a:ln cap="flat" cmpd="sng" w="38100">
            <a:solidFill>
              <a:srgbClr val="000000"/>
            </a:solidFill>
            <a:prstDash val="solid"/>
            <a:round/>
            <a:headEnd len="med" w="med" type="none"/>
            <a:tailEnd len="med" w="med" type="triangle"/>
          </a:ln>
        </p:spPr>
      </p:cxnSp>
      <p:sp>
        <p:nvSpPr>
          <p:cNvPr id="693" name="Google Shape;693;p85"/>
          <p:cNvSpPr txBox="1"/>
          <p:nvPr/>
        </p:nvSpPr>
        <p:spPr>
          <a:xfrm>
            <a:off x="741000" y="3091950"/>
            <a:ext cx="697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SELL</a:t>
            </a:r>
            <a:endParaRPr b="1"/>
          </a:p>
        </p:txBody>
      </p:sp>
      <p:sp>
        <p:nvSpPr>
          <p:cNvPr id="694" name="Google Shape;694;p85"/>
          <p:cNvSpPr txBox="1"/>
          <p:nvPr/>
        </p:nvSpPr>
        <p:spPr>
          <a:xfrm>
            <a:off x="1382400" y="3228000"/>
            <a:ext cx="1394100" cy="533100"/>
          </a:xfrm>
          <a:prstGeom prst="rect">
            <a:avLst/>
          </a:prstGeom>
          <a:noFill/>
          <a:ln cap="flat" cmpd="sng" w="38100">
            <a:solidFill>
              <a:srgbClr val="134F5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BROKER 2</a:t>
            </a:r>
            <a:endParaRPr b="1" sz="1800"/>
          </a:p>
        </p:txBody>
      </p:sp>
      <p:sp>
        <p:nvSpPr>
          <p:cNvPr id="695" name="Google Shape;695;p85"/>
          <p:cNvSpPr txBox="1"/>
          <p:nvPr/>
        </p:nvSpPr>
        <p:spPr>
          <a:xfrm>
            <a:off x="3444725" y="2155925"/>
            <a:ext cx="1482000" cy="966600"/>
          </a:xfrm>
          <a:prstGeom prst="rect">
            <a:avLst/>
          </a:prstGeom>
          <a:solidFill>
            <a:srgbClr val="B7B7B7"/>
          </a:solidFill>
          <a:ln cap="flat" cmpd="sng" w="762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p>
          <a:p>
            <a:pPr indent="0" lvl="0" marL="0" rtl="0" algn="ctr">
              <a:spcBef>
                <a:spcPts val="0"/>
              </a:spcBef>
              <a:spcAft>
                <a:spcPts val="0"/>
              </a:spcAft>
              <a:buNone/>
            </a:pPr>
            <a:r>
              <a:rPr b="1" lang="en"/>
              <a:t>DARK POOL</a:t>
            </a:r>
            <a:endParaRPr b="1"/>
          </a:p>
        </p:txBody>
      </p:sp>
      <p:cxnSp>
        <p:nvCxnSpPr>
          <p:cNvPr id="696" name="Google Shape;696;p85"/>
          <p:cNvCxnSpPr>
            <a:endCxn id="695" idx="0"/>
          </p:cNvCxnSpPr>
          <p:nvPr/>
        </p:nvCxnSpPr>
        <p:spPr>
          <a:xfrm>
            <a:off x="2794325" y="1822025"/>
            <a:ext cx="1391400" cy="333900"/>
          </a:xfrm>
          <a:prstGeom prst="curvedConnector2">
            <a:avLst/>
          </a:prstGeom>
          <a:noFill/>
          <a:ln cap="flat" cmpd="sng" w="38100">
            <a:solidFill>
              <a:schemeClr val="dk2"/>
            </a:solidFill>
            <a:prstDash val="solid"/>
            <a:round/>
            <a:headEnd len="med" w="med" type="none"/>
            <a:tailEnd len="med" w="med" type="none"/>
          </a:ln>
        </p:spPr>
      </p:cxnSp>
      <p:cxnSp>
        <p:nvCxnSpPr>
          <p:cNvPr id="697" name="Google Shape;697;p85"/>
          <p:cNvCxnSpPr>
            <a:endCxn id="695" idx="2"/>
          </p:cNvCxnSpPr>
          <p:nvPr/>
        </p:nvCxnSpPr>
        <p:spPr>
          <a:xfrm flipH="1" rot="10800000">
            <a:off x="2794325" y="3122525"/>
            <a:ext cx="1391400" cy="369300"/>
          </a:xfrm>
          <a:prstGeom prst="curvedConnector2">
            <a:avLst/>
          </a:prstGeom>
          <a:noFill/>
          <a:ln cap="flat" cmpd="sng" w="38100">
            <a:solidFill>
              <a:schemeClr val="dk2"/>
            </a:solidFill>
            <a:prstDash val="solid"/>
            <a:round/>
            <a:headEnd len="med" w="med" type="none"/>
            <a:tailEnd len="med" w="med" type="none"/>
          </a:ln>
        </p:spPr>
      </p:cxnSp>
      <p:sp>
        <p:nvSpPr>
          <p:cNvPr id="698" name="Google Shape;698;p85"/>
          <p:cNvSpPr txBox="1"/>
          <p:nvPr/>
        </p:nvSpPr>
        <p:spPr>
          <a:xfrm>
            <a:off x="3403625" y="3749425"/>
            <a:ext cx="1763400" cy="9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a:t>Dark pool pays brokers to see orders before they hit the exchange.</a:t>
            </a:r>
            <a:endParaRPr b="1" i="1"/>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02" name="Shape 702"/>
        <p:cNvGrpSpPr/>
        <p:nvPr/>
      </p:nvGrpSpPr>
      <p:grpSpPr>
        <a:xfrm>
          <a:off x="0" y="0"/>
          <a:ext cx="0" cy="0"/>
          <a:chOff x="0" y="0"/>
          <a:chExt cx="0" cy="0"/>
        </a:xfrm>
      </p:grpSpPr>
      <p:sp>
        <p:nvSpPr>
          <p:cNvPr id="703" name="Google Shape;703;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704" name="Google Shape;704;p8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05" name="Google Shape;705;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06" name="Google Shape;706;p8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may have heard of the term “High Frequency Trading”.</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HFT firms take advantage of latency differences due to geographical distances.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These times are on the order of microseconds.</a:t>
            </a:r>
            <a:endParaRPr sz="3000">
              <a:solidFill>
                <a:srgbClr val="434343"/>
              </a:solidFill>
              <a:latin typeface="Montserrat"/>
              <a:ea typeface="Montserrat"/>
              <a:cs typeface="Montserrat"/>
              <a:sym typeface="Montserrat"/>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10" name="Shape 710"/>
        <p:cNvGrpSpPr/>
        <p:nvPr/>
      </p:nvGrpSpPr>
      <p:grpSpPr>
        <a:xfrm>
          <a:off x="0" y="0"/>
          <a:ext cx="0" cy="0"/>
          <a:chOff x="0" y="0"/>
          <a:chExt cx="0" cy="0"/>
        </a:xfrm>
      </p:grpSpPr>
      <p:sp>
        <p:nvSpPr>
          <p:cNvPr id="711" name="Google Shape;711;p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712" name="Google Shape;712;p8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13" name="Google Shape;713;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14" name="Google Shape;714;p8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Discussion about HFTs were popularized by Michael Lewis’ book “Flash Boys”, about Brad Katsuyama and the IEX.</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briefly explain the basic idea of HFT, but keep in mind this is an area that changes extremely fast due to technology!</a:t>
            </a:r>
            <a:endParaRPr sz="3000">
              <a:solidFill>
                <a:srgbClr val="434343"/>
              </a:solidFill>
              <a:latin typeface="Montserrat"/>
              <a:ea typeface="Montserrat"/>
              <a:cs typeface="Montserrat"/>
              <a:sym typeface="Montserra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18" name="Shape 718"/>
        <p:cNvGrpSpPr/>
        <p:nvPr/>
      </p:nvGrpSpPr>
      <p:grpSpPr>
        <a:xfrm>
          <a:off x="0" y="0"/>
          <a:ext cx="0" cy="0"/>
          <a:chOff x="0" y="0"/>
          <a:chExt cx="0" cy="0"/>
        </a:xfrm>
      </p:grpSpPr>
      <p:sp>
        <p:nvSpPr>
          <p:cNvPr id="719" name="Google Shape;719;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Scenario #4 : HFT</a:t>
            </a:r>
            <a:endParaRPr>
              <a:latin typeface="Montserrat"/>
              <a:ea typeface="Montserrat"/>
              <a:cs typeface="Montserrat"/>
              <a:sym typeface="Montserrat"/>
            </a:endParaRPr>
          </a:p>
        </p:txBody>
      </p:sp>
      <p:pic>
        <p:nvPicPr>
          <p:cNvPr descr="watermark.jpg" id="720" name="Google Shape;720;p8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21" name="Google Shape;721;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22" name="Google Shape;722;p88"/>
          <p:cNvSpPr txBox="1"/>
          <p:nvPr/>
        </p:nvSpPr>
        <p:spPr>
          <a:xfrm>
            <a:off x="240175" y="3485550"/>
            <a:ext cx="1042500" cy="421800"/>
          </a:xfrm>
          <a:prstGeom prst="rect">
            <a:avLst/>
          </a:prstGeom>
          <a:noFill/>
          <a:ln cap="flat" cmpd="sng" w="38100">
            <a:solidFill>
              <a:srgbClr val="741B4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 BANK</a:t>
            </a:r>
            <a:endParaRPr b="1" sz="1800"/>
          </a:p>
        </p:txBody>
      </p:sp>
      <p:sp>
        <p:nvSpPr>
          <p:cNvPr id="723" name="Google Shape;723;p88"/>
          <p:cNvSpPr txBox="1"/>
          <p:nvPr/>
        </p:nvSpPr>
        <p:spPr>
          <a:xfrm>
            <a:off x="0" y="397772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90K Shares</a:t>
            </a:r>
            <a:endParaRPr b="1"/>
          </a:p>
        </p:txBody>
      </p:sp>
      <p:sp>
        <p:nvSpPr>
          <p:cNvPr id="724" name="Google Shape;724;p88"/>
          <p:cNvSpPr txBox="1"/>
          <p:nvPr/>
        </p:nvSpPr>
        <p:spPr>
          <a:xfrm>
            <a:off x="5881650" y="1048625"/>
            <a:ext cx="1482000" cy="1107300"/>
          </a:xfrm>
          <a:prstGeom prst="rect">
            <a:avLst/>
          </a:prstGeom>
          <a:noFill/>
          <a:ln cap="flat" cmpd="sng" w="76200">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NYSE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25" name="Google Shape;725;p88"/>
          <p:cNvSpPr txBox="1"/>
          <p:nvPr/>
        </p:nvSpPr>
        <p:spPr>
          <a:xfrm>
            <a:off x="4288225" y="2591525"/>
            <a:ext cx="1482000" cy="1107300"/>
          </a:xfrm>
          <a:prstGeom prst="rect">
            <a:avLst/>
          </a:prstGeom>
          <a:noFill/>
          <a:ln cap="flat" cmpd="sng" w="76200">
            <a:solidFill>
              <a:srgbClr val="E691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NASDAQ</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26" name="Google Shape;726;p88"/>
          <p:cNvSpPr txBox="1"/>
          <p:nvPr/>
        </p:nvSpPr>
        <p:spPr>
          <a:xfrm>
            <a:off x="2659625" y="3931025"/>
            <a:ext cx="1482000" cy="1107300"/>
          </a:xfrm>
          <a:prstGeom prst="rect">
            <a:avLst/>
          </a:prstGeom>
          <a:noFill/>
          <a:ln cap="flat" cmpd="sng" w="7620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BATS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cxnSp>
        <p:nvCxnSpPr>
          <p:cNvPr id="727" name="Google Shape;727;p88"/>
          <p:cNvCxnSpPr>
            <a:stCxn id="722" idx="3"/>
            <a:endCxn id="724" idx="1"/>
          </p:cNvCxnSpPr>
          <p:nvPr/>
        </p:nvCxnSpPr>
        <p:spPr>
          <a:xfrm flipH="1" rot="10800000">
            <a:off x="1282675" y="1602150"/>
            <a:ext cx="4599000" cy="20943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28" name="Google Shape;728;p88"/>
          <p:cNvSpPr txBox="1"/>
          <p:nvPr/>
        </p:nvSpPr>
        <p:spPr>
          <a:xfrm>
            <a:off x="58600" y="1434150"/>
            <a:ext cx="3169200" cy="15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latin typeface="Montserrat"/>
                <a:ea typeface="Montserrat"/>
                <a:cs typeface="Montserrat"/>
                <a:sym typeface="Montserrat"/>
              </a:rPr>
              <a:t>A large bank or institution puts out an order that is large enough that it will need multiple exchanges to fulfill the order.</a:t>
            </a:r>
            <a:endParaRPr i="1" sz="1600">
              <a:latin typeface="Montserrat"/>
              <a:ea typeface="Montserrat"/>
              <a:cs typeface="Montserrat"/>
              <a:sym typeface="Montserrat"/>
            </a:endParaRPr>
          </a:p>
        </p:txBody>
      </p:sp>
      <p:cxnSp>
        <p:nvCxnSpPr>
          <p:cNvPr id="729" name="Google Shape;729;p88"/>
          <p:cNvCxnSpPr>
            <a:stCxn id="722" idx="3"/>
            <a:endCxn id="725" idx="1"/>
          </p:cNvCxnSpPr>
          <p:nvPr/>
        </p:nvCxnSpPr>
        <p:spPr>
          <a:xfrm flipH="1" rot="10800000">
            <a:off x="1282675" y="3145050"/>
            <a:ext cx="3005700" cy="551400"/>
          </a:xfrm>
          <a:prstGeom prst="curvedConnector3">
            <a:avLst>
              <a:gd fmla="val 49998" name="adj1"/>
            </a:avLst>
          </a:prstGeom>
          <a:noFill/>
          <a:ln cap="flat" cmpd="sng" w="38100">
            <a:solidFill>
              <a:schemeClr val="dk2"/>
            </a:solidFill>
            <a:prstDash val="solid"/>
            <a:round/>
            <a:headEnd len="med" w="med" type="none"/>
            <a:tailEnd len="med" w="med" type="triangle"/>
          </a:ln>
        </p:spPr>
      </p:cxnSp>
      <p:cxnSp>
        <p:nvCxnSpPr>
          <p:cNvPr id="730" name="Google Shape;730;p88"/>
          <p:cNvCxnSpPr>
            <a:endCxn id="726" idx="1"/>
          </p:cNvCxnSpPr>
          <p:nvPr/>
        </p:nvCxnSpPr>
        <p:spPr>
          <a:xfrm>
            <a:off x="1306625" y="3696575"/>
            <a:ext cx="1353000" cy="7881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31" name="Google Shape;731;p88"/>
          <p:cNvSpPr txBox="1"/>
          <p:nvPr/>
        </p:nvSpPr>
        <p:spPr>
          <a:xfrm>
            <a:off x="3992363" y="42101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32" name="Google Shape;732;p88"/>
          <p:cNvSpPr txBox="1"/>
          <p:nvPr/>
        </p:nvSpPr>
        <p:spPr>
          <a:xfrm>
            <a:off x="5553775" y="28218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33" name="Google Shape;733;p88"/>
          <p:cNvSpPr txBox="1"/>
          <p:nvPr/>
        </p:nvSpPr>
        <p:spPr>
          <a:xfrm>
            <a:off x="7149850" y="12636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37" name="Shape 737"/>
        <p:cNvGrpSpPr/>
        <p:nvPr/>
      </p:nvGrpSpPr>
      <p:grpSpPr>
        <a:xfrm>
          <a:off x="0" y="0"/>
          <a:ext cx="0" cy="0"/>
          <a:chOff x="0" y="0"/>
          <a:chExt cx="0" cy="0"/>
        </a:xfrm>
      </p:grpSpPr>
      <p:sp>
        <p:nvSpPr>
          <p:cNvPr id="738" name="Google Shape;738;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Scenario #4 : HFT</a:t>
            </a:r>
            <a:endParaRPr>
              <a:latin typeface="Montserrat"/>
              <a:ea typeface="Montserrat"/>
              <a:cs typeface="Montserrat"/>
              <a:sym typeface="Montserrat"/>
            </a:endParaRPr>
          </a:p>
        </p:txBody>
      </p:sp>
      <p:pic>
        <p:nvPicPr>
          <p:cNvPr descr="watermark.jpg" id="739" name="Google Shape;739;p8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40" name="Google Shape;740;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41" name="Google Shape;741;p89"/>
          <p:cNvSpPr txBox="1"/>
          <p:nvPr/>
        </p:nvSpPr>
        <p:spPr>
          <a:xfrm>
            <a:off x="240175" y="3485550"/>
            <a:ext cx="1042500" cy="421800"/>
          </a:xfrm>
          <a:prstGeom prst="rect">
            <a:avLst/>
          </a:prstGeom>
          <a:noFill/>
          <a:ln cap="flat" cmpd="sng" w="38100">
            <a:solidFill>
              <a:srgbClr val="741B4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 BANK</a:t>
            </a:r>
            <a:endParaRPr b="1" sz="1800"/>
          </a:p>
        </p:txBody>
      </p:sp>
      <p:sp>
        <p:nvSpPr>
          <p:cNvPr id="742" name="Google Shape;742;p89"/>
          <p:cNvSpPr txBox="1"/>
          <p:nvPr/>
        </p:nvSpPr>
        <p:spPr>
          <a:xfrm>
            <a:off x="0" y="397772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90K Shares</a:t>
            </a:r>
            <a:endParaRPr b="1"/>
          </a:p>
        </p:txBody>
      </p:sp>
      <p:sp>
        <p:nvSpPr>
          <p:cNvPr id="743" name="Google Shape;743;p89"/>
          <p:cNvSpPr txBox="1"/>
          <p:nvPr/>
        </p:nvSpPr>
        <p:spPr>
          <a:xfrm>
            <a:off x="5881650" y="1048625"/>
            <a:ext cx="1482000" cy="1107300"/>
          </a:xfrm>
          <a:prstGeom prst="rect">
            <a:avLst/>
          </a:prstGeom>
          <a:noFill/>
          <a:ln cap="flat" cmpd="sng" w="76200">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NYSE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44" name="Google Shape;744;p89"/>
          <p:cNvSpPr txBox="1"/>
          <p:nvPr/>
        </p:nvSpPr>
        <p:spPr>
          <a:xfrm>
            <a:off x="4288225" y="2591525"/>
            <a:ext cx="1482000" cy="1107300"/>
          </a:xfrm>
          <a:prstGeom prst="rect">
            <a:avLst/>
          </a:prstGeom>
          <a:noFill/>
          <a:ln cap="flat" cmpd="sng" w="76200">
            <a:solidFill>
              <a:srgbClr val="E691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NASDAQ</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45" name="Google Shape;745;p89"/>
          <p:cNvSpPr txBox="1"/>
          <p:nvPr/>
        </p:nvSpPr>
        <p:spPr>
          <a:xfrm>
            <a:off x="2659625" y="3931025"/>
            <a:ext cx="1482000" cy="1107300"/>
          </a:xfrm>
          <a:prstGeom prst="rect">
            <a:avLst/>
          </a:prstGeom>
          <a:noFill/>
          <a:ln cap="flat" cmpd="sng" w="7620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BATS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cxnSp>
        <p:nvCxnSpPr>
          <p:cNvPr id="746" name="Google Shape;746;p89"/>
          <p:cNvCxnSpPr>
            <a:stCxn id="741" idx="3"/>
            <a:endCxn id="743" idx="1"/>
          </p:cNvCxnSpPr>
          <p:nvPr/>
        </p:nvCxnSpPr>
        <p:spPr>
          <a:xfrm flipH="1" rot="10800000">
            <a:off x="1282675" y="1602150"/>
            <a:ext cx="4599000" cy="20943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47" name="Google Shape;747;p89"/>
          <p:cNvSpPr txBox="1"/>
          <p:nvPr/>
        </p:nvSpPr>
        <p:spPr>
          <a:xfrm>
            <a:off x="58600" y="1434150"/>
            <a:ext cx="3169200" cy="15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latin typeface="Montserrat"/>
                <a:ea typeface="Montserrat"/>
                <a:cs typeface="Montserrat"/>
                <a:sym typeface="Montserrat"/>
              </a:rPr>
              <a:t>It takes about 2 ms between the order first reaching BATS (closest) to the last exchange NYSE (furthest away)</a:t>
            </a:r>
            <a:endParaRPr i="1" sz="1600">
              <a:latin typeface="Montserrat"/>
              <a:ea typeface="Montserrat"/>
              <a:cs typeface="Montserrat"/>
              <a:sym typeface="Montserrat"/>
            </a:endParaRPr>
          </a:p>
          <a:p>
            <a:pPr indent="0" lvl="0" marL="0" rtl="0" algn="l">
              <a:spcBef>
                <a:spcPts val="0"/>
              </a:spcBef>
              <a:spcAft>
                <a:spcPts val="0"/>
              </a:spcAft>
              <a:buNone/>
            </a:pPr>
            <a:r>
              <a:t/>
            </a:r>
            <a:endParaRPr i="1" sz="1600">
              <a:latin typeface="Montserrat"/>
              <a:ea typeface="Montserrat"/>
              <a:cs typeface="Montserrat"/>
              <a:sym typeface="Montserrat"/>
            </a:endParaRPr>
          </a:p>
          <a:p>
            <a:pPr indent="0" lvl="0" marL="0" rtl="0" algn="l">
              <a:spcBef>
                <a:spcPts val="0"/>
              </a:spcBef>
              <a:spcAft>
                <a:spcPts val="0"/>
              </a:spcAft>
              <a:buNone/>
            </a:pPr>
            <a:r>
              <a:rPr i="1" lang="en" sz="1600">
                <a:latin typeface="Montserrat"/>
                <a:ea typeface="Montserrat"/>
                <a:cs typeface="Montserrat"/>
                <a:sym typeface="Montserrat"/>
              </a:rPr>
              <a:t>For reference, it takes 300ms to blink an eye.</a:t>
            </a:r>
            <a:endParaRPr i="1" sz="1600">
              <a:latin typeface="Montserrat"/>
              <a:ea typeface="Montserrat"/>
              <a:cs typeface="Montserrat"/>
              <a:sym typeface="Montserrat"/>
            </a:endParaRPr>
          </a:p>
        </p:txBody>
      </p:sp>
      <p:cxnSp>
        <p:nvCxnSpPr>
          <p:cNvPr id="748" name="Google Shape;748;p89"/>
          <p:cNvCxnSpPr>
            <a:stCxn id="741" idx="3"/>
            <a:endCxn id="744" idx="1"/>
          </p:cNvCxnSpPr>
          <p:nvPr/>
        </p:nvCxnSpPr>
        <p:spPr>
          <a:xfrm flipH="1" rot="10800000">
            <a:off x="1282675" y="3145050"/>
            <a:ext cx="3005700" cy="551400"/>
          </a:xfrm>
          <a:prstGeom prst="curvedConnector3">
            <a:avLst>
              <a:gd fmla="val 49998" name="adj1"/>
            </a:avLst>
          </a:prstGeom>
          <a:noFill/>
          <a:ln cap="flat" cmpd="sng" w="38100">
            <a:solidFill>
              <a:schemeClr val="dk2"/>
            </a:solidFill>
            <a:prstDash val="solid"/>
            <a:round/>
            <a:headEnd len="med" w="med" type="none"/>
            <a:tailEnd len="med" w="med" type="triangle"/>
          </a:ln>
        </p:spPr>
      </p:cxnSp>
      <p:cxnSp>
        <p:nvCxnSpPr>
          <p:cNvPr id="749" name="Google Shape;749;p89"/>
          <p:cNvCxnSpPr>
            <a:endCxn id="745" idx="1"/>
          </p:cNvCxnSpPr>
          <p:nvPr/>
        </p:nvCxnSpPr>
        <p:spPr>
          <a:xfrm>
            <a:off x="1306625" y="3696575"/>
            <a:ext cx="1353000" cy="7881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50" name="Google Shape;750;p89"/>
          <p:cNvSpPr txBox="1"/>
          <p:nvPr/>
        </p:nvSpPr>
        <p:spPr>
          <a:xfrm>
            <a:off x="3992363" y="42101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51" name="Google Shape;751;p89"/>
          <p:cNvSpPr txBox="1"/>
          <p:nvPr/>
        </p:nvSpPr>
        <p:spPr>
          <a:xfrm>
            <a:off x="5553775" y="28218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52" name="Google Shape;752;p89"/>
          <p:cNvSpPr txBox="1"/>
          <p:nvPr/>
        </p:nvSpPr>
        <p:spPr>
          <a:xfrm>
            <a:off x="7149850" y="12636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56" name="Shape 756"/>
        <p:cNvGrpSpPr/>
        <p:nvPr/>
      </p:nvGrpSpPr>
      <p:grpSpPr>
        <a:xfrm>
          <a:off x="0" y="0"/>
          <a:ext cx="0" cy="0"/>
          <a:chOff x="0" y="0"/>
          <a:chExt cx="0" cy="0"/>
        </a:xfrm>
      </p:grpSpPr>
      <p:sp>
        <p:nvSpPr>
          <p:cNvPr id="757" name="Google Shape;757;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Scenario #4 : HFT</a:t>
            </a:r>
            <a:endParaRPr>
              <a:latin typeface="Montserrat"/>
              <a:ea typeface="Montserrat"/>
              <a:cs typeface="Montserrat"/>
              <a:sym typeface="Montserrat"/>
            </a:endParaRPr>
          </a:p>
        </p:txBody>
      </p:sp>
      <p:pic>
        <p:nvPicPr>
          <p:cNvPr descr="watermark.jpg" id="758" name="Google Shape;758;p9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59" name="Google Shape;759;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60" name="Google Shape;760;p90"/>
          <p:cNvSpPr txBox="1"/>
          <p:nvPr/>
        </p:nvSpPr>
        <p:spPr>
          <a:xfrm>
            <a:off x="240175" y="3485550"/>
            <a:ext cx="1042500" cy="421800"/>
          </a:xfrm>
          <a:prstGeom prst="rect">
            <a:avLst/>
          </a:prstGeom>
          <a:noFill/>
          <a:ln cap="flat" cmpd="sng" w="38100">
            <a:solidFill>
              <a:srgbClr val="741B4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 BANK</a:t>
            </a:r>
            <a:endParaRPr b="1" sz="1800"/>
          </a:p>
        </p:txBody>
      </p:sp>
      <p:sp>
        <p:nvSpPr>
          <p:cNvPr id="761" name="Google Shape;761;p90"/>
          <p:cNvSpPr txBox="1"/>
          <p:nvPr/>
        </p:nvSpPr>
        <p:spPr>
          <a:xfrm>
            <a:off x="0" y="397772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90K Shares</a:t>
            </a:r>
            <a:endParaRPr b="1"/>
          </a:p>
        </p:txBody>
      </p:sp>
      <p:sp>
        <p:nvSpPr>
          <p:cNvPr id="762" name="Google Shape;762;p90"/>
          <p:cNvSpPr txBox="1"/>
          <p:nvPr/>
        </p:nvSpPr>
        <p:spPr>
          <a:xfrm>
            <a:off x="5881650" y="1048625"/>
            <a:ext cx="1482000" cy="1107300"/>
          </a:xfrm>
          <a:prstGeom prst="rect">
            <a:avLst/>
          </a:prstGeom>
          <a:noFill/>
          <a:ln cap="flat" cmpd="sng" w="76200">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NYSE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63" name="Google Shape;763;p90"/>
          <p:cNvSpPr txBox="1"/>
          <p:nvPr/>
        </p:nvSpPr>
        <p:spPr>
          <a:xfrm>
            <a:off x="4288225" y="2591525"/>
            <a:ext cx="1482000" cy="1107300"/>
          </a:xfrm>
          <a:prstGeom prst="rect">
            <a:avLst/>
          </a:prstGeom>
          <a:noFill/>
          <a:ln cap="flat" cmpd="sng" w="76200">
            <a:solidFill>
              <a:srgbClr val="E691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NASDAQ</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64" name="Google Shape;764;p90"/>
          <p:cNvSpPr txBox="1"/>
          <p:nvPr/>
        </p:nvSpPr>
        <p:spPr>
          <a:xfrm>
            <a:off x="2659625" y="3931025"/>
            <a:ext cx="1482000" cy="1107300"/>
          </a:xfrm>
          <a:prstGeom prst="rect">
            <a:avLst/>
          </a:prstGeom>
          <a:noFill/>
          <a:ln cap="flat" cmpd="sng" w="7620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BATS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cxnSp>
        <p:nvCxnSpPr>
          <p:cNvPr id="765" name="Google Shape;765;p90"/>
          <p:cNvCxnSpPr>
            <a:stCxn id="760" idx="3"/>
            <a:endCxn id="762" idx="1"/>
          </p:cNvCxnSpPr>
          <p:nvPr/>
        </p:nvCxnSpPr>
        <p:spPr>
          <a:xfrm flipH="1" rot="10800000">
            <a:off x="1282675" y="1602150"/>
            <a:ext cx="4599000" cy="20943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66" name="Google Shape;766;p90"/>
          <p:cNvSpPr txBox="1"/>
          <p:nvPr/>
        </p:nvSpPr>
        <p:spPr>
          <a:xfrm>
            <a:off x="58600" y="1434150"/>
            <a:ext cx="3169200" cy="15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latin typeface="Montserrat"/>
                <a:ea typeface="Montserrat"/>
                <a:cs typeface="Montserrat"/>
                <a:sym typeface="Montserrat"/>
              </a:rPr>
              <a:t>HFT builds “colocated” servers. Literally placing their servers as close to the order book server as possible!</a:t>
            </a:r>
            <a:endParaRPr i="1" sz="1600">
              <a:latin typeface="Montserrat"/>
              <a:ea typeface="Montserrat"/>
              <a:cs typeface="Montserrat"/>
              <a:sym typeface="Montserrat"/>
            </a:endParaRPr>
          </a:p>
        </p:txBody>
      </p:sp>
      <p:cxnSp>
        <p:nvCxnSpPr>
          <p:cNvPr id="767" name="Google Shape;767;p90"/>
          <p:cNvCxnSpPr>
            <a:stCxn id="760" idx="3"/>
            <a:endCxn id="763" idx="1"/>
          </p:cNvCxnSpPr>
          <p:nvPr/>
        </p:nvCxnSpPr>
        <p:spPr>
          <a:xfrm flipH="1" rot="10800000">
            <a:off x="1282675" y="3145050"/>
            <a:ext cx="3005700" cy="551400"/>
          </a:xfrm>
          <a:prstGeom prst="curvedConnector3">
            <a:avLst>
              <a:gd fmla="val 49998" name="adj1"/>
            </a:avLst>
          </a:prstGeom>
          <a:noFill/>
          <a:ln cap="flat" cmpd="sng" w="38100">
            <a:solidFill>
              <a:schemeClr val="dk2"/>
            </a:solidFill>
            <a:prstDash val="solid"/>
            <a:round/>
            <a:headEnd len="med" w="med" type="none"/>
            <a:tailEnd len="med" w="med" type="triangle"/>
          </a:ln>
        </p:spPr>
      </p:cxnSp>
      <p:cxnSp>
        <p:nvCxnSpPr>
          <p:cNvPr id="768" name="Google Shape;768;p90"/>
          <p:cNvCxnSpPr>
            <a:endCxn id="764" idx="1"/>
          </p:cNvCxnSpPr>
          <p:nvPr/>
        </p:nvCxnSpPr>
        <p:spPr>
          <a:xfrm>
            <a:off x="1306625" y="3696575"/>
            <a:ext cx="1353000" cy="7881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69" name="Google Shape;769;p90"/>
          <p:cNvSpPr txBox="1"/>
          <p:nvPr/>
        </p:nvSpPr>
        <p:spPr>
          <a:xfrm>
            <a:off x="3992363" y="42101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70" name="Google Shape;770;p90"/>
          <p:cNvSpPr txBox="1"/>
          <p:nvPr/>
        </p:nvSpPr>
        <p:spPr>
          <a:xfrm>
            <a:off x="5553775" y="28218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71" name="Google Shape;771;p90"/>
          <p:cNvSpPr txBox="1"/>
          <p:nvPr/>
        </p:nvSpPr>
        <p:spPr>
          <a:xfrm>
            <a:off x="7149850" y="12636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5" name="Shape 775"/>
        <p:cNvGrpSpPr/>
        <p:nvPr/>
      </p:nvGrpSpPr>
      <p:grpSpPr>
        <a:xfrm>
          <a:off x="0" y="0"/>
          <a:ext cx="0" cy="0"/>
          <a:chOff x="0" y="0"/>
          <a:chExt cx="0" cy="0"/>
        </a:xfrm>
      </p:grpSpPr>
      <p:sp>
        <p:nvSpPr>
          <p:cNvPr id="776" name="Google Shape;776;p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Scenario #4 : HFT</a:t>
            </a:r>
            <a:endParaRPr>
              <a:latin typeface="Montserrat"/>
              <a:ea typeface="Montserrat"/>
              <a:cs typeface="Montserrat"/>
              <a:sym typeface="Montserrat"/>
            </a:endParaRPr>
          </a:p>
        </p:txBody>
      </p:sp>
      <p:pic>
        <p:nvPicPr>
          <p:cNvPr descr="watermark.jpg" id="777" name="Google Shape;777;p9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78" name="Google Shape;778;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779" name="Google Shape;779;p91"/>
          <p:cNvSpPr txBox="1"/>
          <p:nvPr/>
        </p:nvSpPr>
        <p:spPr>
          <a:xfrm>
            <a:off x="240175" y="3485550"/>
            <a:ext cx="1042500" cy="421800"/>
          </a:xfrm>
          <a:prstGeom prst="rect">
            <a:avLst/>
          </a:prstGeom>
          <a:noFill/>
          <a:ln cap="flat" cmpd="sng" w="38100">
            <a:solidFill>
              <a:srgbClr val="741B4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 BANK</a:t>
            </a:r>
            <a:endParaRPr b="1" sz="1800"/>
          </a:p>
        </p:txBody>
      </p:sp>
      <p:sp>
        <p:nvSpPr>
          <p:cNvPr id="780" name="Google Shape;780;p91"/>
          <p:cNvSpPr txBox="1"/>
          <p:nvPr/>
        </p:nvSpPr>
        <p:spPr>
          <a:xfrm>
            <a:off x="0" y="397772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90K Shares</a:t>
            </a:r>
            <a:endParaRPr b="1"/>
          </a:p>
        </p:txBody>
      </p:sp>
      <p:sp>
        <p:nvSpPr>
          <p:cNvPr id="781" name="Google Shape;781;p91"/>
          <p:cNvSpPr txBox="1"/>
          <p:nvPr/>
        </p:nvSpPr>
        <p:spPr>
          <a:xfrm>
            <a:off x="5881650" y="1048625"/>
            <a:ext cx="1482000" cy="1107300"/>
          </a:xfrm>
          <a:prstGeom prst="rect">
            <a:avLst/>
          </a:prstGeom>
          <a:noFill/>
          <a:ln cap="flat" cmpd="sng" w="76200">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NYSE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82" name="Google Shape;782;p91"/>
          <p:cNvSpPr txBox="1"/>
          <p:nvPr/>
        </p:nvSpPr>
        <p:spPr>
          <a:xfrm>
            <a:off x="4288225" y="2591525"/>
            <a:ext cx="1482000" cy="1107300"/>
          </a:xfrm>
          <a:prstGeom prst="rect">
            <a:avLst/>
          </a:prstGeom>
          <a:noFill/>
          <a:ln cap="flat" cmpd="sng" w="76200">
            <a:solidFill>
              <a:srgbClr val="E691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NASDAQ</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sp>
        <p:nvSpPr>
          <p:cNvPr id="783" name="Google Shape;783;p91"/>
          <p:cNvSpPr txBox="1"/>
          <p:nvPr/>
        </p:nvSpPr>
        <p:spPr>
          <a:xfrm>
            <a:off x="2659625" y="3931025"/>
            <a:ext cx="1482000" cy="1107300"/>
          </a:xfrm>
          <a:prstGeom prst="rect">
            <a:avLst/>
          </a:prstGeom>
          <a:noFill/>
          <a:ln cap="flat" cmpd="sng" w="7620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BATS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Order Book</a:t>
            </a:r>
            <a:endParaRPr b="1"/>
          </a:p>
        </p:txBody>
      </p:sp>
      <p:cxnSp>
        <p:nvCxnSpPr>
          <p:cNvPr id="784" name="Google Shape;784;p91"/>
          <p:cNvCxnSpPr>
            <a:stCxn id="779" idx="3"/>
          </p:cNvCxnSpPr>
          <p:nvPr/>
        </p:nvCxnSpPr>
        <p:spPr>
          <a:xfrm flipH="1" rot="10800000">
            <a:off x="1282675" y="1866750"/>
            <a:ext cx="2825100" cy="18297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85" name="Google Shape;785;p91"/>
          <p:cNvSpPr txBox="1"/>
          <p:nvPr/>
        </p:nvSpPr>
        <p:spPr>
          <a:xfrm>
            <a:off x="58600" y="1095150"/>
            <a:ext cx="2925600" cy="21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latin typeface="Montserrat"/>
                <a:ea typeface="Montserrat"/>
                <a:cs typeface="Montserrat"/>
                <a:sym typeface="Montserrat"/>
              </a:rPr>
              <a:t>HFT builds “colocated” servers. Literally placing their servers as close to the order book server as possible!</a:t>
            </a:r>
            <a:endParaRPr i="1" sz="1600">
              <a:latin typeface="Montserrat"/>
              <a:ea typeface="Montserrat"/>
              <a:cs typeface="Montserrat"/>
              <a:sym typeface="Montserrat"/>
            </a:endParaRPr>
          </a:p>
          <a:p>
            <a:pPr indent="0" lvl="0" marL="0" rtl="0" algn="l">
              <a:spcBef>
                <a:spcPts val="0"/>
              </a:spcBef>
              <a:spcAft>
                <a:spcPts val="0"/>
              </a:spcAft>
              <a:buNone/>
            </a:pPr>
            <a:r>
              <a:rPr i="1" lang="en" sz="1600">
                <a:latin typeface="Montserrat"/>
                <a:ea typeface="Montserrat"/>
                <a:cs typeface="Montserrat"/>
                <a:sym typeface="Montserrat"/>
              </a:rPr>
              <a:t>They can reach the NYSE in around 476 microseconds!</a:t>
            </a:r>
            <a:endParaRPr i="1" sz="1600">
              <a:latin typeface="Montserrat"/>
              <a:ea typeface="Montserrat"/>
              <a:cs typeface="Montserrat"/>
              <a:sym typeface="Montserrat"/>
            </a:endParaRPr>
          </a:p>
        </p:txBody>
      </p:sp>
      <p:cxnSp>
        <p:nvCxnSpPr>
          <p:cNvPr id="786" name="Google Shape;786;p91"/>
          <p:cNvCxnSpPr>
            <a:stCxn id="779" idx="3"/>
          </p:cNvCxnSpPr>
          <p:nvPr/>
        </p:nvCxnSpPr>
        <p:spPr>
          <a:xfrm flipH="1" rot="10800000">
            <a:off x="1282675" y="3212550"/>
            <a:ext cx="1824600" cy="483900"/>
          </a:xfrm>
          <a:prstGeom prst="curvedConnector3">
            <a:avLst>
              <a:gd fmla="val 50000" name="adj1"/>
            </a:avLst>
          </a:prstGeom>
          <a:noFill/>
          <a:ln cap="flat" cmpd="sng" w="38100">
            <a:solidFill>
              <a:schemeClr val="dk2"/>
            </a:solidFill>
            <a:prstDash val="solid"/>
            <a:round/>
            <a:headEnd len="med" w="med" type="none"/>
            <a:tailEnd len="med" w="med" type="triangle"/>
          </a:ln>
        </p:spPr>
      </p:cxnSp>
      <p:cxnSp>
        <p:nvCxnSpPr>
          <p:cNvPr id="787" name="Google Shape;787;p91"/>
          <p:cNvCxnSpPr>
            <a:endCxn id="783" idx="1"/>
          </p:cNvCxnSpPr>
          <p:nvPr/>
        </p:nvCxnSpPr>
        <p:spPr>
          <a:xfrm>
            <a:off x="1306625" y="3696575"/>
            <a:ext cx="1353000" cy="7881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788" name="Google Shape;788;p91"/>
          <p:cNvSpPr txBox="1"/>
          <p:nvPr/>
        </p:nvSpPr>
        <p:spPr>
          <a:xfrm>
            <a:off x="1571188" y="4430100"/>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89" name="Google Shape;789;p91"/>
          <p:cNvSpPr txBox="1"/>
          <p:nvPr/>
        </p:nvSpPr>
        <p:spPr>
          <a:xfrm>
            <a:off x="5553775" y="28218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90" name="Google Shape;790;p91"/>
          <p:cNvSpPr txBox="1"/>
          <p:nvPr/>
        </p:nvSpPr>
        <p:spPr>
          <a:xfrm>
            <a:off x="7149850" y="1263675"/>
            <a:ext cx="1306500" cy="54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Buy 30K Shares</a:t>
            </a:r>
            <a:endParaRPr b="1"/>
          </a:p>
        </p:txBody>
      </p:sp>
      <p:sp>
        <p:nvSpPr>
          <p:cNvPr id="791" name="Google Shape;791;p91"/>
          <p:cNvSpPr txBox="1"/>
          <p:nvPr/>
        </p:nvSpPr>
        <p:spPr>
          <a:xfrm>
            <a:off x="4707850" y="4146850"/>
            <a:ext cx="1125000" cy="801000"/>
          </a:xfrm>
          <a:prstGeom prst="rect">
            <a:avLst/>
          </a:prstGeom>
          <a:noFill/>
          <a:ln cap="flat" cmpd="sng" w="3810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t>HFT</a:t>
            </a:r>
            <a:endParaRPr b="1" sz="1200"/>
          </a:p>
          <a:p>
            <a:pPr indent="0" lvl="0" marL="0" rtl="0" algn="ctr">
              <a:spcBef>
                <a:spcPts val="0"/>
              </a:spcBef>
              <a:spcAft>
                <a:spcPts val="0"/>
              </a:spcAft>
              <a:buNone/>
            </a:pPr>
            <a:r>
              <a:rPr b="1" lang="en" sz="1200"/>
              <a:t>“Colocated” Server</a:t>
            </a:r>
            <a:endParaRPr b="1" sz="1200"/>
          </a:p>
        </p:txBody>
      </p:sp>
      <p:cxnSp>
        <p:nvCxnSpPr>
          <p:cNvPr id="792" name="Google Shape;792;p91"/>
          <p:cNvCxnSpPr>
            <a:endCxn id="791" idx="1"/>
          </p:cNvCxnSpPr>
          <p:nvPr/>
        </p:nvCxnSpPr>
        <p:spPr>
          <a:xfrm flipH="1" rot="10800000">
            <a:off x="4098550" y="4547350"/>
            <a:ext cx="609300" cy="20400"/>
          </a:xfrm>
          <a:prstGeom prst="straightConnector1">
            <a:avLst/>
          </a:prstGeom>
          <a:noFill/>
          <a:ln cap="flat" cmpd="sng" w="28575">
            <a:solidFill>
              <a:srgbClr val="CC0000"/>
            </a:solidFill>
            <a:prstDash val="solid"/>
            <a:round/>
            <a:headEnd len="med" w="med" type="stealth"/>
            <a:tailEnd len="med" w="med" type="stealth"/>
          </a:ln>
        </p:spPr>
      </p:cxnSp>
      <p:cxnSp>
        <p:nvCxnSpPr>
          <p:cNvPr id="793" name="Google Shape;793;p91"/>
          <p:cNvCxnSpPr>
            <a:endCxn id="789" idx="3"/>
          </p:cNvCxnSpPr>
          <p:nvPr/>
        </p:nvCxnSpPr>
        <p:spPr>
          <a:xfrm rot="-5400000">
            <a:off x="5620975" y="3308175"/>
            <a:ext cx="1451100" cy="1027500"/>
          </a:xfrm>
          <a:prstGeom prst="curvedConnector4">
            <a:avLst>
              <a:gd fmla="val 40542" name="adj1"/>
              <a:gd fmla="val 123175" name="adj2"/>
            </a:avLst>
          </a:prstGeom>
          <a:noFill/>
          <a:ln cap="flat" cmpd="sng" w="38100">
            <a:solidFill>
              <a:srgbClr val="CC0000"/>
            </a:solidFill>
            <a:prstDash val="solid"/>
            <a:round/>
            <a:headEnd len="med" w="med" type="none"/>
            <a:tailEnd len="med" w="med" type="triangle"/>
          </a:ln>
        </p:spPr>
      </p:cxnSp>
      <p:cxnSp>
        <p:nvCxnSpPr>
          <p:cNvPr id="794" name="Google Shape;794;p91"/>
          <p:cNvCxnSpPr>
            <a:stCxn id="791" idx="3"/>
            <a:endCxn id="790" idx="3"/>
          </p:cNvCxnSpPr>
          <p:nvPr/>
        </p:nvCxnSpPr>
        <p:spPr>
          <a:xfrm flipH="1" rot="10800000">
            <a:off x="5832850" y="1538050"/>
            <a:ext cx="2623500" cy="3009300"/>
          </a:xfrm>
          <a:prstGeom prst="curvedConnector3">
            <a:avLst>
              <a:gd fmla="val 109077" name="adj1"/>
            </a:avLst>
          </a:prstGeom>
          <a:noFill/>
          <a:ln cap="flat" cmpd="sng" w="38100">
            <a:solidFill>
              <a:srgbClr val="CC0000"/>
            </a:solidFill>
            <a:prstDash val="solid"/>
            <a:round/>
            <a:headEnd len="med" w="med" type="none"/>
            <a:tailEnd len="med" w="med" type="triangle"/>
          </a:ln>
        </p:spPr>
      </p:cxn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98" name="Shape 798"/>
        <p:cNvGrpSpPr/>
        <p:nvPr/>
      </p:nvGrpSpPr>
      <p:grpSpPr>
        <a:xfrm>
          <a:off x="0" y="0"/>
          <a:ext cx="0" cy="0"/>
          <a:chOff x="0" y="0"/>
          <a:chExt cx="0" cy="0"/>
        </a:xfrm>
      </p:grpSpPr>
      <p:sp>
        <p:nvSpPr>
          <p:cNvPr id="799" name="Google Shape;799;p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800" name="Google Shape;800;p9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01" name="Google Shape;801;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02" name="Google Shape;802;p92"/>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was a simplified overview, check out the resource links if this is a topic that interests you.</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HFT in general is not really relevant for our scale or approach to trading.</a:t>
            </a:r>
            <a:endParaRPr sz="3000">
              <a:solidFill>
                <a:srgbClr val="434343"/>
              </a:solidFill>
              <a:latin typeface="Montserrat"/>
              <a:ea typeface="Montserrat"/>
              <a:cs typeface="Montserrat"/>
              <a:sym typeface="Montserra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06" name="Shape 806"/>
        <p:cNvGrpSpPr/>
        <p:nvPr/>
      </p:nvGrpSpPr>
      <p:grpSpPr>
        <a:xfrm>
          <a:off x="0" y="0"/>
          <a:ext cx="0" cy="0"/>
          <a:chOff x="0" y="0"/>
          <a:chExt cx="0" cy="0"/>
        </a:xfrm>
      </p:grpSpPr>
      <p:sp>
        <p:nvSpPr>
          <p:cNvPr id="807" name="Google Shape;807;p93"/>
          <p:cNvSpPr txBox="1"/>
          <p:nvPr>
            <p:ph type="ctrTitle"/>
          </p:nvPr>
        </p:nvSpPr>
        <p:spPr>
          <a:xfrm>
            <a:off x="0" y="744575"/>
            <a:ext cx="9109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Short Selling</a:t>
            </a:r>
            <a:endParaRPr b="1">
              <a:latin typeface="Montserrat"/>
              <a:ea typeface="Montserrat"/>
              <a:cs typeface="Montserrat"/>
              <a:sym typeface="Montserrat"/>
            </a:endParaRPr>
          </a:p>
        </p:txBody>
      </p:sp>
      <p:sp>
        <p:nvSpPr>
          <p:cNvPr id="808" name="Google Shape;808;p9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809" name="Google Shape;809;p9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10" name="Google Shape;810;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4" name="Shape 814"/>
        <p:cNvGrpSpPr/>
        <p:nvPr/>
      </p:nvGrpSpPr>
      <p:grpSpPr>
        <a:xfrm>
          <a:off x="0" y="0"/>
          <a:ext cx="0" cy="0"/>
          <a:chOff x="0" y="0"/>
          <a:chExt cx="0" cy="0"/>
        </a:xfrm>
      </p:grpSpPr>
      <p:sp>
        <p:nvSpPr>
          <p:cNvPr id="815" name="Google Shape;815;p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816" name="Google Shape;816;p9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17" name="Google Shape;817;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18" name="Google Shape;818;p9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quickly discuss short-selling!</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Short-selling allows you to profit if a stock drops in price, however it comes with a great risk, due to the fact that there can be no ceiling to the amount of money you could possibly lose!</a:t>
            </a:r>
            <a:endParaRPr sz="3000">
              <a:solidFill>
                <a:srgbClr val="434343"/>
              </a:solidFill>
              <a:latin typeface="Montserrat"/>
              <a:ea typeface="Montserrat"/>
              <a:cs typeface="Montserrat"/>
              <a:sym typeface="Montserra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2" name="Shape 822"/>
        <p:cNvGrpSpPr/>
        <p:nvPr/>
      </p:nvGrpSpPr>
      <p:grpSpPr>
        <a:xfrm>
          <a:off x="0" y="0"/>
          <a:ext cx="0" cy="0"/>
          <a:chOff x="0" y="0"/>
          <a:chExt cx="0" cy="0"/>
        </a:xfrm>
      </p:grpSpPr>
      <p:sp>
        <p:nvSpPr>
          <p:cNvPr id="823" name="Google Shape;823;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824" name="Google Shape;824;p9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25" name="Google Shape;825;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26" name="Google Shape;826;p95"/>
          <p:cNvSpPr/>
          <p:nvPr/>
        </p:nvSpPr>
        <p:spPr>
          <a:xfrm>
            <a:off x="2176700" y="1451050"/>
            <a:ext cx="737400" cy="737400"/>
          </a:xfrm>
          <a:prstGeom prst="smileyFace">
            <a:avLst>
              <a:gd fmla="val 4653" name="adj"/>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95"/>
          <p:cNvSpPr/>
          <p:nvPr/>
        </p:nvSpPr>
        <p:spPr>
          <a:xfrm>
            <a:off x="5799150" y="1451050"/>
            <a:ext cx="737400" cy="737400"/>
          </a:xfrm>
          <a:prstGeom prst="smileyFace">
            <a:avLst>
              <a:gd fmla="val 4653"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95"/>
          <p:cNvSpPr/>
          <p:nvPr/>
        </p:nvSpPr>
        <p:spPr>
          <a:xfrm>
            <a:off x="3945825" y="33300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95"/>
          <p:cNvSpPr txBox="1"/>
          <p:nvPr/>
        </p:nvSpPr>
        <p:spPr>
          <a:xfrm>
            <a:off x="0" y="2410825"/>
            <a:ext cx="2071500" cy="19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Step 0:</a:t>
            </a:r>
            <a:r>
              <a:rPr lang="en" sz="1800">
                <a:latin typeface="Montserrat"/>
                <a:ea typeface="Montserrat"/>
                <a:cs typeface="Montserrat"/>
                <a:sym typeface="Montserrat"/>
              </a:rPr>
              <a:t> GOOG is currently valued at $500. You think it will drop in the future!</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rPr lang="en" sz="1800">
                <a:latin typeface="Montserrat"/>
                <a:ea typeface="Montserrat"/>
                <a:cs typeface="Montserrat"/>
                <a:sym typeface="Montserrat"/>
              </a:rPr>
              <a:t>RED has 10 shares of GOOG.</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p:txBody>
      </p:sp>
      <p:sp>
        <p:nvSpPr>
          <p:cNvPr id="830" name="Google Shape;830;p95"/>
          <p:cNvSpPr txBox="1"/>
          <p:nvPr/>
        </p:nvSpPr>
        <p:spPr>
          <a:xfrm>
            <a:off x="2311350" y="2118250"/>
            <a:ext cx="6378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You</a:t>
            </a:r>
            <a:endParaRPr b="1"/>
          </a:p>
        </p:txBody>
      </p:sp>
      <p:sp>
        <p:nvSpPr>
          <p:cNvPr id="831" name="Google Shape;831;p95"/>
          <p:cNvSpPr txBox="1"/>
          <p:nvPr/>
        </p:nvSpPr>
        <p:spPr>
          <a:xfrm>
            <a:off x="6489350" y="1011875"/>
            <a:ext cx="1088400" cy="572700"/>
          </a:xfrm>
          <a:prstGeom prst="rect">
            <a:avLst/>
          </a:prstGeom>
          <a:solidFill>
            <a:srgbClr val="F4CCCC"/>
          </a:solidFill>
          <a:ln cap="flat" cmpd="sng" w="9525">
            <a:solidFill>
              <a:srgbClr val="A61C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10 Shares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Of GOOG</a:t>
            </a:r>
            <a:endParaRPr b="1">
              <a:latin typeface="Montserrat"/>
              <a:ea typeface="Montserrat"/>
              <a:cs typeface="Montserrat"/>
              <a:sym typeface="Montserrat"/>
            </a:endParaRPr>
          </a:p>
        </p:txBody>
      </p:sp>
      <p:sp>
        <p:nvSpPr>
          <p:cNvPr id="832" name="Google Shape;832;p95"/>
          <p:cNvSpPr txBox="1"/>
          <p:nvPr/>
        </p:nvSpPr>
        <p:spPr>
          <a:xfrm>
            <a:off x="6858000" y="4482275"/>
            <a:ext cx="2253000" cy="608700"/>
          </a:xfrm>
          <a:prstGeom prst="rect">
            <a:avLst/>
          </a:prstGeom>
          <a:noFill/>
          <a:ln cap="flat" cmpd="sng" w="38100">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Current Price of GOOG</a:t>
            </a:r>
            <a:endParaRPr b="1"/>
          </a:p>
          <a:p>
            <a:pPr indent="0" lvl="0" marL="0" rtl="0" algn="ctr">
              <a:spcBef>
                <a:spcPts val="0"/>
              </a:spcBef>
              <a:spcAft>
                <a:spcPts val="0"/>
              </a:spcAft>
              <a:buNone/>
            </a:pPr>
            <a:r>
              <a:rPr b="1" lang="en"/>
              <a:t>$500</a:t>
            </a:r>
            <a:endParaRPr b="1"/>
          </a:p>
        </p:txBody>
      </p:sp>
      <p:sp>
        <p:nvSpPr>
          <p:cNvPr id="833" name="Google Shape;833;p95"/>
          <p:cNvSpPr txBox="1"/>
          <p:nvPr/>
        </p:nvSpPr>
        <p:spPr>
          <a:xfrm>
            <a:off x="4771400" y="3163825"/>
            <a:ext cx="1156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The Market</a:t>
            </a:r>
            <a:endParaRPr b="1"/>
          </a:p>
        </p:txBody>
      </p:sp>
      <p:sp>
        <p:nvSpPr>
          <p:cNvPr id="834" name="Google Shape;834;p95"/>
          <p:cNvSpPr/>
          <p:nvPr/>
        </p:nvSpPr>
        <p:spPr>
          <a:xfrm>
            <a:off x="4303050" y="35058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95"/>
          <p:cNvSpPr/>
          <p:nvPr/>
        </p:nvSpPr>
        <p:spPr>
          <a:xfrm>
            <a:off x="4730450" y="36219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39" name="Shape 839"/>
        <p:cNvGrpSpPr/>
        <p:nvPr/>
      </p:nvGrpSpPr>
      <p:grpSpPr>
        <a:xfrm>
          <a:off x="0" y="0"/>
          <a:ext cx="0" cy="0"/>
          <a:chOff x="0" y="0"/>
          <a:chExt cx="0" cy="0"/>
        </a:xfrm>
      </p:grpSpPr>
      <p:sp>
        <p:nvSpPr>
          <p:cNvPr id="840" name="Google Shape;840;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841" name="Google Shape;841;p9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42" name="Google Shape;842;p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43" name="Google Shape;843;p96"/>
          <p:cNvSpPr/>
          <p:nvPr/>
        </p:nvSpPr>
        <p:spPr>
          <a:xfrm>
            <a:off x="2176700" y="1451050"/>
            <a:ext cx="737400" cy="737400"/>
          </a:xfrm>
          <a:prstGeom prst="smileyFace">
            <a:avLst>
              <a:gd fmla="val 4653" name="adj"/>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6"/>
          <p:cNvSpPr/>
          <p:nvPr/>
        </p:nvSpPr>
        <p:spPr>
          <a:xfrm>
            <a:off x="5799150" y="1451050"/>
            <a:ext cx="737400" cy="737400"/>
          </a:xfrm>
          <a:prstGeom prst="smileyFace">
            <a:avLst>
              <a:gd fmla="val 4653"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96"/>
          <p:cNvSpPr/>
          <p:nvPr/>
        </p:nvSpPr>
        <p:spPr>
          <a:xfrm>
            <a:off x="3945825" y="33300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6" name="Google Shape;846;p96"/>
          <p:cNvCxnSpPr>
            <a:stCxn id="844" idx="2"/>
            <a:endCxn id="843" idx="6"/>
          </p:cNvCxnSpPr>
          <p:nvPr/>
        </p:nvCxnSpPr>
        <p:spPr>
          <a:xfrm flipH="1">
            <a:off x="2914050" y="1819750"/>
            <a:ext cx="2885100" cy="600"/>
          </a:xfrm>
          <a:prstGeom prst="curvedConnector3">
            <a:avLst>
              <a:gd fmla="val 49999" name="adj1"/>
            </a:avLst>
          </a:prstGeom>
          <a:noFill/>
          <a:ln cap="flat" cmpd="sng" w="28575">
            <a:solidFill>
              <a:schemeClr val="dk2"/>
            </a:solidFill>
            <a:prstDash val="solid"/>
            <a:round/>
            <a:headEnd len="med" w="med" type="none"/>
            <a:tailEnd len="med" w="med" type="triangle"/>
          </a:ln>
        </p:spPr>
      </p:cxnSp>
      <p:sp>
        <p:nvSpPr>
          <p:cNvPr id="847" name="Google Shape;847;p96"/>
          <p:cNvSpPr txBox="1"/>
          <p:nvPr/>
        </p:nvSpPr>
        <p:spPr>
          <a:xfrm>
            <a:off x="0" y="2410825"/>
            <a:ext cx="2071500" cy="19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Step 1:</a:t>
            </a:r>
            <a:r>
              <a:rPr lang="en" sz="1800">
                <a:latin typeface="Montserrat"/>
                <a:ea typeface="Montserrat"/>
                <a:cs typeface="Montserrat"/>
                <a:sym typeface="Montserrat"/>
              </a:rPr>
              <a:t> You borrow RED’s shares of GOOG.</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rPr lang="en" sz="1800">
                <a:latin typeface="Montserrat"/>
                <a:ea typeface="Montserrat"/>
                <a:cs typeface="Montserrat"/>
                <a:sym typeface="Montserrat"/>
              </a:rPr>
              <a:t>Promise to return them at a future date!</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p:txBody>
      </p:sp>
      <p:sp>
        <p:nvSpPr>
          <p:cNvPr id="848" name="Google Shape;848;p96"/>
          <p:cNvSpPr txBox="1"/>
          <p:nvPr/>
        </p:nvSpPr>
        <p:spPr>
          <a:xfrm>
            <a:off x="2311350" y="2118250"/>
            <a:ext cx="6378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You</a:t>
            </a:r>
            <a:endParaRPr b="1"/>
          </a:p>
        </p:txBody>
      </p:sp>
      <p:sp>
        <p:nvSpPr>
          <p:cNvPr id="849" name="Google Shape;849;p96"/>
          <p:cNvSpPr txBox="1"/>
          <p:nvPr/>
        </p:nvSpPr>
        <p:spPr>
          <a:xfrm>
            <a:off x="6858000" y="4482275"/>
            <a:ext cx="2253000" cy="608700"/>
          </a:xfrm>
          <a:prstGeom prst="rect">
            <a:avLst/>
          </a:prstGeom>
          <a:noFill/>
          <a:ln cap="flat" cmpd="sng" w="38100">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Current Price of GOOG</a:t>
            </a:r>
            <a:endParaRPr b="1"/>
          </a:p>
          <a:p>
            <a:pPr indent="0" lvl="0" marL="0" rtl="0" algn="ctr">
              <a:spcBef>
                <a:spcPts val="0"/>
              </a:spcBef>
              <a:spcAft>
                <a:spcPts val="0"/>
              </a:spcAft>
              <a:buNone/>
            </a:pPr>
            <a:r>
              <a:rPr b="1" lang="en"/>
              <a:t>$500</a:t>
            </a:r>
            <a:endParaRPr b="1"/>
          </a:p>
        </p:txBody>
      </p:sp>
      <p:sp>
        <p:nvSpPr>
          <p:cNvPr id="850" name="Google Shape;850;p96"/>
          <p:cNvSpPr txBox="1"/>
          <p:nvPr/>
        </p:nvSpPr>
        <p:spPr>
          <a:xfrm>
            <a:off x="1088300" y="1057775"/>
            <a:ext cx="1088400" cy="572700"/>
          </a:xfrm>
          <a:prstGeom prst="rect">
            <a:avLst/>
          </a:prstGeom>
          <a:solidFill>
            <a:srgbClr val="F4CCCC"/>
          </a:solidFill>
          <a:ln cap="flat" cmpd="sng" w="9525">
            <a:solidFill>
              <a:srgbClr val="A61C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10 Shares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Of GOOG</a:t>
            </a:r>
            <a:endParaRPr b="1">
              <a:latin typeface="Montserrat"/>
              <a:ea typeface="Montserrat"/>
              <a:cs typeface="Montserrat"/>
              <a:sym typeface="Montserrat"/>
            </a:endParaRPr>
          </a:p>
        </p:txBody>
      </p:sp>
      <p:sp>
        <p:nvSpPr>
          <p:cNvPr id="851" name="Google Shape;851;p96"/>
          <p:cNvSpPr txBox="1"/>
          <p:nvPr/>
        </p:nvSpPr>
        <p:spPr>
          <a:xfrm>
            <a:off x="4771400" y="3163825"/>
            <a:ext cx="1156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The Market</a:t>
            </a:r>
            <a:endParaRPr b="1"/>
          </a:p>
        </p:txBody>
      </p:sp>
      <p:sp>
        <p:nvSpPr>
          <p:cNvPr id="852" name="Google Shape;852;p96"/>
          <p:cNvSpPr/>
          <p:nvPr/>
        </p:nvSpPr>
        <p:spPr>
          <a:xfrm>
            <a:off x="4303050" y="35058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96"/>
          <p:cNvSpPr/>
          <p:nvPr/>
        </p:nvSpPr>
        <p:spPr>
          <a:xfrm>
            <a:off x="4730450" y="36219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7" name="Shape 857"/>
        <p:cNvGrpSpPr/>
        <p:nvPr/>
      </p:nvGrpSpPr>
      <p:grpSpPr>
        <a:xfrm>
          <a:off x="0" y="0"/>
          <a:ext cx="0" cy="0"/>
          <a:chOff x="0" y="0"/>
          <a:chExt cx="0" cy="0"/>
        </a:xfrm>
      </p:grpSpPr>
      <p:sp>
        <p:nvSpPr>
          <p:cNvPr id="858" name="Google Shape;858;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859" name="Google Shape;859;p9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60" name="Google Shape;860;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61" name="Google Shape;861;p97"/>
          <p:cNvSpPr/>
          <p:nvPr/>
        </p:nvSpPr>
        <p:spPr>
          <a:xfrm>
            <a:off x="2176700" y="1451050"/>
            <a:ext cx="737400" cy="737400"/>
          </a:xfrm>
          <a:prstGeom prst="smileyFace">
            <a:avLst>
              <a:gd fmla="val 4653" name="adj"/>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97"/>
          <p:cNvSpPr/>
          <p:nvPr/>
        </p:nvSpPr>
        <p:spPr>
          <a:xfrm>
            <a:off x="5799150" y="1451050"/>
            <a:ext cx="737400" cy="737400"/>
          </a:xfrm>
          <a:prstGeom prst="smileyFace">
            <a:avLst>
              <a:gd fmla="val 4653"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97"/>
          <p:cNvSpPr/>
          <p:nvPr/>
        </p:nvSpPr>
        <p:spPr>
          <a:xfrm>
            <a:off x="3945825" y="33300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4" name="Google Shape;864;p97"/>
          <p:cNvCxnSpPr>
            <a:stCxn id="863" idx="1"/>
          </p:cNvCxnSpPr>
          <p:nvPr/>
        </p:nvCxnSpPr>
        <p:spPr>
          <a:xfrm flipH="1" rot="5400000">
            <a:off x="2759765" y="2143965"/>
            <a:ext cx="1366500" cy="1221600"/>
          </a:xfrm>
          <a:prstGeom prst="curvedConnector3">
            <a:avLst>
              <a:gd fmla="val 53951" name="adj1"/>
            </a:avLst>
          </a:prstGeom>
          <a:noFill/>
          <a:ln cap="flat" cmpd="sng" w="28575">
            <a:solidFill>
              <a:srgbClr val="274E13"/>
            </a:solidFill>
            <a:prstDash val="solid"/>
            <a:round/>
            <a:headEnd len="med" w="med" type="triangle"/>
            <a:tailEnd len="med" w="med" type="triangle"/>
          </a:ln>
        </p:spPr>
      </p:cxnSp>
      <p:sp>
        <p:nvSpPr>
          <p:cNvPr id="865" name="Google Shape;865;p97"/>
          <p:cNvSpPr txBox="1"/>
          <p:nvPr/>
        </p:nvSpPr>
        <p:spPr>
          <a:xfrm>
            <a:off x="0" y="2410825"/>
            <a:ext cx="2205900" cy="19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Step 2:</a:t>
            </a:r>
            <a:r>
              <a:rPr lang="en" sz="1800">
                <a:latin typeface="Montserrat"/>
                <a:ea typeface="Montserrat"/>
                <a:cs typeface="Montserrat"/>
                <a:sym typeface="Montserrat"/>
              </a:rPr>
              <a:t> You now go and sell them out in the market.</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rPr lang="en" sz="1800">
                <a:latin typeface="Montserrat"/>
                <a:ea typeface="Montserrat"/>
                <a:cs typeface="Montserrat"/>
                <a:sym typeface="Montserrat"/>
              </a:rPr>
              <a:t>$500*10 = $5000</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p:txBody>
      </p:sp>
      <p:sp>
        <p:nvSpPr>
          <p:cNvPr id="866" name="Google Shape;866;p97"/>
          <p:cNvSpPr txBox="1"/>
          <p:nvPr/>
        </p:nvSpPr>
        <p:spPr>
          <a:xfrm>
            <a:off x="2311350" y="2118250"/>
            <a:ext cx="6378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You</a:t>
            </a:r>
            <a:endParaRPr b="1"/>
          </a:p>
        </p:txBody>
      </p:sp>
      <p:sp>
        <p:nvSpPr>
          <p:cNvPr id="867" name="Google Shape;867;p97"/>
          <p:cNvSpPr txBox="1"/>
          <p:nvPr/>
        </p:nvSpPr>
        <p:spPr>
          <a:xfrm>
            <a:off x="6858000" y="4482275"/>
            <a:ext cx="2253000" cy="608700"/>
          </a:xfrm>
          <a:prstGeom prst="rect">
            <a:avLst/>
          </a:prstGeom>
          <a:noFill/>
          <a:ln cap="flat" cmpd="sng" w="38100">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Current Price of GOOG</a:t>
            </a:r>
            <a:endParaRPr b="1"/>
          </a:p>
          <a:p>
            <a:pPr indent="0" lvl="0" marL="0" rtl="0" algn="ctr">
              <a:spcBef>
                <a:spcPts val="0"/>
              </a:spcBef>
              <a:spcAft>
                <a:spcPts val="0"/>
              </a:spcAft>
              <a:buNone/>
            </a:pPr>
            <a:r>
              <a:rPr b="1" lang="en"/>
              <a:t>$500</a:t>
            </a:r>
            <a:endParaRPr b="1"/>
          </a:p>
        </p:txBody>
      </p:sp>
      <p:sp>
        <p:nvSpPr>
          <p:cNvPr id="868" name="Google Shape;868;p97"/>
          <p:cNvSpPr txBox="1"/>
          <p:nvPr/>
        </p:nvSpPr>
        <p:spPr>
          <a:xfrm>
            <a:off x="3812400" y="4123975"/>
            <a:ext cx="1088400" cy="572700"/>
          </a:xfrm>
          <a:prstGeom prst="rect">
            <a:avLst/>
          </a:prstGeom>
          <a:solidFill>
            <a:srgbClr val="F4CCCC"/>
          </a:solidFill>
          <a:ln cap="flat" cmpd="sng" w="9525">
            <a:solidFill>
              <a:srgbClr val="A61C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10 Shares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Of GOOG</a:t>
            </a:r>
            <a:endParaRPr b="1">
              <a:latin typeface="Montserrat"/>
              <a:ea typeface="Montserrat"/>
              <a:cs typeface="Montserrat"/>
              <a:sym typeface="Montserrat"/>
            </a:endParaRPr>
          </a:p>
        </p:txBody>
      </p:sp>
      <p:sp>
        <p:nvSpPr>
          <p:cNvPr id="869" name="Google Shape;869;p97"/>
          <p:cNvSpPr txBox="1"/>
          <p:nvPr/>
        </p:nvSpPr>
        <p:spPr>
          <a:xfrm>
            <a:off x="1003925" y="1533400"/>
            <a:ext cx="1088400" cy="3681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$5000</a:t>
            </a:r>
            <a:endParaRPr b="1">
              <a:latin typeface="Montserrat"/>
              <a:ea typeface="Montserrat"/>
              <a:cs typeface="Montserrat"/>
              <a:sym typeface="Montserrat"/>
            </a:endParaRPr>
          </a:p>
        </p:txBody>
      </p:sp>
      <p:sp>
        <p:nvSpPr>
          <p:cNvPr id="870" name="Google Shape;870;p97"/>
          <p:cNvSpPr txBox="1"/>
          <p:nvPr/>
        </p:nvSpPr>
        <p:spPr>
          <a:xfrm>
            <a:off x="4771400" y="3163825"/>
            <a:ext cx="1156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The Market</a:t>
            </a:r>
            <a:endParaRPr b="1"/>
          </a:p>
        </p:txBody>
      </p:sp>
      <p:sp>
        <p:nvSpPr>
          <p:cNvPr id="871" name="Google Shape;871;p97"/>
          <p:cNvSpPr/>
          <p:nvPr/>
        </p:nvSpPr>
        <p:spPr>
          <a:xfrm>
            <a:off x="4303050" y="35058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97"/>
          <p:cNvSpPr/>
          <p:nvPr/>
        </p:nvSpPr>
        <p:spPr>
          <a:xfrm>
            <a:off x="4730450" y="36219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6" name="Shape 876"/>
        <p:cNvGrpSpPr/>
        <p:nvPr/>
      </p:nvGrpSpPr>
      <p:grpSpPr>
        <a:xfrm>
          <a:off x="0" y="0"/>
          <a:ext cx="0" cy="0"/>
          <a:chOff x="0" y="0"/>
          <a:chExt cx="0" cy="0"/>
        </a:xfrm>
      </p:grpSpPr>
      <p:sp>
        <p:nvSpPr>
          <p:cNvPr id="877" name="Google Shape;877;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878" name="Google Shape;878;p9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79" name="Google Shape;879;p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880" name="Google Shape;880;p98"/>
          <p:cNvSpPr/>
          <p:nvPr/>
        </p:nvSpPr>
        <p:spPr>
          <a:xfrm>
            <a:off x="2176700" y="1451050"/>
            <a:ext cx="737400" cy="737400"/>
          </a:xfrm>
          <a:prstGeom prst="smileyFace">
            <a:avLst>
              <a:gd fmla="val 4653" name="adj"/>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98"/>
          <p:cNvSpPr/>
          <p:nvPr/>
        </p:nvSpPr>
        <p:spPr>
          <a:xfrm>
            <a:off x="5799150" y="1451050"/>
            <a:ext cx="737400" cy="737400"/>
          </a:xfrm>
          <a:prstGeom prst="smileyFace">
            <a:avLst>
              <a:gd fmla="val 4653"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98"/>
          <p:cNvSpPr/>
          <p:nvPr/>
        </p:nvSpPr>
        <p:spPr>
          <a:xfrm>
            <a:off x="3945825" y="33300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98"/>
          <p:cNvSpPr txBox="1"/>
          <p:nvPr/>
        </p:nvSpPr>
        <p:spPr>
          <a:xfrm>
            <a:off x="0" y="2410825"/>
            <a:ext cx="2205900" cy="19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Step 3:</a:t>
            </a:r>
            <a:r>
              <a:rPr lang="en" sz="1800">
                <a:latin typeface="Montserrat"/>
                <a:ea typeface="Montserrat"/>
                <a:cs typeface="Montserrat"/>
                <a:sym typeface="Montserrat"/>
              </a:rPr>
              <a:t> The price of google has now dropped to $100.</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rPr lang="en" sz="1800">
                <a:latin typeface="Montserrat"/>
                <a:ea typeface="Montserrat"/>
                <a:cs typeface="Montserrat"/>
                <a:sym typeface="Montserrat"/>
              </a:rPr>
              <a:t>You go out and buy 10 Shares for $1000.</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p:txBody>
      </p:sp>
      <p:sp>
        <p:nvSpPr>
          <p:cNvPr id="884" name="Google Shape;884;p98"/>
          <p:cNvSpPr txBox="1"/>
          <p:nvPr/>
        </p:nvSpPr>
        <p:spPr>
          <a:xfrm>
            <a:off x="2311350" y="2118250"/>
            <a:ext cx="6378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You</a:t>
            </a:r>
            <a:endParaRPr b="1"/>
          </a:p>
        </p:txBody>
      </p:sp>
      <p:sp>
        <p:nvSpPr>
          <p:cNvPr id="885" name="Google Shape;885;p98"/>
          <p:cNvSpPr txBox="1"/>
          <p:nvPr/>
        </p:nvSpPr>
        <p:spPr>
          <a:xfrm>
            <a:off x="6858000" y="4482275"/>
            <a:ext cx="2253000" cy="608700"/>
          </a:xfrm>
          <a:prstGeom prst="rect">
            <a:avLst/>
          </a:prstGeom>
          <a:noFill/>
          <a:ln cap="flat" cmpd="sng" w="38100">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Current Price of GOOG</a:t>
            </a:r>
            <a:endParaRPr b="1"/>
          </a:p>
          <a:p>
            <a:pPr indent="0" lvl="0" marL="0" rtl="0" algn="ctr">
              <a:spcBef>
                <a:spcPts val="0"/>
              </a:spcBef>
              <a:spcAft>
                <a:spcPts val="0"/>
              </a:spcAft>
              <a:buNone/>
            </a:pPr>
            <a:r>
              <a:rPr b="1" lang="en"/>
              <a:t>$100</a:t>
            </a:r>
            <a:endParaRPr b="1"/>
          </a:p>
        </p:txBody>
      </p:sp>
      <p:sp>
        <p:nvSpPr>
          <p:cNvPr id="886" name="Google Shape;886;p98"/>
          <p:cNvSpPr txBox="1"/>
          <p:nvPr/>
        </p:nvSpPr>
        <p:spPr>
          <a:xfrm>
            <a:off x="3812400" y="4123975"/>
            <a:ext cx="1088400" cy="572700"/>
          </a:xfrm>
          <a:prstGeom prst="rect">
            <a:avLst/>
          </a:prstGeom>
          <a:solidFill>
            <a:srgbClr val="F4CCCC"/>
          </a:solidFill>
          <a:ln cap="flat" cmpd="sng" w="9525">
            <a:solidFill>
              <a:srgbClr val="A61C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10 Shares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Of GOOG</a:t>
            </a:r>
            <a:endParaRPr b="1">
              <a:latin typeface="Montserrat"/>
              <a:ea typeface="Montserrat"/>
              <a:cs typeface="Montserrat"/>
              <a:sym typeface="Montserrat"/>
            </a:endParaRPr>
          </a:p>
        </p:txBody>
      </p:sp>
      <p:sp>
        <p:nvSpPr>
          <p:cNvPr id="887" name="Google Shape;887;p98"/>
          <p:cNvSpPr txBox="1"/>
          <p:nvPr/>
        </p:nvSpPr>
        <p:spPr>
          <a:xfrm>
            <a:off x="998075" y="1234975"/>
            <a:ext cx="1088400" cy="3681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$4000</a:t>
            </a:r>
            <a:endParaRPr b="1">
              <a:latin typeface="Montserrat"/>
              <a:ea typeface="Montserrat"/>
              <a:cs typeface="Montserrat"/>
              <a:sym typeface="Montserrat"/>
            </a:endParaRPr>
          </a:p>
        </p:txBody>
      </p:sp>
      <p:sp>
        <p:nvSpPr>
          <p:cNvPr id="888" name="Google Shape;888;p98"/>
          <p:cNvSpPr txBox="1"/>
          <p:nvPr/>
        </p:nvSpPr>
        <p:spPr>
          <a:xfrm>
            <a:off x="998075" y="1748525"/>
            <a:ext cx="1088400" cy="572700"/>
          </a:xfrm>
          <a:prstGeom prst="rect">
            <a:avLst/>
          </a:prstGeom>
          <a:solidFill>
            <a:srgbClr val="F4CCCC"/>
          </a:solidFill>
          <a:ln cap="flat" cmpd="sng" w="9525">
            <a:solidFill>
              <a:srgbClr val="A61C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10 Shares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Of GOOG</a:t>
            </a:r>
            <a:endParaRPr b="1">
              <a:latin typeface="Montserrat"/>
              <a:ea typeface="Montserrat"/>
              <a:cs typeface="Montserrat"/>
              <a:sym typeface="Montserrat"/>
            </a:endParaRPr>
          </a:p>
        </p:txBody>
      </p:sp>
      <p:sp>
        <p:nvSpPr>
          <p:cNvPr id="889" name="Google Shape;889;p98"/>
          <p:cNvSpPr txBox="1"/>
          <p:nvPr/>
        </p:nvSpPr>
        <p:spPr>
          <a:xfrm>
            <a:off x="0" y="1850825"/>
            <a:ext cx="890100" cy="3681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a:t>
            </a:r>
            <a:r>
              <a:rPr lang="en">
                <a:latin typeface="Montserrat"/>
                <a:ea typeface="Montserrat"/>
                <a:cs typeface="Montserrat"/>
                <a:sym typeface="Montserrat"/>
              </a:rPr>
              <a:t>$1000</a:t>
            </a:r>
            <a:endParaRPr>
              <a:latin typeface="Montserrat"/>
              <a:ea typeface="Montserrat"/>
              <a:cs typeface="Montserrat"/>
              <a:sym typeface="Montserrat"/>
            </a:endParaRPr>
          </a:p>
        </p:txBody>
      </p:sp>
      <p:sp>
        <p:nvSpPr>
          <p:cNvPr id="890" name="Google Shape;890;p98"/>
          <p:cNvSpPr txBox="1"/>
          <p:nvPr/>
        </p:nvSpPr>
        <p:spPr>
          <a:xfrm>
            <a:off x="4771400" y="3163825"/>
            <a:ext cx="1156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The Market</a:t>
            </a:r>
            <a:endParaRPr b="1"/>
          </a:p>
        </p:txBody>
      </p:sp>
      <p:sp>
        <p:nvSpPr>
          <p:cNvPr id="891" name="Google Shape;891;p98"/>
          <p:cNvSpPr/>
          <p:nvPr/>
        </p:nvSpPr>
        <p:spPr>
          <a:xfrm>
            <a:off x="4303050" y="35058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98"/>
          <p:cNvSpPr/>
          <p:nvPr/>
        </p:nvSpPr>
        <p:spPr>
          <a:xfrm>
            <a:off x="4730450" y="36219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6" name="Shape 896"/>
        <p:cNvGrpSpPr/>
        <p:nvPr/>
      </p:nvGrpSpPr>
      <p:grpSpPr>
        <a:xfrm>
          <a:off x="0" y="0"/>
          <a:ext cx="0" cy="0"/>
          <a:chOff x="0" y="0"/>
          <a:chExt cx="0" cy="0"/>
        </a:xfrm>
      </p:grpSpPr>
      <p:sp>
        <p:nvSpPr>
          <p:cNvPr id="897" name="Google Shape;897;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898" name="Google Shape;898;p9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99" name="Google Shape;899;p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00" name="Google Shape;900;p99"/>
          <p:cNvSpPr/>
          <p:nvPr/>
        </p:nvSpPr>
        <p:spPr>
          <a:xfrm>
            <a:off x="2176700" y="1451050"/>
            <a:ext cx="737400" cy="737400"/>
          </a:xfrm>
          <a:prstGeom prst="smileyFace">
            <a:avLst>
              <a:gd fmla="val 4653" name="adj"/>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99"/>
          <p:cNvSpPr/>
          <p:nvPr/>
        </p:nvSpPr>
        <p:spPr>
          <a:xfrm>
            <a:off x="5799150" y="1451050"/>
            <a:ext cx="737400" cy="737400"/>
          </a:xfrm>
          <a:prstGeom prst="smileyFace">
            <a:avLst>
              <a:gd fmla="val 4653"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99"/>
          <p:cNvSpPr/>
          <p:nvPr/>
        </p:nvSpPr>
        <p:spPr>
          <a:xfrm>
            <a:off x="3945825" y="33300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99"/>
          <p:cNvSpPr txBox="1"/>
          <p:nvPr/>
        </p:nvSpPr>
        <p:spPr>
          <a:xfrm>
            <a:off x="0" y="2410825"/>
            <a:ext cx="2205900" cy="19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Step 4:</a:t>
            </a:r>
            <a:r>
              <a:rPr lang="en" sz="1800">
                <a:latin typeface="Montserrat"/>
                <a:ea typeface="Montserrat"/>
                <a:cs typeface="Montserrat"/>
                <a:sym typeface="Montserrat"/>
              </a:rPr>
              <a:t> Now you can give back the 10 Shares you owe back to RED.</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rPr lang="en" sz="1800">
                <a:latin typeface="Montserrat"/>
                <a:ea typeface="Montserrat"/>
                <a:cs typeface="Montserrat"/>
                <a:sym typeface="Montserrat"/>
              </a:rPr>
              <a:t>And you’ve made $4000!</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p:txBody>
      </p:sp>
      <p:sp>
        <p:nvSpPr>
          <p:cNvPr id="904" name="Google Shape;904;p99"/>
          <p:cNvSpPr txBox="1"/>
          <p:nvPr/>
        </p:nvSpPr>
        <p:spPr>
          <a:xfrm>
            <a:off x="2311350" y="2118250"/>
            <a:ext cx="6378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You</a:t>
            </a:r>
            <a:endParaRPr b="1"/>
          </a:p>
        </p:txBody>
      </p:sp>
      <p:sp>
        <p:nvSpPr>
          <p:cNvPr id="905" name="Google Shape;905;p99"/>
          <p:cNvSpPr txBox="1"/>
          <p:nvPr/>
        </p:nvSpPr>
        <p:spPr>
          <a:xfrm>
            <a:off x="6858000" y="4482275"/>
            <a:ext cx="2253000" cy="608700"/>
          </a:xfrm>
          <a:prstGeom prst="rect">
            <a:avLst/>
          </a:prstGeom>
          <a:noFill/>
          <a:ln cap="flat" cmpd="sng" w="38100">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Current Price of GOOG</a:t>
            </a:r>
            <a:endParaRPr b="1"/>
          </a:p>
          <a:p>
            <a:pPr indent="0" lvl="0" marL="0" rtl="0" algn="ctr">
              <a:spcBef>
                <a:spcPts val="0"/>
              </a:spcBef>
              <a:spcAft>
                <a:spcPts val="0"/>
              </a:spcAft>
              <a:buNone/>
            </a:pPr>
            <a:r>
              <a:rPr b="1" lang="en"/>
              <a:t>$100</a:t>
            </a:r>
            <a:endParaRPr b="1"/>
          </a:p>
        </p:txBody>
      </p:sp>
      <p:sp>
        <p:nvSpPr>
          <p:cNvPr id="906" name="Google Shape;906;p99"/>
          <p:cNvSpPr txBox="1"/>
          <p:nvPr/>
        </p:nvSpPr>
        <p:spPr>
          <a:xfrm>
            <a:off x="3812400" y="4123975"/>
            <a:ext cx="1088400" cy="572700"/>
          </a:xfrm>
          <a:prstGeom prst="rect">
            <a:avLst/>
          </a:prstGeom>
          <a:solidFill>
            <a:srgbClr val="F4CCCC"/>
          </a:solidFill>
          <a:ln cap="flat" cmpd="sng" w="9525">
            <a:solidFill>
              <a:srgbClr val="A61C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10 Shares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Of GOOG</a:t>
            </a:r>
            <a:endParaRPr b="1">
              <a:latin typeface="Montserrat"/>
              <a:ea typeface="Montserrat"/>
              <a:cs typeface="Montserrat"/>
              <a:sym typeface="Montserrat"/>
            </a:endParaRPr>
          </a:p>
        </p:txBody>
      </p:sp>
      <p:sp>
        <p:nvSpPr>
          <p:cNvPr id="907" name="Google Shape;907;p99"/>
          <p:cNvSpPr txBox="1"/>
          <p:nvPr/>
        </p:nvSpPr>
        <p:spPr>
          <a:xfrm>
            <a:off x="998075" y="1234975"/>
            <a:ext cx="1088400" cy="3681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$4000</a:t>
            </a:r>
            <a:endParaRPr b="1">
              <a:latin typeface="Montserrat"/>
              <a:ea typeface="Montserrat"/>
              <a:cs typeface="Montserrat"/>
              <a:sym typeface="Montserrat"/>
            </a:endParaRPr>
          </a:p>
        </p:txBody>
      </p:sp>
      <p:sp>
        <p:nvSpPr>
          <p:cNvPr id="908" name="Google Shape;908;p99"/>
          <p:cNvSpPr txBox="1"/>
          <p:nvPr/>
        </p:nvSpPr>
        <p:spPr>
          <a:xfrm>
            <a:off x="6858000" y="1542250"/>
            <a:ext cx="1088400" cy="572700"/>
          </a:xfrm>
          <a:prstGeom prst="rect">
            <a:avLst/>
          </a:prstGeom>
          <a:solidFill>
            <a:srgbClr val="F4CCCC"/>
          </a:solidFill>
          <a:ln cap="flat" cmpd="sng" w="9525">
            <a:solidFill>
              <a:srgbClr val="A61C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10 Shares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Of GOOG</a:t>
            </a:r>
            <a:endParaRPr b="1">
              <a:latin typeface="Montserrat"/>
              <a:ea typeface="Montserrat"/>
              <a:cs typeface="Montserrat"/>
              <a:sym typeface="Montserrat"/>
            </a:endParaRPr>
          </a:p>
        </p:txBody>
      </p:sp>
      <p:sp>
        <p:nvSpPr>
          <p:cNvPr id="909" name="Google Shape;909;p99"/>
          <p:cNvSpPr txBox="1"/>
          <p:nvPr/>
        </p:nvSpPr>
        <p:spPr>
          <a:xfrm>
            <a:off x="0" y="1850825"/>
            <a:ext cx="890100" cy="3681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-$1000</a:t>
            </a:r>
            <a:endParaRPr>
              <a:latin typeface="Montserrat"/>
              <a:ea typeface="Montserrat"/>
              <a:cs typeface="Montserrat"/>
              <a:sym typeface="Montserrat"/>
            </a:endParaRPr>
          </a:p>
        </p:txBody>
      </p:sp>
      <p:cxnSp>
        <p:nvCxnSpPr>
          <p:cNvPr id="910" name="Google Shape;910;p99"/>
          <p:cNvCxnSpPr>
            <a:endCxn id="901" idx="2"/>
          </p:cNvCxnSpPr>
          <p:nvPr/>
        </p:nvCxnSpPr>
        <p:spPr>
          <a:xfrm flipH="1" rot="10800000">
            <a:off x="2902350" y="1819750"/>
            <a:ext cx="2896800" cy="17700"/>
          </a:xfrm>
          <a:prstGeom prst="straightConnector1">
            <a:avLst/>
          </a:prstGeom>
          <a:noFill/>
          <a:ln cap="flat" cmpd="sng" w="28575">
            <a:solidFill>
              <a:schemeClr val="dk2"/>
            </a:solidFill>
            <a:prstDash val="solid"/>
            <a:round/>
            <a:headEnd len="med" w="med" type="none"/>
            <a:tailEnd len="med" w="med" type="triangle"/>
          </a:ln>
        </p:spPr>
      </p:cxnSp>
      <p:sp>
        <p:nvSpPr>
          <p:cNvPr id="911" name="Google Shape;911;p99"/>
          <p:cNvSpPr txBox="1"/>
          <p:nvPr/>
        </p:nvSpPr>
        <p:spPr>
          <a:xfrm>
            <a:off x="4771400" y="3163825"/>
            <a:ext cx="11562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The Market</a:t>
            </a:r>
            <a:endParaRPr b="1"/>
          </a:p>
        </p:txBody>
      </p:sp>
      <p:sp>
        <p:nvSpPr>
          <p:cNvPr id="912" name="Google Shape;912;p99"/>
          <p:cNvSpPr/>
          <p:nvPr/>
        </p:nvSpPr>
        <p:spPr>
          <a:xfrm>
            <a:off x="4303050" y="35058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99"/>
          <p:cNvSpPr/>
          <p:nvPr/>
        </p:nvSpPr>
        <p:spPr>
          <a:xfrm>
            <a:off x="4730450" y="3621925"/>
            <a:ext cx="737400" cy="737400"/>
          </a:xfrm>
          <a:prstGeom prst="smileyFace">
            <a:avLst>
              <a:gd fmla="val 4653"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7" name="Shape 917"/>
        <p:cNvGrpSpPr/>
        <p:nvPr/>
      </p:nvGrpSpPr>
      <p:grpSpPr>
        <a:xfrm>
          <a:off x="0" y="0"/>
          <a:ext cx="0" cy="0"/>
          <a:chOff x="0" y="0"/>
          <a:chExt cx="0" cy="0"/>
        </a:xfrm>
      </p:grpSpPr>
      <p:sp>
        <p:nvSpPr>
          <p:cNvPr id="918" name="Google Shape;918;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19" name="Google Shape;919;p10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20" name="Google Shape;920;p1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21" name="Google Shape;921;p10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should note, that if the price goes up instead of down, you will lose money buying back the stock to give it back to RED!</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Also all these transactions would happen through a broker, not directly.</a:t>
            </a:r>
            <a:endParaRPr sz="3000">
              <a:solidFill>
                <a:srgbClr val="434343"/>
              </a:solidFill>
              <a:latin typeface="Montserrat"/>
              <a:ea typeface="Montserrat"/>
              <a:cs typeface="Montserrat"/>
              <a:sym typeface="Montserra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5" name="Shape 925"/>
        <p:cNvGrpSpPr/>
        <p:nvPr/>
      </p:nvGrpSpPr>
      <p:grpSpPr>
        <a:xfrm>
          <a:off x="0" y="0"/>
          <a:ext cx="0" cy="0"/>
          <a:chOff x="0" y="0"/>
          <a:chExt cx="0" cy="0"/>
        </a:xfrm>
      </p:grpSpPr>
      <p:sp>
        <p:nvSpPr>
          <p:cNvPr id="926" name="Google Shape;926;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27" name="Google Shape;927;p10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28" name="Google Shape;928;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29" name="Google Shape;929;p101"/>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now move on to discussing CAPM--Capital Asset Pricing Model!</a:t>
            </a:r>
            <a:endParaRPr sz="3000">
              <a:solidFill>
                <a:srgbClr val="434343"/>
              </a:solidFill>
              <a:latin typeface="Montserrat"/>
              <a:ea typeface="Montserrat"/>
              <a:cs typeface="Montserrat"/>
              <a:sym typeface="Montserra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3" name="Shape 933"/>
        <p:cNvGrpSpPr/>
        <p:nvPr/>
      </p:nvGrpSpPr>
      <p:grpSpPr>
        <a:xfrm>
          <a:off x="0" y="0"/>
          <a:ext cx="0" cy="0"/>
          <a:chOff x="0" y="0"/>
          <a:chExt cx="0" cy="0"/>
        </a:xfrm>
      </p:grpSpPr>
      <p:sp>
        <p:nvSpPr>
          <p:cNvPr id="934" name="Google Shape;934;p102"/>
          <p:cNvSpPr txBox="1"/>
          <p:nvPr>
            <p:ph type="ctrTitle"/>
          </p:nvPr>
        </p:nvSpPr>
        <p:spPr>
          <a:xfrm>
            <a:off x="0" y="744575"/>
            <a:ext cx="91095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CAPM</a:t>
            </a:r>
            <a:endParaRPr b="1">
              <a:latin typeface="Montserrat"/>
              <a:ea typeface="Montserrat"/>
              <a:cs typeface="Montserrat"/>
              <a:sym typeface="Montserrat"/>
            </a:endParaRPr>
          </a:p>
        </p:txBody>
      </p:sp>
      <p:sp>
        <p:nvSpPr>
          <p:cNvPr id="935" name="Google Shape;935;p10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936" name="Google Shape;936;p10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37" name="Google Shape;937;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1" name="Shape 941"/>
        <p:cNvGrpSpPr/>
        <p:nvPr/>
      </p:nvGrpSpPr>
      <p:grpSpPr>
        <a:xfrm>
          <a:off x="0" y="0"/>
          <a:ext cx="0" cy="0"/>
          <a:chOff x="0" y="0"/>
          <a:chExt cx="0" cy="0"/>
        </a:xfrm>
      </p:grpSpPr>
      <p:sp>
        <p:nvSpPr>
          <p:cNvPr id="942" name="Google Shape;942;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43" name="Google Shape;943;p10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44" name="Google Shape;944;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45" name="Google Shape;945;p10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Capital Assets Pricing Model (CAPM) is one of the most fundamental topics in investing!</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is a model that helps describe risk and separating market return versus your portfolio return.</a:t>
            </a:r>
            <a:endParaRPr sz="3000">
              <a:solidFill>
                <a:srgbClr val="434343"/>
              </a:solidFill>
              <a:latin typeface="Montserrat"/>
              <a:ea typeface="Montserrat"/>
              <a:cs typeface="Montserrat"/>
              <a:sym typeface="Montserrat"/>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9" name="Shape 949"/>
        <p:cNvGrpSpPr/>
        <p:nvPr/>
      </p:nvGrpSpPr>
      <p:grpSpPr>
        <a:xfrm>
          <a:off x="0" y="0"/>
          <a:ext cx="0" cy="0"/>
          <a:chOff x="0" y="0"/>
          <a:chExt cx="0" cy="0"/>
        </a:xfrm>
      </p:grpSpPr>
      <p:pic>
        <p:nvPicPr>
          <p:cNvPr id="950" name="Google Shape;950;p104"/>
          <p:cNvPicPr preferRelativeResize="0"/>
          <p:nvPr/>
        </p:nvPicPr>
        <p:blipFill>
          <a:blip r:embed="rId3">
            <a:alphaModFix/>
          </a:blip>
          <a:stretch>
            <a:fillRect/>
          </a:stretch>
        </p:blipFill>
        <p:spPr>
          <a:xfrm>
            <a:off x="1843450" y="2791375"/>
            <a:ext cx="5180176" cy="2083650"/>
          </a:xfrm>
          <a:prstGeom prst="rect">
            <a:avLst/>
          </a:prstGeom>
          <a:noFill/>
          <a:ln>
            <a:noFill/>
          </a:ln>
        </p:spPr>
      </p:pic>
      <p:sp>
        <p:nvSpPr>
          <p:cNvPr id="951" name="Google Shape;951;p1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52" name="Google Shape;952;p104"/>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953" name="Google Shape;953;p10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954" name="Google Shape;954;p104"/>
          <p:cNvSpPr txBox="1"/>
          <p:nvPr>
            <p:ph idx="1" type="body"/>
          </p:nvPr>
        </p:nvSpPr>
        <p:spPr>
          <a:xfrm>
            <a:off x="311700" y="1152475"/>
            <a:ext cx="8832300" cy="20835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Remember that a portfolio is a set of weighted securities. We can define the returns as the following:</a:t>
            </a:r>
            <a:endParaRPr sz="3000">
              <a:solidFill>
                <a:srgbClr val="434343"/>
              </a:solidFill>
              <a:latin typeface="Montserrat"/>
              <a:ea typeface="Montserrat"/>
              <a:cs typeface="Montserrat"/>
              <a:sym typeface="Montserrat"/>
            </a:endParaRPr>
          </a:p>
          <a:p>
            <a:pPr indent="0" lvl="0" marL="45720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8" name="Shape 958"/>
        <p:cNvGrpSpPr/>
        <p:nvPr/>
      </p:nvGrpSpPr>
      <p:grpSpPr>
        <a:xfrm>
          <a:off x="0" y="0"/>
          <a:ext cx="0" cy="0"/>
          <a:chOff x="0" y="0"/>
          <a:chExt cx="0" cy="0"/>
        </a:xfrm>
      </p:grpSpPr>
      <p:sp>
        <p:nvSpPr>
          <p:cNvPr id="959" name="Google Shape;959;p1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60" name="Google Shape;960;p10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61" name="Google Shape;961;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62" name="Google Shape;962;p105"/>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also imagine the entire market as a portfolio, for example the S&amp;P500</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How do we get weights for each company?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Using the market cap (# shares * price)</a:t>
            </a:r>
            <a:endParaRPr sz="3000">
              <a:solidFill>
                <a:srgbClr val="434343"/>
              </a:solidFill>
              <a:latin typeface="Montserrat"/>
              <a:ea typeface="Montserrat"/>
              <a:cs typeface="Montserrat"/>
              <a:sym typeface="Montserrat"/>
            </a:endParaRPr>
          </a:p>
        </p:txBody>
      </p:sp>
      <p:pic>
        <p:nvPicPr>
          <p:cNvPr id="963" name="Google Shape;963;p105"/>
          <p:cNvPicPr preferRelativeResize="0"/>
          <p:nvPr/>
        </p:nvPicPr>
        <p:blipFill>
          <a:blip r:embed="rId4">
            <a:alphaModFix/>
          </a:blip>
          <a:stretch>
            <a:fillRect/>
          </a:stretch>
        </p:blipFill>
        <p:spPr>
          <a:xfrm>
            <a:off x="2378297" y="3204200"/>
            <a:ext cx="5733000" cy="18840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7" name="Shape 967"/>
        <p:cNvGrpSpPr/>
        <p:nvPr/>
      </p:nvGrpSpPr>
      <p:grpSpPr>
        <a:xfrm>
          <a:off x="0" y="0"/>
          <a:ext cx="0" cy="0"/>
          <a:chOff x="0" y="0"/>
          <a:chExt cx="0" cy="0"/>
        </a:xfrm>
      </p:grpSpPr>
      <p:sp>
        <p:nvSpPr>
          <p:cNvPr id="968" name="Google Shape;968;p1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69" name="Google Shape;969;p10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70" name="Google Shape;970;p10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71" name="Google Shape;971;p10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CAPM equation is states the following:</a:t>
            </a:r>
            <a:endParaRPr sz="3000">
              <a:solidFill>
                <a:srgbClr val="434343"/>
              </a:solidFill>
              <a:latin typeface="Montserrat"/>
              <a:ea typeface="Montserrat"/>
              <a:cs typeface="Montserrat"/>
              <a:sym typeface="Montserrat"/>
            </a:endParaRPr>
          </a:p>
        </p:txBody>
      </p:sp>
      <p:pic>
        <p:nvPicPr>
          <p:cNvPr id="972" name="Google Shape;972;p106"/>
          <p:cNvPicPr preferRelativeResize="0"/>
          <p:nvPr/>
        </p:nvPicPr>
        <p:blipFill>
          <a:blip r:embed="rId4">
            <a:alphaModFix/>
          </a:blip>
          <a:stretch>
            <a:fillRect/>
          </a:stretch>
        </p:blipFill>
        <p:spPr>
          <a:xfrm>
            <a:off x="1042425" y="1923949"/>
            <a:ext cx="7567901" cy="15781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76" name="Shape 976"/>
        <p:cNvGrpSpPr/>
        <p:nvPr/>
      </p:nvGrpSpPr>
      <p:grpSpPr>
        <a:xfrm>
          <a:off x="0" y="0"/>
          <a:ext cx="0" cy="0"/>
          <a:chOff x="0" y="0"/>
          <a:chExt cx="0" cy="0"/>
        </a:xfrm>
      </p:grpSpPr>
      <p:pic>
        <p:nvPicPr>
          <p:cNvPr id="977" name="Google Shape;977;p107"/>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978" name="Google Shape;978;p1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79" name="Google Shape;979;p107"/>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980" name="Google Shape;980;p10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981" name="Google Shape;981;p10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are two terms here, the Beta term and the Alpha term.</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Note how this models a simple regression line: y = mx +b</a:t>
            </a:r>
            <a:endParaRPr sz="3000">
              <a:solidFill>
                <a:srgbClr val="434343"/>
              </a:solidFill>
              <a:latin typeface="Montserrat"/>
              <a:ea typeface="Montserrat"/>
              <a:cs typeface="Montserrat"/>
              <a:sym typeface="Montserrat"/>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5" name="Shape 985"/>
        <p:cNvGrpSpPr/>
        <p:nvPr/>
      </p:nvGrpSpPr>
      <p:grpSpPr>
        <a:xfrm>
          <a:off x="0" y="0"/>
          <a:ext cx="0" cy="0"/>
          <a:chOff x="0" y="0"/>
          <a:chExt cx="0" cy="0"/>
        </a:xfrm>
      </p:grpSpPr>
      <p:pic>
        <p:nvPicPr>
          <p:cNvPr id="986" name="Google Shape;986;p108"/>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987" name="Google Shape;987;p1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88" name="Google Shape;988;p108"/>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989" name="Google Shape;989;p108"/>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990" name="Google Shape;990;p10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CAPM equation describes the return of some individual stock i.</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Comprised of two terms, Beta and Alpha.</a:t>
            </a:r>
            <a:endParaRPr sz="3000">
              <a:solidFill>
                <a:srgbClr val="434343"/>
              </a:solidFill>
              <a:latin typeface="Montserrat"/>
              <a:ea typeface="Montserrat"/>
              <a:cs typeface="Montserrat"/>
              <a:sym typeface="Montserrat"/>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94" name="Shape 994"/>
        <p:cNvGrpSpPr/>
        <p:nvPr/>
      </p:nvGrpSpPr>
      <p:grpSpPr>
        <a:xfrm>
          <a:off x="0" y="0"/>
          <a:ext cx="0" cy="0"/>
          <a:chOff x="0" y="0"/>
          <a:chExt cx="0" cy="0"/>
        </a:xfrm>
      </p:grpSpPr>
      <p:pic>
        <p:nvPicPr>
          <p:cNvPr id="995" name="Google Shape;995;p109"/>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996" name="Google Shape;996;p1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997" name="Google Shape;997;p109"/>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998" name="Google Shape;998;p109"/>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999" name="Google Shape;999;p109"/>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Beta term implies that the return of a stock is equivalent to the return of the market multiplied by this Beta factor plus some residual alpha term.</a:t>
            </a:r>
            <a:endParaRPr sz="3000">
              <a:solidFill>
                <a:srgbClr val="434343"/>
              </a:solidFill>
              <a:latin typeface="Montserrat"/>
              <a:ea typeface="Montserrat"/>
              <a:cs typeface="Montserrat"/>
              <a:sym typeface="Montserrat"/>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3" name="Shape 1003"/>
        <p:cNvGrpSpPr/>
        <p:nvPr/>
      </p:nvGrpSpPr>
      <p:grpSpPr>
        <a:xfrm>
          <a:off x="0" y="0"/>
          <a:ext cx="0" cy="0"/>
          <a:chOff x="0" y="0"/>
          <a:chExt cx="0" cy="0"/>
        </a:xfrm>
      </p:grpSpPr>
      <p:pic>
        <p:nvPicPr>
          <p:cNvPr id="1004" name="Google Shape;1004;p110"/>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1005" name="Google Shape;1005;p1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06" name="Google Shape;1006;p110"/>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07" name="Google Shape;1007;p11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08" name="Google Shape;1008;p11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could imagine that is Beta=1 than this stock moves in line with the market.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Beta=2 , then this stock moves up and down twice as much as the general market.</a:t>
            </a:r>
            <a:endParaRPr sz="3000">
              <a:solidFill>
                <a:srgbClr val="434343"/>
              </a:solidFill>
              <a:latin typeface="Montserrat"/>
              <a:ea typeface="Montserrat"/>
              <a:cs typeface="Montserrat"/>
              <a:sym typeface="Montserrat"/>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2" name="Shape 1012"/>
        <p:cNvGrpSpPr/>
        <p:nvPr/>
      </p:nvGrpSpPr>
      <p:grpSpPr>
        <a:xfrm>
          <a:off x="0" y="0"/>
          <a:ext cx="0" cy="0"/>
          <a:chOff x="0" y="0"/>
          <a:chExt cx="0" cy="0"/>
        </a:xfrm>
      </p:grpSpPr>
      <p:pic>
        <p:nvPicPr>
          <p:cNvPr id="1013" name="Google Shape;1013;p111"/>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1014" name="Google Shape;1014;p11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15" name="Google Shape;1015;p111"/>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16" name="Google Shape;1016;p111"/>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17" name="Google Shape;1017;p111"/>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Since the return for a stock “i” is not going to match exactly with the Beta term, we add some alpha term.</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CAPM states that you expect this alpha term to be zero.</a:t>
            </a:r>
            <a:endParaRPr sz="3000">
              <a:solidFill>
                <a:srgbClr val="434343"/>
              </a:solidFill>
              <a:latin typeface="Montserrat"/>
              <a:ea typeface="Montserrat"/>
              <a:cs typeface="Montserrat"/>
              <a:sym typeface="Montserrat"/>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1" name="Shape 1021"/>
        <p:cNvGrpSpPr/>
        <p:nvPr/>
      </p:nvGrpSpPr>
      <p:grpSpPr>
        <a:xfrm>
          <a:off x="0" y="0"/>
          <a:ext cx="0" cy="0"/>
          <a:chOff x="0" y="0"/>
          <a:chExt cx="0" cy="0"/>
        </a:xfrm>
      </p:grpSpPr>
      <p:pic>
        <p:nvPicPr>
          <p:cNvPr id="1022" name="Google Shape;1022;p112"/>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1023" name="Google Shape;1023;p1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24" name="Google Shape;1024;p112"/>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25" name="Google Shape;1025;p112"/>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26" name="Google Shape;1026;p112"/>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With CAPM stating that alpha should be expected to be zero, it basically implies that you can not beat the general market!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CAPM also says that alpha is random and can not be predicted!</a:t>
            </a:r>
            <a:endParaRPr sz="3000">
              <a:solidFill>
                <a:srgbClr val="434343"/>
              </a:solidFill>
              <a:latin typeface="Montserrat"/>
              <a:ea typeface="Montserrat"/>
              <a:cs typeface="Montserrat"/>
              <a:sym typeface="Montserrat"/>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0" name="Shape 1030"/>
        <p:cNvGrpSpPr/>
        <p:nvPr/>
      </p:nvGrpSpPr>
      <p:grpSpPr>
        <a:xfrm>
          <a:off x="0" y="0"/>
          <a:ext cx="0" cy="0"/>
          <a:chOff x="0" y="0"/>
          <a:chExt cx="0" cy="0"/>
        </a:xfrm>
      </p:grpSpPr>
      <p:pic>
        <p:nvPicPr>
          <p:cNvPr id="1031" name="Google Shape;1031;p113"/>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1032" name="Google Shape;1032;p11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33" name="Google Shape;1033;p113"/>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34" name="Google Shape;1034;p11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35" name="Google Shape;1035;p11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basically creates the argument of passive versus active investment.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Active investors (like us) believe we can predict alpha to some degree.</a:t>
            </a:r>
            <a:endParaRPr sz="3000">
              <a:solidFill>
                <a:srgbClr val="434343"/>
              </a:solidFill>
              <a:latin typeface="Montserrat"/>
              <a:ea typeface="Montserrat"/>
              <a:cs typeface="Montserrat"/>
              <a:sym typeface="Montserrat"/>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9" name="Shape 1039"/>
        <p:cNvGrpSpPr/>
        <p:nvPr/>
      </p:nvGrpSpPr>
      <p:grpSpPr>
        <a:xfrm>
          <a:off x="0" y="0"/>
          <a:ext cx="0" cy="0"/>
          <a:chOff x="0" y="0"/>
          <a:chExt cx="0" cy="0"/>
        </a:xfrm>
      </p:grpSpPr>
      <p:pic>
        <p:nvPicPr>
          <p:cNvPr id="1040" name="Google Shape;1040;p114"/>
          <p:cNvPicPr preferRelativeResize="0"/>
          <p:nvPr/>
        </p:nvPicPr>
        <p:blipFill>
          <a:blip r:embed="rId3">
            <a:alphaModFix/>
          </a:blip>
          <a:stretch>
            <a:fillRect/>
          </a:stretch>
        </p:blipFill>
        <p:spPr>
          <a:xfrm>
            <a:off x="943900" y="3223274"/>
            <a:ext cx="7567901" cy="1578100"/>
          </a:xfrm>
          <a:prstGeom prst="rect">
            <a:avLst/>
          </a:prstGeom>
          <a:noFill/>
          <a:ln>
            <a:noFill/>
          </a:ln>
        </p:spPr>
      </p:pic>
      <p:sp>
        <p:nvSpPr>
          <p:cNvPr id="1041" name="Google Shape;1041;p1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42" name="Google Shape;1042;p114"/>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43" name="Google Shape;1043;p11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44" name="Google Shape;1044;p11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Remember that we don’t need to be 100% correct on alpha, we should just be able to predict it correctly more than 50% of the time for our portfolio.</a:t>
            </a:r>
            <a:endParaRPr sz="3000">
              <a:solidFill>
                <a:srgbClr val="434343"/>
              </a:solidFill>
              <a:latin typeface="Montserrat"/>
              <a:ea typeface="Montserrat"/>
              <a:cs typeface="Montserrat"/>
              <a:sym typeface="Montserrat"/>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8" name="Shape 1048"/>
        <p:cNvGrpSpPr/>
        <p:nvPr/>
      </p:nvGrpSpPr>
      <p:grpSpPr>
        <a:xfrm>
          <a:off x="0" y="0"/>
          <a:ext cx="0" cy="0"/>
          <a:chOff x="0" y="0"/>
          <a:chExt cx="0" cy="0"/>
        </a:xfrm>
      </p:grpSpPr>
      <p:pic>
        <p:nvPicPr>
          <p:cNvPr id="1049" name="Google Shape;1049;p115"/>
          <p:cNvPicPr preferRelativeResize="0"/>
          <p:nvPr/>
        </p:nvPicPr>
        <p:blipFill>
          <a:blip r:embed="rId3">
            <a:alphaModFix/>
          </a:blip>
          <a:stretch>
            <a:fillRect/>
          </a:stretch>
        </p:blipFill>
        <p:spPr>
          <a:xfrm>
            <a:off x="650052" y="2658751"/>
            <a:ext cx="8155586" cy="2142625"/>
          </a:xfrm>
          <a:prstGeom prst="rect">
            <a:avLst/>
          </a:prstGeom>
          <a:noFill/>
          <a:ln>
            <a:noFill/>
          </a:ln>
        </p:spPr>
      </p:pic>
      <p:sp>
        <p:nvSpPr>
          <p:cNvPr id="1050" name="Google Shape;1050;p1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51" name="Google Shape;1051;p115"/>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52" name="Google Shape;1052;p11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53" name="Google Shape;1053;p115"/>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Since we believe we can have a good idea for values of alpha, we can break it up per security:</a:t>
            </a:r>
            <a:endParaRPr sz="3000">
              <a:solidFill>
                <a:srgbClr val="434343"/>
              </a:solidFill>
              <a:latin typeface="Montserrat"/>
              <a:ea typeface="Montserrat"/>
              <a:cs typeface="Montserrat"/>
              <a:sym typeface="Montserrat"/>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7" name="Shape 1057"/>
        <p:cNvGrpSpPr/>
        <p:nvPr/>
      </p:nvGrpSpPr>
      <p:grpSpPr>
        <a:xfrm>
          <a:off x="0" y="0"/>
          <a:ext cx="0" cy="0"/>
          <a:chOff x="0" y="0"/>
          <a:chExt cx="0" cy="0"/>
        </a:xfrm>
      </p:grpSpPr>
      <p:pic>
        <p:nvPicPr>
          <p:cNvPr id="1058" name="Google Shape;1058;p116"/>
          <p:cNvPicPr preferRelativeResize="0"/>
          <p:nvPr/>
        </p:nvPicPr>
        <p:blipFill>
          <a:blip r:embed="rId3">
            <a:alphaModFix/>
          </a:blip>
          <a:stretch>
            <a:fillRect/>
          </a:stretch>
        </p:blipFill>
        <p:spPr>
          <a:xfrm>
            <a:off x="650052" y="2658751"/>
            <a:ext cx="8155586" cy="2142625"/>
          </a:xfrm>
          <a:prstGeom prst="rect">
            <a:avLst/>
          </a:prstGeom>
          <a:noFill/>
          <a:ln>
            <a:noFill/>
          </a:ln>
        </p:spPr>
      </p:pic>
      <p:sp>
        <p:nvSpPr>
          <p:cNvPr id="1059" name="Google Shape;1059;p1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60" name="Google Shape;1060;p116"/>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61" name="Google Shape;1061;p11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62" name="Google Shape;1062;p11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Since we believe we can have a good idea for values of alpha, we can break it up per security:</a:t>
            </a:r>
            <a:endParaRPr sz="3000">
              <a:solidFill>
                <a:srgbClr val="434343"/>
              </a:solidFill>
              <a:latin typeface="Montserrat"/>
              <a:ea typeface="Montserrat"/>
              <a:cs typeface="Montserrat"/>
              <a:sym typeface="Montserrat"/>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6" name="Shape 1066"/>
        <p:cNvGrpSpPr/>
        <p:nvPr/>
      </p:nvGrpSpPr>
      <p:grpSpPr>
        <a:xfrm>
          <a:off x="0" y="0"/>
          <a:ext cx="0" cy="0"/>
          <a:chOff x="0" y="0"/>
          <a:chExt cx="0" cy="0"/>
        </a:xfrm>
      </p:grpSpPr>
      <p:pic>
        <p:nvPicPr>
          <p:cNvPr id="1067" name="Google Shape;1067;p117"/>
          <p:cNvPicPr preferRelativeResize="0"/>
          <p:nvPr/>
        </p:nvPicPr>
        <p:blipFill>
          <a:blip r:embed="rId3">
            <a:alphaModFix/>
          </a:blip>
          <a:stretch>
            <a:fillRect/>
          </a:stretch>
        </p:blipFill>
        <p:spPr>
          <a:xfrm>
            <a:off x="650052" y="2658751"/>
            <a:ext cx="8155586" cy="2142625"/>
          </a:xfrm>
          <a:prstGeom prst="rect">
            <a:avLst/>
          </a:prstGeom>
          <a:noFill/>
          <a:ln>
            <a:noFill/>
          </a:ln>
        </p:spPr>
      </p:pic>
      <p:sp>
        <p:nvSpPr>
          <p:cNvPr id="1068" name="Google Shape;1068;p1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69" name="Google Shape;1069;p117"/>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1070" name="Google Shape;1070;p11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071" name="Google Shape;1071;p11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could even continue to break up Beta into various Betas per sector of the market (Energy, Manufacturing, Tech, Finance, etc)</a:t>
            </a:r>
            <a:endParaRPr sz="3000">
              <a:solidFill>
                <a:srgbClr val="434343"/>
              </a:solidFill>
              <a:latin typeface="Montserrat"/>
              <a:ea typeface="Montserrat"/>
              <a:cs typeface="Montserrat"/>
              <a:sym typeface="Montserrat"/>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5" name="Shape 1075"/>
        <p:cNvGrpSpPr/>
        <p:nvPr/>
      </p:nvGrpSpPr>
      <p:grpSpPr>
        <a:xfrm>
          <a:off x="0" y="0"/>
          <a:ext cx="0" cy="0"/>
          <a:chOff x="0" y="0"/>
          <a:chExt cx="0" cy="0"/>
        </a:xfrm>
      </p:grpSpPr>
      <p:sp>
        <p:nvSpPr>
          <p:cNvPr id="1076" name="Google Shape;1076;p1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77" name="Google Shape;1077;p11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78" name="Google Shape;1078;p1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79" name="Google Shape;1079;p11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main point here we want to get across is that there will be some relationship between our portfolio return and the overall market return.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the Beta term.</a:t>
            </a:r>
            <a:endParaRPr sz="3000">
              <a:solidFill>
                <a:srgbClr val="434343"/>
              </a:solidFill>
              <a:latin typeface="Montserrat"/>
              <a:ea typeface="Montserrat"/>
              <a:cs typeface="Montserrat"/>
              <a:sym typeface="Montserrat"/>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3" name="Shape 1083"/>
        <p:cNvGrpSpPr/>
        <p:nvPr/>
      </p:nvGrpSpPr>
      <p:grpSpPr>
        <a:xfrm>
          <a:off x="0" y="0"/>
          <a:ext cx="0" cy="0"/>
          <a:chOff x="0" y="0"/>
          <a:chExt cx="0" cy="0"/>
        </a:xfrm>
      </p:grpSpPr>
      <p:sp>
        <p:nvSpPr>
          <p:cNvPr id="1084" name="Google Shape;1084;p1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85" name="Google Shape;1085;p11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86" name="Google Shape;1086;p1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87" name="Google Shape;1087;p119"/>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CAPM says that the alpha term can not be predicted, however, we will fundamentally disagree with that model of thinking.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see if we can create strategies that allow us to have significant alpha terms, meaning our strategy beats the market.</a:t>
            </a:r>
            <a:endParaRPr sz="3000">
              <a:solidFill>
                <a:srgbClr val="434343"/>
              </a:solidFill>
              <a:latin typeface="Montserrat"/>
              <a:ea typeface="Montserrat"/>
              <a:cs typeface="Montserrat"/>
              <a:sym typeface="Montserrat"/>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1" name="Shape 1091"/>
        <p:cNvGrpSpPr/>
        <p:nvPr/>
      </p:nvGrpSpPr>
      <p:grpSpPr>
        <a:xfrm>
          <a:off x="0" y="0"/>
          <a:ext cx="0" cy="0"/>
          <a:chOff x="0" y="0"/>
          <a:chExt cx="0" cy="0"/>
        </a:xfrm>
      </p:grpSpPr>
      <p:sp>
        <p:nvSpPr>
          <p:cNvPr id="1092" name="Google Shape;1092;p1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093" name="Google Shape;1093;p12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94" name="Google Shape;1094;p1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95" name="Google Shape;1095;p12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These two terms (beta and alpha) will come up again once we learn how to use the Quantopian platform.</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now let’s go ahead and quickly use Python to create an example of CAPM in the next lecture!</a:t>
            </a:r>
            <a:endParaRPr sz="3000">
              <a:solidFill>
                <a:srgbClr val="434343"/>
              </a:solidFill>
              <a:latin typeface="Montserrat"/>
              <a:ea typeface="Montserrat"/>
              <a:cs typeface="Montserrat"/>
              <a:sym typeface="Montserrat"/>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9" name="Shape 1099"/>
        <p:cNvGrpSpPr/>
        <p:nvPr/>
      </p:nvGrpSpPr>
      <p:grpSpPr>
        <a:xfrm>
          <a:off x="0" y="0"/>
          <a:ext cx="0" cy="0"/>
          <a:chOff x="0" y="0"/>
          <a:chExt cx="0" cy="0"/>
        </a:xfrm>
      </p:grpSpPr>
      <p:sp>
        <p:nvSpPr>
          <p:cNvPr id="1100" name="Google Shape;1100;p121"/>
          <p:cNvSpPr txBox="1"/>
          <p:nvPr>
            <p:ph type="ctrTitle"/>
          </p:nvPr>
        </p:nvSpPr>
        <p:spPr>
          <a:xfrm>
            <a:off x="0" y="744575"/>
            <a:ext cx="91440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CAPM Code Along</a:t>
            </a:r>
            <a:endParaRPr b="1">
              <a:latin typeface="Montserrat"/>
              <a:ea typeface="Montserrat"/>
              <a:cs typeface="Montserrat"/>
              <a:sym typeface="Montserrat"/>
            </a:endParaRPr>
          </a:p>
        </p:txBody>
      </p:sp>
      <p:sp>
        <p:nvSpPr>
          <p:cNvPr id="1101" name="Google Shape;1101;p12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102" name="Google Shape;1102;p12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03" name="Google Shape;1103;p1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07" name="Shape 1107"/>
        <p:cNvGrpSpPr/>
        <p:nvPr/>
      </p:nvGrpSpPr>
      <p:grpSpPr>
        <a:xfrm>
          <a:off x="0" y="0"/>
          <a:ext cx="0" cy="0"/>
          <a:chOff x="0" y="0"/>
          <a:chExt cx="0" cy="0"/>
        </a:xfrm>
      </p:grpSpPr>
      <p:sp>
        <p:nvSpPr>
          <p:cNvPr id="1108" name="Google Shape;1108;p122"/>
          <p:cNvSpPr txBox="1"/>
          <p:nvPr>
            <p:ph type="ctrTitle"/>
          </p:nvPr>
        </p:nvSpPr>
        <p:spPr>
          <a:xfrm>
            <a:off x="0" y="744575"/>
            <a:ext cx="91440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Stock Splits &amp; Dividends</a:t>
            </a:r>
            <a:endParaRPr b="1">
              <a:latin typeface="Montserrat"/>
              <a:ea typeface="Montserrat"/>
              <a:cs typeface="Montserrat"/>
              <a:sym typeface="Montserrat"/>
            </a:endParaRPr>
          </a:p>
        </p:txBody>
      </p:sp>
      <p:sp>
        <p:nvSpPr>
          <p:cNvPr id="1109" name="Google Shape;1109;p12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110" name="Google Shape;1110;p12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11" name="Google Shape;1111;p1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5" name="Shape 1115"/>
        <p:cNvGrpSpPr/>
        <p:nvPr/>
      </p:nvGrpSpPr>
      <p:grpSpPr>
        <a:xfrm>
          <a:off x="0" y="0"/>
          <a:ext cx="0" cy="0"/>
          <a:chOff x="0" y="0"/>
          <a:chExt cx="0" cy="0"/>
        </a:xfrm>
      </p:grpSpPr>
      <p:sp>
        <p:nvSpPr>
          <p:cNvPr id="1116" name="Google Shape;1116;p1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17" name="Google Shape;1117;p12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18" name="Google Shape;1118;p1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19" name="Google Shape;1119;p12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quickly discuss why companies split their stock and dividends.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Stock splits usually occur if the price for an individual stock becomes unreasonably high, so companies essentially just create a ratio split (e.g. 2:1 , 3:1 , 4:1).</a:t>
            </a:r>
            <a:endParaRPr sz="3000">
              <a:solidFill>
                <a:srgbClr val="434343"/>
              </a:solidFill>
              <a:latin typeface="Montserrat"/>
              <a:ea typeface="Montserrat"/>
              <a:cs typeface="Montserrat"/>
              <a:sym typeface="Montserrat"/>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3" name="Shape 1123"/>
        <p:cNvGrpSpPr/>
        <p:nvPr/>
      </p:nvGrpSpPr>
      <p:grpSpPr>
        <a:xfrm>
          <a:off x="0" y="0"/>
          <a:ext cx="0" cy="0"/>
          <a:chOff x="0" y="0"/>
          <a:chExt cx="0" cy="0"/>
        </a:xfrm>
      </p:grpSpPr>
      <p:sp>
        <p:nvSpPr>
          <p:cNvPr id="1124" name="Google Shape;1124;p1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25" name="Google Shape;1125;p12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26" name="Google Shape;1126;p1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27" name="Google Shape;1127;p12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Because stock splits could cause errors for algorithms looking for price changes, we use the Adj. Close , which adjusts the historical prices to match up  and take into account the stock splits.</a:t>
            </a:r>
            <a:endParaRPr sz="3000">
              <a:solidFill>
                <a:srgbClr val="434343"/>
              </a:solidFill>
              <a:latin typeface="Montserrat"/>
              <a:ea typeface="Montserrat"/>
              <a:cs typeface="Montserrat"/>
              <a:sym typeface="Montserrat"/>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31" name="Shape 1131"/>
        <p:cNvGrpSpPr/>
        <p:nvPr/>
      </p:nvGrpSpPr>
      <p:grpSpPr>
        <a:xfrm>
          <a:off x="0" y="0"/>
          <a:ext cx="0" cy="0"/>
          <a:chOff x="0" y="0"/>
          <a:chExt cx="0" cy="0"/>
        </a:xfrm>
      </p:grpSpPr>
      <p:sp>
        <p:nvSpPr>
          <p:cNvPr id="1132" name="Google Shape;1132;p1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33" name="Google Shape;1133;p12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34" name="Google Shape;1134;p1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35" name="Google Shape;1135;p125"/>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Often stocks also pay dividends, for each unit of stock, each shareholder receives some payout.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causes the price to jump before the dividend announcement, and then drop after the dividend is paid out.</a:t>
            </a:r>
            <a:endParaRPr sz="3000">
              <a:solidFill>
                <a:srgbClr val="434343"/>
              </a:solidFill>
              <a:latin typeface="Montserrat"/>
              <a:ea typeface="Montserrat"/>
              <a:cs typeface="Montserrat"/>
              <a:sym typeface="Montserrat"/>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39" name="Shape 1139"/>
        <p:cNvGrpSpPr/>
        <p:nvPr/>
      </p:nvGrpSpPr>
      <p:grpSpPr>
        <a:xfrm>
          <a:off x="0" y="0"/>
          <a:ext cx="0" cy="0"/>
          <a:chOff x="0" y="0"/>
          <a:chExt cx="0" cy="0"/>
        </a:xfrm>
      </p:grpSpPr>
      <p:sp>
        <p:nvSpPr>
          <p:cNvPr id="1140" name="Google Shape;1140;p1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41" name="Google Shape;1141;p12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42" name="Google Shape;1142;p1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43" name="Google Shape;1143;p12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adjusted close price also takes this into account.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is important to always use adjusted close prices, otherwise you may be affected by stock splits and dividends in your pricing strategies.</a:t>
            </a:r>
            <a:endParaRPr sz="3000">
              <a:solidFill>
                <a:srgbClr val="434343"/>
              </a:solidFill>
              <a:latin typeface="Montserrat"/>
              <a:ea typeface="Montserrat"/>
              <a:cs typeface="Montserrat"/>
              <a:sym typeface="Montserrat"/>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7" name="Shape 1147"/>
        <p:cNvGrpSpPr/>
        <p:nvPr/>
      </p:nvGrpSpPr>
      <p:grpSpPr>
        <a:xfrm>
          <a:off x="0" y="0"/>
          <a:ext cx="0" cy="0"/>
          <a:chOff x="0" y="0"/>
          <a:chExt cx="0" cy="0"/>
        </a:xfrm>
      </p:grpSpPr>
      <p:sp>
        <p:nvSpPr>
          <p:cNvPr id="1148" name="Google Shape;1148;p1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49" name="Google Shape;1149;p12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50" name="Google Shape;1150;p1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51" name="Google Shape;1151;p12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One last thing to take into account is “Survivorship Bias”.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we take a look at the S&amp;P500 benchmark today, it is a different set of companies than say in the year 1999 (the peak of the dot-com bubble).</a:t>
            </a:r>
            <a:endParaRPr sz="3000">
              <a:solidFill>
                <a:srgbClr val="434343"/>
              </a:solidFill>
              <a:latin typeface="Montserrat"/>
              <a:ea typeface="Montserrat"/>
              <a:cs typeface="Montserrat"/>
              <a:sym typeface="Montserrat"/>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5" name="Shape 1155"/>
        <p:cNvGrpSpPr/>
        <p:nvPr/>
      </p:nvGrpSpPr>
      <p:grpSpPr>
        <a:xfrm>
          <a:off x="0" y="0"/>
          <a:ext cx="0" cy="0"/>
          <a:chOff x="0" y="0"/>
          <a:chExt cx="0" cy="0"/>
        </a:xfrm>
      </p:grpSpPr>
      <p:sp>
        <p:nvSpPr>
          <p:cNvPr id="1156" name="Google Shape;1156;p1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57" name="Google Shape;1157;p12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58" name="Google Shape;1158;p1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59" name="Google Shape;1159;p12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After the dot-com crash many companies that were in the S&amp;P500 no longer existed or became to small to be part of the 500.</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Meaning the time you pick S&amp;P500 could possibly matter!</a:t>
            </a:r>
            <a:endParaRPr sz="3000">
              <a:solidFill>
                <a:srgbClr val="434343"/>
              </a:solidFill>
              <a:latin typeface="Montserrat"/>
              <a:ea typeface="Montserrat"/>
              <a:cs typeface="Montserrat"/>
              <a:sym typeface="Montserrat"/>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3" name="Shape 1163"/>
        <p:cNvGrpSpPr/>
        <p:nvPr/>
      </p:nvGrpSpPr>
      <p:grpSpPr>
        <a:xfrm>
          <a:off x="0" y="0"/>
          <a:ext cx="0" cy="0"/>
          <a:chOff x="0" y="0"/>
          <a:chExt cx="0" cy="0"/>
        </a:xfrm>
      </p:grpSpPr>
      <p:sp>
        <p:nvSpPr>
          <p:cNvPr id="1164" name="Google Shape;1164;p1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65" name="Google Shape;1165;p12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66" name="Google Shape;1166;p1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67" name="Google Shape;1167;p129"/>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we were creating strategies in the early 2000s, we may have heavily used the S&amp;P500, but if we didn’t take into account the earlier make-up of the S&amp;P500 we would end up having a bias in our results!</a:t>
            </a:r>
            <a:endParaRPr sz="3000">
              <a:solidFill>
                <a:srgbClr val="434343"/>
              </a:solidFill>
              <a:latin typeface="Montserrat"/>
              <a:ea typeface="Montserrat"/>
              <a:cs typeface="Montserrat"/>
              <a:sym typeface="Montserrat"/>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1" name="Shape 1171"/>
        <p:cNvGrpSpPr/>
        <p:nvPr/>
      </p:nvGrpSpPr>
      <p:grpSpPr>
        <a:xfrm>
          <a:off x="0" y="0"/>
          <a:ext cx="0" cy="0"/>
          <a:chOff x="0" y="0"/>
          <a:chExt cx="0" cy="0"/>
        </a:xfrm>
      </p:grpSpPr>
      <p:sp>
        <p:nvSpPr>
          <p:cNvPr id="1172" name="Google Shape;1172;p1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73" name="Google Shape;1173;p13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74" name="Google Shape;1174;p1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75" name="Google Shape;1175;p13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Many of the strategies we provide later on won’t be affected by this, but keep it in mind in case you end up using a benchmark as part of your strategy and you backtest to 2007 (financial crisis).</a:t>
            </a:r>
            <a:endParaRPr sz="3000">
              <a:solidFill>
                <a:srgbClr val="434343"/>
              </a:solidFill>
              <a:latin typeface="Montserrat"/>
              <a:ea typeface="Montserrat"/>
              <a:cs typeface="Montserrat"/>
              <a:sym typeface="Montserrat"/>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9" name="Shape 1179"/>
        <p:cNvGrpSpPr/>
        <p:nvPr/>
      </p:nvGrpSpPr>
      <p:grpSpPr>
        <a:xfrm>
          <a:off x="0" y="0"/>
          <a:ext cx="0" cy="0"/>
          <a:chOff x="0" y="0"/>
          <a:chExt cx="0" cy="0"/>
        </a:xfrm>
      </p:grpSpPr>
      <p:sp>
        <p:nvSpPr>
          <p:cNvPr id="1180" name="Google Shape;1180;p1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81" name="Google Shape;1181;p13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82" name="Google Shape;1182;p1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83" name="Google Shape;1183;p131"/>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can buy Survivor Bias Free data from a variety of sources (including Quandl), keep in mind it is usually not free (although it isn’t very expensive either, check Quandl premium or other sources for the latest pricing).</a:t>
            </a:r>
            <a:endParaRPr sz="3000">
              <a:solidFill>
                <a:srgbClr val="434343"/>
              </a:solidFill>
              <a:latin typeface="Montserrat"/>
              <a:ea typeface="Montserrat"/>
              <a:cs typeface="Montserrat"/>
              <a:sym typeface="Montserrat"/>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7" name="Shape 1187"/>
        <p:cNvGrpSpPr/>
        <p:nvPr/>
      </p:nvGrpSpPr>
      <p:grpSpPr>
        <a:xfrm>
          <a:off x="0" y="0"/>
          <a:ext cx="0" cy="0"/>
          <a:chOff x="0" y="0"/>
          <a:chExt cx="0" cy="0"/>
        </a:xfrm>
      </p:grpSpPr>
      <p:sp>
        <p:nvSpPr>
          <p:cNvPr id="1188" name="Google Shape;1188;p132"/>
          <p:cNvSpPr txBox="1"/>
          <p:nvPr>
            <p:ph type="ctrTitle"/>
          </p:nvPr>
        </p:nvSpPr>
        <p:spPr>
          <a:xfrm>
            <a:off x="0" y="1545450"/>
            <a:ext cx="91440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Efficient Market Hypothesis </a:t>
            </a:r>
            <a:endParaRPr b="1">
              <a:latin typeface="Montserrat"/>
              <a:ea typeface="Montserrat"/>
              <a:cs typeface="Montserrat"/>
              <a:sym typeface="Montserrat"/>
            </a:endParaRPr>
          </a:p>
        </p:txBody>
      </p:sp>
      <p:pic>
        <p:nvPicPr>
          <p:cNvPr descr="watermark.jpg" id="1189" name="Google Shape;1189;p13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90" name="Google Shape;1190;p1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94" name="Shape 1194"/>
        <p:cNvGrpSpPr/>
        <p:nvPr/>
      </p:nvGrpSpPr>
      <p:grpSpPr>
        <a:xfrm>
          <a:off x="0" y="0"/>
          <a:ext cx="0" cy="0"/>
          <a:chOff x="0" y="0"/>
          <a:chExt cx="0" cy="0"/>
        </a:xfrm>
      </p:grpSpPr>
      <p:sp>
        <p:nvSpPr>
          <p:cNvPr id="1195" name="Google Shape;1195;p1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196" name="Google Shape;1196;p13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97" name="Google Shape;1197;p1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98" name="Google Shape;1198;p13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EMH is an investment theory that states it is impossible to "beat the market" because stock market efficiency causes existing share prices to always incorporate and reflect all relevant information. </a:t>
            </a:r>
            <a:endParaRPr sz="3000">
              <a:solidFill>
                <a:srgbClr val="434343"/>
              </a:solidFill>
              <a:latin typeface="Montserrat"/>
              <a:ea typeface="Montserrat"/>
              <a:cs typeface="Montserrat"/>
              <a:sym typeface="Montserrat"/>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02" name="Shape 1202"/>
        <p:cNvGrpSpPr/>
        <p:nvPr/>
      </p:nvGrpSpPr>
      <p:grpSpPr>
        <a:xfrm>
          <a:off x="0" y="0"/>
          <a:ext cx="0" cy="0"/>
          <a:chOff x="0" y="0"/>
          <a:chExt cx="0" cy="0"/>
        </a:xfrm>
      </p:grpSpPr>
      <p:sp>
        <p:nvSpPr>
          <p:cNvPr id="1203" name="Google Shape;1203;p1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204" name="Google Shape;1204;p13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05" name="Google Shape;1205;p1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06" name="Google Shape;1206;p13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According to the EMH, stocks always trade at their fair value on stock exchanges, making it impossible for investors to either purchase undervalued stocks or sell stocks for inflated prices.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0" name="Shape 1210"/>
        <p:cNvGrpSpPr/>
        <p:nvPr/>
      </p:nvGrpSpPr>
      <p:grpSpPr>
        <a:xfrm>
          <a:off x="0" y="0"/>
          <a:ext cx="0" cy="0"/>
          <a:chOff x="0" y="0"/>
          <a:chExt cx="0" cy="0"/>
        </a:xfrm>
      </p:grpSpPr>
      <p:sp>
        <p:nvSpPr>
          <p:cNvPr id="1211" name="Google Shape;1211;p1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212" name="Google Shape;1212;p13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13" name="Google Shape;1213;p1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14" name="Google Shape;1214;p135"/>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As such, it should be impossible to outperform the overall market through expert stock selection or market timing, and the only way an investor can possibly obtain higher returns is by purchasing riskier investments.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8" name="Shape 1218"/>
        <p:cNvGrpSpPr/>
        <p:nvPr/>
      </p:nvGrpSpPr>
      <p:grpSpPr>
        <a:xfrm>
          <a:off x="0" y="0"/>
          <a:ext cx="0" cy="0"/>
          <a:chOff x="0" y="0"/>
          <a:chExt cx="0" cy="0"/>
        </a:xfrm>
      </p:grpSpPr>
      <p:sp>
        <p:nvSpPr>
          <p:cNvPr id="1219" name="Google Shape;1219;p1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220" name="Google Shape;1220;p13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21" name="Google Shape;1221;p1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22" name="Google Shape;1222;p13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is EMH true?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the EMH is true, then a lot of what we will learn in this course doesn’t have a point to it.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would also imply that many hedge funds are just extremely lucky.</a:t>
            </a:r>
            <a:endParaRPr sz="3000">
              <a:solidFill>
                <a:srgbClr val="434343"/>
              </a:solidFill>
              <a:latin typeface="Montserrat"/>
              <a:ea typeface="Montserrat"/>
              <a:cs typeface="Montserrat"/>
              <a:sym typeface="Montserrat"/>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26" name="Shape 1226"/>
        <p:cNvGrpSpPr/>
        <p:nvPr/>
      </p:nvGrpSpPr>
      <p:grpSpPr>
        <a:xfrm>
          <a:off x="0" y="0"/>
          <a:ext cx="0" cy="0"/>
          <a:chOff x="0" y="0"/>
          <a:chExt cx="0" cy="0"/>
        </a:xfrm>
      </p:grpSpPr>
      <p:sp>
        <p:nvSpPr>
          <p:cNvPr id="1227" name="Google Shape;1227;p1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228" name="Google Shape;1228;p13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29" name="Google Shape;1229;p1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30" name="Google Shape;1230;p13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success of different strategies and hedge funds implies the the strongest interpretation of EMH is probably not true.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are also events that have shown the market to be overvalued at certain points in history (financial crisis, dot com bubble, etc)</a:t>
            </a:r>
            <a:endParaRPr sz="3000">
              <a:solidFill>
                <a:srgbClr val="434343"/>
              </a:solidFill>
              <a:latin typeface="Montserrat"/>
              <a:ea typeface="Montserrat"/>
              <a:cs typeface="Montserrat"/>
              <a:sym typeface="Montserrat"/>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4" name="Shape 1234"/>
        <p:cNvGrpSpPr/>
        <p:nvPr/>
      </p:nvGrpSpPr>
      <p:grpSpPr>
        <a:xfrm>
          <a:off x="0" y="0"/>
          <a:ext cx="0" cy="0"/>
          <a:chOff x="0" y="0"/>
          <a:chExt cx="0" cy="0"/>
        </a:xfrm>
      </p:grpSpPr>
      <p:sp>
        <p:nvSpPr>
          <p:cNvPr id="1235" name="Google Shape;1235;p1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236" name="Google Shape;1236;p13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37" name="Google Shape;1237;p1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38" name="Google Shape;1238;p13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While some aspects of EMH certainly are true, especially as information is more widely acceptable, we will continue on with the assumption that the market is not 100% efficient!</a:t>
            </a:r>
            <a:endParaRPr sz="3000">
              <a:solidFill>
                <a:srgbClr val="434343"/>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