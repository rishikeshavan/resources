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92.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84.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91.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8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88.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9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Lst>
  <p:sldSz cy="5143500" cx="9144000"/>
  <p:notesSz cx="6858000" cy="9144000"/>
  <p:embeddedFontLst>
    <p:embeddedFont>
      <p:font typeface="Montserrat"/>
      <p:regular r:id="rId99"/>
      <p:bold r:id="rId100"/>
      <p:italic r:id="rId101"/>
      <p:boldItalic r:id="rId10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tableStyles.xml><?xml version="1.0" encoding="utf-8"?>
<a:tblStyleLst xmlns:a="http://schemas.openxmlformats.org/drawingml/2006/main" xmlns:r="http://schemas.openxmlformats.org/officeDocument/2006/relationships" def="{DCC92612-C815-424C-A28B-9A22D3F952D6}">
  <a:tblStyle styleId="{DCC92612-C815-424C-A28B-9A22D3F952D6}"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102" Type="http://schemas.openxmlformats.org/officeDocument/2006/relationships/font" Target="fonts/Montserrat-boldItalic.fntdata"/><Relationship Id="rId101" Type="http://schemas.openxmlformats.org/officeDocument/2006/relationships/font" Target="fonts/Montserrat-italic.fntdata"/><Relationship Id="rId100" Type="http://schemas.openxmlformats.org/officeDocument/2006/relationships/font" Target="fonts/Montserrat-bold.fntdata"/><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11" Type="http://schemas.openxmlformats.org/officeDocument/2006/relationships/slide" Target="slides/slide6.xml"/><Relationship Id="rId99" Type="http://schemas.openxmlformats.org/officeDocument/2006/relationships/font" Target="fonts/Montserrat-regular.fntdata"/><Relationship Id="rId10" Type="http://schemas.openxmlformats.org/officeDocument/2006/relationships/slide" Target="slides/slide5.xml"/><Relationship Id="rId98" Type="http://schemas.openxmlformats.org/officeDocument/2006/relationships/slide" Target="slides/slide93.xml"/><Relationship Id="rId13" Type="http://schemas.openxmlformats.org/officeDocument/2006/relationships/slide" Target="slides/slide8.xml"/><Relationship Id="rId12" Type="http://schemas.openxmlformats.org/officeDocument/2006/relationships/slide" Target="slides/slide7.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65" Type="http://schemas.openxmlformats.org/officeDocument/2006/relationships/slide" Target="slides/slide60.xml"/><Relationship Id="rId68" Type="http://schemas.openxmlformats.org/officeDocument/2006/relationships/slide" Target="slides/slide63.xml"/><Relationship Id="rId67" Type="http://schemas.openxmlformats.org/officeDocument/2006/relationships/slide" Target="slides/slide62.xml"/><Relationship Id="rId60" Type="http://schemas.openxmlformats.org/officeDocument/2006/relationships/slide" Target="slides/slide55.xml"/><Relationship Id="rId69" Type="http://schemas.openxmlformats.org/officeDocument/2006/relationships/slide" Target="slides/slide6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54" Type="http://schemas.openxmlformats.org/officeDocument/2006/relationships/slide" Target="slides/slide49.xml"/><Relationship Id="rId57" Type="http://schemas.openxmlformats.org/officeDocument/2006/relationships/slide" Target="slides/slide52.xml"/><Relationship Id="rId56" Type="http://schemas.openxmlformats.org/officeDocument/2006/relationships/slide" Target="slides/slide51.xml"/><Relationship Id="rId59" Type="http://schemas.openxmlformats.org/officeDocument/2006/relationships/slide" Target="slides/slide54.xml"/><Relationship Id="rId58"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8" name="Shape 58"/>
        <p:cNvGrpSpPr/>
        <p:nvPr/>
      </p:nvGrpSpPr>
      <p:grpSpPr>
        <a:xfrm>
          <a:off x="0" y="0"/>
          <a:ext cx="0" cy="0"/>
          <a:chOff x="0" y="0"/>
          <a:chExt cx="0" cy="0"/>
        </a:xfrm>
      </p:grpSpPr>
      <p:sp>
        <p:nvSpPr>
          <p:cNvPr id="59" name="Google Shape;59;g1c4e07dad0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1c4e07dad0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66" name="Shape 66"/>
        <p:cNvGrpSpPr/>
        <p:nvPr/>
      </p:nvGrpSpPr>
      <p:grpSpPr>
        <a:xfrm>
          <a:off x="0" y="0"/>
          <a:ext cx="0" cy="0"/>
          <a:chOff x="0" y="0"/>
          <a:chExt cx="0" cy="0"/>
        </a:xfrm>
      </p:grpSpPr>
      <p:sp>
        <p:nvSpPr>
          <p:cNvPr id="67" name="Google Shape;67;g1e8bbdec37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1e8bbdec37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74" name="Shape 74"/>
        <p:cNvGrpSpPr/>
        <p:nvPr/>
      </p:nvGrpSpPr>
      <p:grpSpPr>
        <a:xfrm>
          <a:off x="0" y="0"/>
          <a:ext cx="0" cy="0"/>
          <a:chOff x="0" y="0"/>
          <a:chExt cx="0" cy="0"/>
        </a:xfrm>
      </p:grpSpPr>
      <p:sp>
        <p:nvSpPr>
          <p:cNvPr id="75" name="Google Shape;75;g1e8e567ec3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1e8e567ec3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82" name="Shape 82"/>
        <p:cNvGrpSpPr/>
        <p:nvPr/>
      </p:nvGrpSpPr>
      <p:grpSpPr>
        <a:xfrm>
          <a:off x="0" y="0"/>
          <a:ext cx="0" cy="0"/>
          <a:chOff x="0" y="0"/>
          <a:chExt cx="0" cy="0"/>
        </a:xfrm>
      </p:grpSpPr>
      <p:sp>
        <p:nvSpPr>
          <p:cNvPr id="83" name="Google Shape;83;g1e8e567ec3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1e8e567ec3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90" name="Shape 90"/>
        <p:cNvGrpSpPr/>
        <p:nvPr/>
      </p:nvGrpSpPr>
      <p:grpSpPr>
        <a:xfrm>
          <a:off x="0" y="0"/>
          <a:ext cx="0" cy="0"/>
          <a:chOff x="0" y="0"/>
          <a:chExt cx="0" cy="0"/>
        </a:xfrm>
      </p:grpSpPr>
      <p:sp>
        <p:nvSpPr>
          <p:cNvPr id="91" name="Google Shape;91;g1e8bbdec37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1e8bbdec37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98" name="Shape 98"/>
        <p:cNvGrpSpPr/>
        <p:nvPr/>
      </p:nvGrpSpPr>
      <p:grpSpPr>
        <a:xfrm>
          <a:off x="0" y="0"/>
          <a:ext cx="0" cy="0"/>
          <a:chOff x="0" y="0"/>
          <a:chExt cx="0" cy="0"/>
        </a:xfrm>
      </p:grpSpPr>
      <p:sp>
        <p:nvSpPr>
          <p:cNvPr id="99" name="Google Shape;99;g1e8e567ec3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1e8e567ec3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06" name="Shape 106"/>
        <p:cNvGrpSpPr/>
        <p:nvPr/>
      </p:nvGrpSpPr>
      <p:grpSpPr>
        <a:xfrm>
          <a:off x="0" y="0"/>
          <a:ext cx="0" cy="0"/>
          <a:chOff x="0" y="0"/>
          <a:chExt cx="0" cy="0"/>
        </a:xfrm>
      </p:grpSpPr>
      <p:sp>
        <p:nvSpPr>
          <p:cNvPr id="107" name="Google Shape;107;g1e8bbdec37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1e8bbdec37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14" name="Shape 114"/>
        <p:cNvGrpSpPr/>
        <p:nvPr/>
      </p:nvGrpSpPr>
      <p:grpSpPr>
        <a:xfrm>
          <a:off x="0" y="0"/>
          <a:ext cx="0" cy="0"/>
          <a:chOff x="0" y="0"/>
          <a:chExt cx="0" cy="0"/>
        </a:xfrm>
      </p:grpSpPr>
      <p:sp>
        <p:nvSpPr>
          <p:cNvPr id="115" name="Google Shape;115;g1e5e61f6e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1e5e61f6e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22" name="Shape 122"/>
        <p:cNvGrpSpPr/>
        <p:nvPr/>
      </p:nvGrpSpPr>
      <p:grpSpPr>
        <a:xfrm>
          <a:off x="0" y="0"/>
          <a:ext cx="0" cy="0"/>
          <a:chOff x="0" y="0"/>
          <a:chExt cx="0" cy="0"/>
        </a:xfrm>
      </p:grpSpPr>
      <p:sp>
        <p:nvSpPr>
          <p:cNvPr id="123" name="Google Shape;123;g23a896ccd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23a896ccd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36" name="Shape 136"/>
        <p:cNvGrpSpPr/>
        <p:nvPr/>
      </p:nvGrpSpPr>
      <p:grpSpPr>
        <a:xfrm>
          <a:off x="0" y="0"/>
          <a:ext cx="0" cy="0"/>
          <a:chOff x="0" y="0"/>
          <a:chExt cx="0" cy="0"/>
        </a:xfrm>
      </p:grpSpPr>
      <p:sp>
        <p:nvSpPr>
          <p:cNvPr id="137" name="Google Shape;137;g23a896ccd6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23a896ccd6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46" name="Shape 146"/>
        <p:cNvGrpSpPr/>
        <p:nvPr/>
      </p:nvGrpSpPr>
      <p:grpSpPr>
        <a:xfrm>
          <a:off x="0" y="0"/>
          <a:ext cx="0" cy="0"/>
          <a:chOff x="0" y="0"/>
          <a:chExt cx="0" cy="0"/>
        </a:xfrm>
      </p:grpSpPr>
      <p:sp>
        <p:nvSpPr>
          <p:cNvPr id="147" name="Google Shape;147;g23a896ccd6_2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23a896ccd6_2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56" name="Shape 156"/>
        <p:cNvGrpSpPr/>
        <p:nvPr/>
      </p:nvGrpSpPr>
      <p:grpSpPr>
        <a:xfrm>
          <a:off x="0" y="0"/>
          <a:ext cx="0" cy="0"/>
          <a:chOff x="0" y="0"/>
          <a:chExt cx="0" cy="0"/>
        </a:xfrm>
      </p:grpSpPr>
      <p:sp>
        <p:nvSpPr>
          <p:cNvPr id="157" name="Google Shape;157;g1f98e8dbc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1f98e8dbc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64" name="Shape 164"/>
        <p:cNvGrpSpPr/>
        <p:nvPr/>
      </p:nvGrpSpPr>
      <p:grpSpPr>
        <a:xfrm>
          <a:off x="0" y="0"/>
          <a:ext cx="0" cy="0"/>
          <a:chOff x="0" y="0"/>
          <a:chExt cx="0" cy="0"/>
        </a:xfrm>
      </p:grpSpPr>
      <p:sp>
        <p:nvSpPr>
          <p:cNvPr id="165" name="Google Shape;165;g1e8bbdec37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1e8bbdec37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72" name="Shape 172"/>
        <p:cNvGrpSpPr/>
        <p:nvPr/>
      </p:nvGrpSpPr>
      <p:grpSpPr>
        <a:xfrm>
          <a:off x="0" y="0"/>
          <a:ext cx="0" cy="0"/>
          <a:chOff x="0" y="0"/>
          <a:chExt cx="0" cy="0"/>
        </a:xfrm>
      </p:grpSpPr>
      <p:sp>
        <p:nvSpPr>
          <p:cNvPr id="173" name="Google Shape;173;g1e8bbdec37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1e8bbdec37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80" name="Shape 180"/>
        <p:cNvGrpSpPr/>
        <p:nvPr/>
      </p:nvGrpSpPr>
      <p:grpSpPr>
        <a:xfrm>
          <a:off x="0" y="0"/>
          <a:ext cx="0" cy="0"/>
          <a:chOff x="0" y="0"/>
          <a:chExt cx="0" cy="0"/>
        </a:xfrm>
      </p:grpSpPr>
      <p:sp>
        <p:nvSpPr>
          <p:cNvPr id="181" name="Google Shape;181;g1e8bbdec37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1e8bbdec37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88" name="Shape 188"/>
        <p:cNvGrpSpPr/>
        <p:nvPr/>
      </p:nvGrpSpPr>
      <p:grpSpPr>
        <a:xfrm>
          <a:off x="0" y="0"/>
          <a:ext cx="0" cy="0"/>
          <a:chOff x="0" y="0"/>
          <a:chExt cx="0" cy="0"/>
        </a:xfrm>
      </p:grpSpPr>
      <p:sp>
        <p:nvSpPr>
          <p:cNvPr id="189" name="Google Shape;189;g1e8bbdec37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1e8bbdec37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96" name="Shape 196"/>
        <p:cNvGrpSpPr/>
        <p:nvPr/>
      </p:nvGrpSpPr>
      <p:grpSpPr>
        <a:xfrm>
          <a:off x="0" y="0"/>
          <a:ext cx="0" cy="0"/>
          <a:chOff x="0" y="0"/>
          <a:chExt cx="0" cy="0"/>
        </a:xfrm>
      </p:grpSpPr>
      <p:sp>
        <p:nvSpPr>
          <p:cNvPr id="197" name="Google Shape;197;g1f98e8dbc6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1f98e8dbc6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04" name="Shape 204"/>
        <p:cNvGrpSpPr/>
        <p:nvPr/>
      </p:nvGrpSpPr>
      <p:grpSpPr>
        <a:xfrm>
          <a:off x="0" y="0"/>
          <a:ext cx="0" cy="0"/>
          <a:chOff x="0" y="0"/>
          <a:chExt cx="0" cy="0"/>
        </a:xfrm>
      </p:grpSpPr>
      <p:sp>
        <p:nvSpPr>
          <p:cNvPr id="205" name="Google Shape;205;g1e8bbdec37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1e8bbdec37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12" name="Shape 212"/>
        <p:cNvGrpSpPr/>
        <p:nvPr/>
      </p:nvGrpSpPr>
      <p:grpSpPr>
        <a:xfrm>
          <a:off x="0" y="0"/>
          <a:ext cx="0" cy="0"/>
          <a:chOff x="0" y="0"/>
          <a:chExt cx="0" cy="0"/>
        </a:xfrm>
      </p:grpSpPr>
      <p:sp>
        <p:nvSpPr>
          <p:cNvPr id="213" name="Google Shape;213;g1e8bbdec37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1e8bbdec37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20" name="Shape 220"/>
        <p:cNvGrpSpPr/>
        <p:nvPr/>
      </p:nvGrpSpPr>
      <p:grpSpPr>
        <a:xfrm>
          <a:off x="0" y="0"/>
          <a:ext cx="0" cy="0"/>
          <a:chOff x="0" y="0"/>
          <a:chExt cx="0" cy="0"/>
        </a:xfrm>
      </p:grpSpPr>
      <p:sp>
        <p:nvSpPr>
          <p:cNvPr id="221" name="Google Shape;221;g1f98e8dbc6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1f98e8dbc6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28" name="Shape 228"/>
        <p:cNvGrpSpPr/>
        <p:nvPr/>
      </p:nvGrpSpPr>
      <p:grpSpPr>
        <a:xfrm>
          <a:off x="0" y="0"/>
          <a:ext cx="0" cy="0"/>
          <a:chOff x="0" y="0"/>
          <a:chExt cx="0" cy="0"/>
        </a:xfrm>
      </p:grpSpPr>
      <p:sp>
        <p:nvSpPr>
          <p:cNvPr id="229" name="Google Shape;229;g23a896ccd6_2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23a896ccd6_2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36" name="Shape 236"/>
        <p:cNvGrpSpPr/>
        <p:nvPr/>
      </p:nvGrpSpPr>
      <p:grpSpPr>
        <a:xfrm>
          <a:off x="0" y="0"/>
          <a:ext cx="0" cy="0"/>
          <a:chOff x="0" y="0"/>
          <a:chExt cx="0" cy="0"/>
        </a:xfrm>
      </p:grpSpPr>
      <p:sp>
        <p:nvSpPr>
          <p:cNvPr id="237" name="Google Shape;237;g23a896ccd6_2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23a896ccd6_2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44" name="Shape 244"/>
        <p:cNvGrpSpPr/>
        <p:nvPr/>
      </p:nvGrpSpPr>
      <p:grpSpPr>
        <a:xfrm>
          <a:off x="0" y="0"/>
          <a:ext cx="0" cy="0"/>
          <a:chOff x="0" y="0"/>
          <a:chExt cx="0" cy="0"/>
        </a:xfrm>
      </p:grpSpPr>
      <p:sp>
        <p:nvSpPr>
          <p:cNvPr id="245" name="Google Shape;245;g23a896ccd6_2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23a896ccd6_2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52" name="Shape 252"/>
        <p:cNvGrpSpPr/>
        <p:nvPr/>
      </p:nvGrpSpPr>
      <p:grpSpPr>
        <a:xfrm>
          <a:off x="0" y="0"/>
          <a:ext cx="0" cy="0"/>
          <a:chOff x="0" y="0"/>
          <a:chExt cx="0" cy="0"/>
        </a:xfrm>
      </p:grpSpPr>
      <p:sp>
        <p:nvSpPr>
          <p:cNvPr id="253" name="Google Shape;253;g23a896ccd6_2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23a896ccd6_2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61" name="Shape 261"/>
        <p:cNvGrpSpPr/>
        <p:nvPr/>
      </p:nvGrpSpPr>
      <p:grpSpPr>
        <a:xfrm>
          <a:off x="0" y="0"/>
          <a:ext cx="0" cy="0"/>
          <a:chOff x="0" y="0"/>
          <a:chExt cx="0" cy="0"/>
        </a:xfrm>
      </p:grpSpPr>
      <p:sp>
        <p:nvSpPr>
          <p:cNvPr id="262" name="Google Shape;262;g23a896ccd6_2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23a896ccd6_2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70" name="Shape 270"/>
        <p:cNvGrpSpPr/>
        <p:nvPr/>
      </p:nvGrpSpPr>
      <p:grpSpPr>
        <a:xfrm>
          <a:off x="0" y="0"/>
          <a:ext cx="0" cy="0"/>
          <a:chOff x="0" y="0"/>
          <a:chExt cx="0" cy="0"/>
        </a:xfrm>
      </p:grpSpPr>
      <p:sp>
        <p:nvSpPr>
          <p:cNvPr id="271" name="Google Shape;271;g23a896ccd6_2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23a896ccd6_2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78" name="Shape 278"/>
        <p:cNvGrpSpPr/>
        <p:nvPr/>
      </p:nvGrpSpPr>
      <p:grpSpPr>
        <a:xfrm>
          <a:off x="0" y="0"/>
          <a:ext cx="0" cy="0"/>
          <a:chOff x="0" y="0"/>
          <a:chExt cx="0" cy="0"/>
        </a:xfrm>
      </p:grpSpPr>
      <p:sp>
        <p:nvSpPr>
          <p:cNvPr id="279" name="Google Shape;279;g1e8bbdec37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1e8bbdec37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86" name="Shape 286"/>
        <p:cNvGrpSpPr/>
        <p:nvPr/>
      </p:nvGrpSpPr>
      <p:grpSpPr>
        <a:xfrm>
          <a:off x="0" y="0"/>
          <a:ext cx="0" cy="0"/>
          <a:chOff x="0" y="0"/>
          <a:chExt cx="0" cy="0"/>
        </a:xfrm>
      </p:grpSpPr>
      <p:sp>
        <p:nvSpPr>
          <p:cNvPr id="287" name="Google Shape;287;g1e8bbdec37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1e8bbdec37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94" name="Shape 294"/>
        <p:cNvGrpSpPr/>
        <p:nvPr/>
      </p:nvGrpSpPr>
      <p:grpSpPr>
        <a:xfrm>
          <a:off x="0" y="0"/>
          <a:ext cx="0" cy="0"/>
          <a:chOff x="0" y="0"/>
          <a:chExt cx="0" cy="0"/>
        </a:xfrm>
      </p:grpSpPr>
      <p:sp>
        <p:nvSpPr>
          <p:cNvPr id="295" name="Google Shape;295;g1e8bbdec37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1e8bbdec37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02" name="Shape 302"/>
        <p:cNvGrpSpPr/>
        <p:nvPr/>
      </p:nvGrpSpPr>
      <p:grpSpPr>
        <a:xfrm>
          <a:off x="0" y="0"/>
          <a:ext cx="0" cy="0"/>
          <a:chOff x="0" y="0"/>
          <a:chExt cx="0" cy="0"/>
        </a:xfrm>
      </p:grpSpPr>
      <p:sp>
        <p:nvSpPr>
          <p:cNvPr id="303" name="Google Shape;303;g23a896ccd6_2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23a896ccd6_2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11" name="Shape 311"/>
        <p:cNvGrpSpPr/>
        <p:nvPr/>
      </p:nvGrpSpPr>
      <p:grpSpPr>
        <a:xfrm>
          <a:off x="0" y="0"/>
          <a:ext cx="0" cy="0"/>
          <a:chOff x="0" y="0"/>
          <a:chExt cx="0" cy="0"/>
        </a:xfrm>
      </p:grpSpPr>
      <p:sp>
        <p:nvSpPr>
          <p:cNvPr id="312" name="Google Shape;312;g23a896ccd6_2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23a896ccd6_2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19" name="Shape 319"/>
        <p:cNvGrpSpPr/>
        <p:nvPr/>
      </p:nvGrpSpPr>
      <p:grpSpPr>
        <a:xfrm>
          <a:off x="0" y="0"/>
          <a:ext cx="0" cy="0"/>
          <a:chOff x="0" y="0"/>
          <a:chExt cx="0" cy="0"/>
        </a:xfrm>
      </p:grpSpPr>
      <p:sp>
        <p:nvSpPr>
          <p:cNvPr id="320" name="Google Shape;320;g23a896ccd6_2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23a896ccd6_2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27" name="Shape 327"/>
        <p:cNvGrpSpPr/>
        <p:nvPr/>
      </p:nvGrpSpPr>
      <p:grpSpPr>
        <a:xfrm>
          <a:off x="0" y="0"/>
          <a:ext cx="0" cy="0"/>
          <a:chOff x="0" y="0"/>
          <a:chExt cx="0" cy="0"/>
        </a:xfrm>
      </p:grpSpPr>
      <p:sp>
        <p:nvSpPr>
          <p:cNvPr id="328" name="Google Shape;328;g23a896ccd6_2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23a896ccd6_2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35" name="Shape 335"/>
        <p:cNvGrpSpPr/>
        <p:nvPr/>
      </p:nvGrpSpPr>
      <p:grpSpPr>
        <a:xfrm>
          <a:off x="0" y="0"/>
          <a:ext cx="0" cy="0"/>
          <a:chOff x="0" y="0"/>
          <a:chExt cx="0" cy="0"/>
        </a:xfrm>
      </p:grpSpPr>
      <p:sp>
        <p:nvSpPr>
          <p:cNvPr id="336" name="Google Shape;336;g23a896ccd6_2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23a896ccd6_2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43" name="Shape 343"/>
        <p:cNvGrpSpPr/>
        <p:nvPr/>
      </p:nvGrpSpPr>
      <p:grpSpPr>
        <a:xfrm>
          <a:off x="0" y="0"/>
          <a:ext cx="0" cy="0"/>
          <a:chOff x="0" y="0"/>
          <a:chExt cx="0" cy="0"/>
        </a:xfrm>
      </p:grpSpPr>
      <p:sp>
        <p:nvSpPr>
          <p:cNvPr id="344" name="Google Shape;344;g23a896ccd6_2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23a896ccd6_2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51" name="Shape 351"/>
        <p:cNvGrpSpPr/>
        <p:nvPr/>
      </p:nvGrpSpPr>
      <p:grpSpPr>
        <a:xfrm>
          <a:off x="0" y="0"/>
          <a:ext cx="0" cy="0"/>
          <a:chOff x="0" y="0"/>
          <a:chExt cx="0" cy="0"/>
        </a:xfrm>
      </p:grpSpPr>
      <p:sp>
        <p:nvSpPr>
          <p:cNvPr id="352" name="Google Shape;352;g23a896ccd6_2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23a896ccd6_2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59" name="Shape 359"/>
        <p:cNvGrpSpPr/>
        <p:nvPr/>
      </p:nvGrpSpPr>
      <p:grpSpPr>
        <a:xfrm>
          <a:off x="0" y="0"/>
          <a:ext cx="0" cy="0"/>
          <a:chOff x="0" y="0"/>
          <a:chExt cx="0" cy="0"/>
        </a:xfrm>
      </p:grpSpPr>
      <p:sp>
        <p:nvSpPr>
          <p:cNvPr id="360" name="Google Shape;360;g23a896ccd6_2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1" name="Google Shape;361;g23a896ccd6_2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67" name="Shape 367"/>
        <p:cNvGrpSpPr/>
        <p:nvPr/>
      </p:nvGrpSpPr>
      <p:grpSpPr>
        <a:xfrm>
          <a:off x="0" y="0"/>
          <a:ext cx="0" cy="0"/>
          <a:chOff x="0" y="0"/>
          <a:chExt cx="0" cy="0"/>
        </a:xfrm>
      </p:grpSpPr>
      <p:sp>
        <p:nvSpPr>
          <p:cNvPr id="368" name="Google Shape;368;g23a896ccd6_2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9" name="Google Shape;369;g23a896ccd6_2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75" name="Shape 375"/>
        <p:cNvGrpSpPr/>
        <p:nvPr/>
      </p:nvGrpSpPr>
      <p:grpSpPr>
        <a:xfrm>
          <a:off x="0" y="0"/>
          <a:ext cx="0" cy="0"/>
          <a:chOff x="0" y="0"/>
          <a:chExt cx="0" cy="0"/>
        </a:xfrm>
      </p:grpSpPr>
      <p:sp>
        <p:nvSpPr>
          <p:cNvPr id="376" name="Google Shape;376;g1e8bbdec37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1e8bbdec37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83" name="Shape 383"/>
        <p:cNvGrpSpPr/>
        <p:nvPr/>
      </p:nvGrpSpPr>
      <p:grpSpPr>
        <a:xfrm>
          <a:off x="0" y="0"/>
          <a:ext cx="0" cy="0"/>
          <a:chOff x="0" y="0"/>
          <a:chExt cx="0" cy="0"/>
        </a:xfrm>
      </p:grpSpPr>
      <p:sp>
        <p:nvSpPr>
          <p:cNvPr id="384" name="Google Shape;384;g23d85cfd8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g23d85cfd8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91" name="Shape 391"/>
        <p:cNvGrpSpPr/>
        <p:nvPr/>
      </p:nvGrpSpPr>
      <p:grpSpPr>
        <a:xfrm>
          <a:off x="0" y="0"/>
          <a:ext cx="0" cy="0"/>
          <a:chOff x="0" y="0"/>
          <a:chExt cx="0" cy="0"/>
        </a:xfrm>
      </p:grpSpPr>
      <p:sp>
        <p:nvSpPr>
          <p:cNvPr id="392" name="Google Shape;392;g23d85cfd8d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23d85cfd8d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99" name="Shape 399"/>
        <p:cNvGrpSpPr/>
        <p:nvPr/>
      </p:nvGrpSpPr>
      <p:grpSpPr>
        <a:xfrm>
          <a:off x="0" y="0"/>
          <a:ext cx="0" cy="0"/>
          <a:chOff x="0" y="0"/>
          <a:chExt cx="0" cy="0"/>
        </a:xfrm>
      </p:grpSpPr>
      <p:sp>
        <p:nvSpPr>
          <p:cNvPr id="400" name="Google Shape;400;g1e8bbdec37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1" name="Google Shape;401;g1e8bbdec37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07" name="Shape 407"/>
        <p:cNvGrpSpPr/>
        <p:nvPr/>
      </p:nvGrpSpPr>
      <p:grpSpPr>
        <a:xfrm>
          <a:off x="0" y="0"/>
          <a:ext cx="0" cy="0"/>
          <a:chOff x="0" y="0"/>
          <a:chExt cx="0" cy="0"/>
        </a:xfrm>
      </p:grpSpPr>
      <p:sp>
        <p:nvSpPr>
          <p:cNvPr id="408" name="Google Shape;408;g1e8e567ec3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g1e8e567ec3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15" name="Shape 415"/>
        <p:cNvGrpSpPr/>
        <p:nvPr/>
      </p:nvGrpSpPr>
      <p:grpSpPr>
        <a:xfrm>
          <a:off x="0" y="0"/>
          <a:ext cx="0" cy="0"/>
          <a:chOff x="0" y="0"/>
          <a:chExt cx="0" cy="0"/>
        </a:xfrm>
      </p:grpSpPr>
      <p:sp>
        <p:nvSpPr>
          <p:cNvPr id="416" name="Google Shape;416;g1e8e567ec3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7" name="Google Shape;417;g1e8e567ec3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23" name="Shape 423"/>
        <p:cNvGrpSpPr/>
        <p:nvPr/>
      </p:nvGrpSpPr>
      <p:grpSpPr>
        <a:xfrm>
          <a:off x="0" y="0"/>
          <a:ext cx="0" cy="0"/>
          <a:chOff x="0" y="0"/>
          <a:chExt cx="0" cy="0"/>
        </a:xfrm>
      </p:grpSpPr>
      <p:sp>
        <p:nvSpPr>
          <p:cNvPr id="424" name="Google Shape;424;g1e8e567ec3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5" name="Google Shape;425;g1e8e567ec3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31" name="Shape 431"/>
        <p:cNvGrpSpPr/>
        <p:nvPr/>
      </p:nvGrpSpPr>
      <p:grpSpPr>
        <a:xfrm>
          <a:off x="0" y="0"/>
          <a:ext cx="0" cy="0"/>
          <a:chOff x="0" y="0"/>
          <a:chExt cx="0" cy="0"/>
        </a:xfrm>
      </p:grpSpPr>
      <p:sp>
        <p:nvSpPr>
          <p:cNvPr id="432" name="Google Shape;432;g1e8bbdec37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3" name="Google Shape;433;g1e8bbdec37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39" name="Shape 439"/>
        <p:cNvGrpSpPr/>
        <p:nvPr/>
      </p:nvGrpSpPr>
      <p:grpSpPr>
        <a:xfrm>
          <a:off x="0" y="0"/>
          <a:ext cx="0" cy="0"/>
          <a:chOff x="0" y="0"/>
          <a:chExt cx="0" cy="0"/>
        </a:xfrm>
      </p:grpSpPr>
      <p:sp>
        <p:nvSpPr>
          <p:cNvPr id="440" name="Google Shape;440;g1e8bbdec37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1" name="Google Shape;441;g1e8bbdec37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47" name="Shape 447"/>
        <p:cNvGrpSpPr/>
        <p:nvPr/>
      </p:nvGrpSpPr>
      <p:grpSpPr>
        <a:xfrm>
          <a:off x="0" y="0"/>
          <a:ext cx="0" cy="0"/>
          <a:chOff x="0" y="0"/>
          <a:chExt cx="0" cy="0"/>
        </a:xfrm>
      </p:grpSpPr>
      <p:sp>
        <p:nvSpPr>
          <p:cNvPr id="448" name="Google Shape;448;g23a896ccd6_2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9" name="Google Shape;449;g23a896ccd6_2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55" name="Shape 455"/>
        <p:cNvGrpSpPr/>
        <p:nvPr/>
      </p:nvGrpSpPr>
      <p:grpSpPr>
        <a:xfrm>
          <a:off x="0" y="0"/>
          <a:ext cx="0" cy="0"/>
          <a:chOff x="0" y="0"/>
          <a:chExt cx="0" cy="0"/>
        </a:xfrm>
      </p:grpSpPr>
      <p:sp>
        <p:nvSpPr>
          <p:cNvPr id="456" name="Google Shape;456;g1e8e567ec3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7" name="Google Shape;457;g1e8e567ec3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63" name="Shape 463"/>
        <p:cNvGrpSpPr/>
        <p:nvPr/>
      </p:nvGrpSpPr>
      <p:grpSpPr>
        <a:xfrm>
          <a:off x="0" y="0"/>
          <a:ext cx="0" cy="0"/>
          <a:chOff x="0" y="0"/>
          <a:chExt cx="0" cy="0"/>
        </a:xfrm>
      </p:grpSpPr>
      <p:sp>
        <p:nvSpPr>
          <p:cNvPr id="464" name="Google Shape;464;g1e8bbdec37_0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5" name="Google Shape;465;g1e8bbdec37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71" name="Shape 471"/>
        <p:cNvGrpSpPr/>
        <p:nvPr/>
      </p:nvGrpSpPr>
      <p:grpSpPr>
        <a:xfrm>
          <a:off x="0" y="0"/>
          <a:ext cx="0" cy="0"/>
          <a:chOff x="0" y="0"/>
          <a:chExt cx="0" cy="0"/>
        </a:xfrm>
      </p:grpSpPr>
      <p:sp>
        <p:nvSpPr>
          <p:cNvPr id="472" name="Google Shape;472;g1e8bbdec37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3" name="Google Shape;473;g1e8bbdec37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79" name="Shape 479"/>
        <p:cNvGrpSpPr/>
        <p:nvPr/>
      </p:nvGrpSpPr>
      <p:grpSpPr>
        <a:xfrm>
          <a:off x="0" y="0"/>
          <a:ext cx="0" cy="0"/>
          <a:chOff x="0" y="0"/>
          <a:chExt cx="0" cy="0"/>
        </a:xfrm>
      </p:grpSpPr>
      <p:sp>
        <p:nvSpPr>
          <p:cNvPr id="480" name="Google Shape;480;g1e8bbdec37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1" name="Google Shape;481;g1e8bbdec37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87" name="Shape 487"/>
        <p:cNvGrpSpPr/>
        <p:nvPr/>
      </p:nvGrpSpPr>
      <p:grpSpPr>
        <a:xfrm>
          <a:off x="0" y="0"/>
          <a:ext cx="0" cy="0"/>
          <a:chOff x="0" y="0"/>
          <a:chExt cx="0" cy="0"/>
        </a:xfrm>
      </p:grpSpPr>
      <p:sp>
        <p:nvSpPr>
          <p:cNvPr id="488" name="Google Shape;488;g1f89c44388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9" name="Google Shape;489;g1f89c44388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95" name="Shape 495"/>
        <p:cNvGrpSpPr/>
        <p:nvPr/>
      </p:nvGrpSpPr>
      <p:grpSpPr>
        <a:xfrm>
          <a:off x="0" y="0"/>
          <a:ext cx="0" cy="0"/>
          <a:chOff x="0" y="0"/>
          <a:chExt cx="0" cy="0"/>
        </a:xfrm>
      </p:grpSpPr>
      <p:sp>
        <p:nvSpPr>
          <p:cNvPr id="496" name="Google Shape;496;g1f89c44388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7" name="Google Shape;497;g1f89c44388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03" name="Shape 503"/>
        <p:cNvGrpSpPr/>
        <p:nvPr/>
      </p:nvGrpSpPr>
      <p:grpSpPr>
        <a:xfrm>
          <a:off x="0" y="0"/>
          <a:ext cx="0" cy="0"/>
          <a:chOff x="0" y="0"/>
          <a:chExt cx="0" cy="0"/>
        </a:xfrm>
      </p:grpSpPr>
      <p:sp>
        <p:nvSpPr>
          <p:cNvPr id="504" name="Google Shape;504;g1f89c44388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5" name="Google Shape;505;g1f89c44388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11" name="Shape 511"/>
        <p:cNvGrpSpPr/>
        <p:nvPr/>
      </p:nvGrpSpPr>
      <p:grpSpPr>
        <a:xfrm>
          <a:off x="0" y="0"/>
          <a:ext cx="0" cy="0"/>
          <a:chOff x="0" y="0"/>
          <a:chExt cx="0" cy="0"/>
        </a:xfrm>
      </p:grpSpPr>
      <p:sp>
        <p:nvSpPr>
          <p:cNvPr id="512" name="Google Shape;512;g1f89c44388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3" name="Google Shape;513;g1f89c44388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19" name="Shape 519"/>
        <p:cNvGrpSpPr/>
        <p:nvPr/>
      </p:nvGrpSpPr>
      <p:grpSpPr>
        <a:xfrm>
          <a:off x="0" y="0"/>
          <a:ext cx="0" cy="0"/>
          <a:chOff x="0" y="0"/>
          <a:chExt cx="0" cy="0"/>
        </a:xfrm>
      </p:grpSpPr>
      <p:sp>
        <p:nvSpPr>
          <p:cNvPr id="520" name="Google Shape;520;g1f89c44388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1" name="Google Shape;521;g1f89c44388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27" name="Shape 527"/>
        <p:cNvGrpSpPr/>
        <p:nvPr/>
      </p:nvGrpSpPr>
      <p:grpSpPr>
        <a:xfrm>
          <a:off x="0" y="0"/>
          <a:ext cx="0" cy="0"/>
          <a:chOff x="0" y="0"/>
          <a:chExt cx="0" cy="0"/>
        </a:xfrm>
      </p:grpSpPr>
      <p:sp>
        <p:nvSpPr>
          <p:cNvPr id="528" name="Google Shape;528;g1f89c44388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9" name="Google Shape;529;g1f89c44388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43" name="Shape 543"/>
        <p:cNvGrpSpPr/>
        <p:nvPr/>
      </p:nvGrpSpPr>
      <p:grpSpPr>
        <a:xfrm>
          <a:off x="0" y="0"/>
          <a:ext cx="0" cy="0"/>
          <a:chOff x="0" y="0"/>
          <a:chExt cx="0" cy="0"/>
        </a:xfrm>
      </p:grpSpPr>
      <p:sp>
        <p:nvSpPr>
          <p:cNvPr id="544" name="Google Shape;544;g1f89c44388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5" name="Google Shape;545;g1f89c44388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59" name="Shape 559"/>
        <p:cNvGrpSpPr/>
        <p:nvPr/>
      </p:nvGrpSpPr>
      <p:grpSpPr>
        <a:xfrm>
          <a:off x="0" y="0"/>
          <a:ext cx="0" cy="0"/>
          <a:chOff x="0" y="0"/>
          <a:chExt cx="0" cy="0"/>
        </a:xfrm>
      </p:grpSpPr>
      <p:sp>
        <p:nvSpPr>
          <p:cNvPr id="560" name="Google Shape;560;g1f89c44388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1" name="Google Shape;561;g1f89c44388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75" name="Shape 575"/>
        <p:cNvGrpSpPr/>
        <p:nvPr/>
      </p:nvGrpSpPr>
      <p:grpSpPr>
        <a:xfrm>
          <a:off x="0" y="0"/>
          <a:ext cx="0" cy="0"/>
          <a:chOff x="0" y="0"/>
          <a:chExt cx="0" cy="0"/>
        </a:xfrm>
      </p:grpSpPr>
      <p:sp>
        <p:nvSpPr>
          <p:cNvPr id="576" name="Google Shape;576;g1e8bbdec3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7" name="Google Shape;577;g1e8bbdec3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83" name="Shape 583"/>
        <p:cNvGrpSpPr/>
        <p:nvPr/>
      </p:nvGrpSpPr>
      <p:grpSpPr>
        <a:xfrm>
          <a:off x="0" y="0"/>
          <a:ext cx="0" cy="0"/>
          <a:chOff x="0" y="0"/>
          <a:chExt cx="0" cy="0"/>
        </a:xfrm>
      </p:grpSpPr>
      <p:sp>
        <p:nvSpPr>
          <p:cNvPr id="584" name="Google Shape;584;g1f89c4438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5" name="Google Shape;585;g1f89c4438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91" name="Shape 591"/>
        <p:cNvGrpSpPr/>
        <p:nvPr/>
      </p:nvGrpSpPr>
      <p:grpSpPr>
        <a:xfrm>
          <a:off x="0" y="0"/>
          <a:ext cx="0" cy="0"/>
          <a:chOff x="0" y="0"/>
          <a:chExt cx="0" cy="0"/>
        </a:xfrm>
      </p:grpSpPr>
      <p:sp>
        <p:nvSpPr>
          <p:cNvPr id="592" name="Google Shape;592;g1e8bbdec37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3" name="Google Shape;593;g1e8bbdec37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99" name="Shape 599"/>
        <p:cNvGrpSpPr/>
        <p:nvPr/>
      </p:nvGrpSpPr>
      <p:grpSpPr>
        <a:xfrm>
          <a:off x="0" y="0"/>
          <a:ext cx="0" cy="0"/>
          <a:chOff x="0" y="0"/>
          <a:chExt cx="0" cy="0"/>
        </a:xfrm>
      </p:grpSpPr>
      <p:sp>
        <p:nvSpPr>
          <p:cNvPr id="600" name="Google Shape;600;g1e8e567ec3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1" name="Google Shape;601;g1e8e567ec3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612" name="Shape 612"/>
        <p:cNvGrpSpPr/>
        <p:nvPr/>
      </p:nvGrpSpPr>
      <p:grpSpPr>
        <a:xfrm>
          <a:off x="0" y="0"/>
          <a:ext cx="0" cy="0"/>
          <a:chOff x="0" y="0"/>
          <a:chExt cx="0" cy="0"/>
        </a:xfrm>
      </p:grpSpPr>
      <p:sp>
        <p:nvSpPr>
          <p:cNvPr id="613" name="Google Shape;613;g1e8e567ec3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4" name="Google Shape;614;g1e8e567ec3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620" name="Shape 620"/>
        <p:cNvGrpSpPr/>
        <p:nvPr/>
      </p:nvGrpSpPr>
      <p:grpSpPr>
        <a:xfrm>
          <a:off x="0" y="0"/>
          <a:ext cx="0" cy="0"/>
          <a:chOff x="0" y="0"/>
          <a:chExt cx="0" cy="0"/>
        </a:xfrm>
      </p:grpSpPr>
      <p:sp>
        <p:nvSpPr>
          <p:cNvPr id="621" name="Google Shape;621;g1e8e567ec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2" name="Google Shape;622;g1e8e567ec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628" name="Shape 628"/>
        <p:cNvGrpSpPr/>
        <p:nvPr/>
      </p:nvGrpSpPr>
      <p:grpSpPr>
        <a:xfrm>
          <a:off x="0" y="0"/>
          <a:ext cx="0" cy="0"/>
          <a:chOff x="0" y="0"/>
          <a:chExt cx="0" cy="0"/>
        </a:xfrm>
      </p:grpSpPr>
      <p:sp>
        <p:nvSpPr>
          <p:cNvPr id="629" name="Google Shape;629;g1e8e567ec3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0" name="Google Shape;630;g1e8e567ec3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636" name="Shape 636"/>
        <p:cNvGrpSpPr/>
        <p:nvPr/>
      </p:nvGrpSpPr>
      <p:grpSpPr>
        <a:xfrm>
          <a:off x="0" y="0"/>
          <a:ext cx="0" cy="0"/>
          <a:chOff x="0" y="0"/>
          <a:chExt cx="0" cy="0"/>
        </a:xfrm>
      </p:grpSpPr>
      <p:sp>
        <p:nvSpPr>
          <p:cNvPr id="637" name="Google Shape;637;g1e8e567ec3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8" name="Google Shape;638;g1e8e567ec3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644" name="Shape 644"/>
        <p:cNvGrpSpPr/>
        <p:nvPr/>
      </p:nvGrpSpPr>
      <p:grpSpPr>
        <a:xfrm>
          <a:off x="0" y="0"/>
          <a:ext cx="0" cy="0"/>
          <a:chOff x="0" y="0"/>
          <a:chExt cx="0" cy="0"/>
        </a:xfrm>
      </p:grpSpPr>
      <p:sp>
        <p:nvSpPr>
          <p:cNvPr id="645" name="Google Shape;645;g1e8bbdec37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6" name="Google Shape;646;g1e8bbdec37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652" name="Shape 652"/>
        <p:cNvGrpSpPr/>
        <p:nvPr/>
      </p:nvGrpSpPr>
      <p:grpSpPr>
        <a:xfrm>
          <a:off x="0" y="0"/>
          <a:ext cx="0" cy="0"/>
          <a:chOff x="0" y="0"/>
          <a:chExt cx="0" cy="0"/>
        </a:xfrm>
      </p:grpSpPr>
      <p:sp>
        <p:nvSpPr>
          <p:cNvPr id="653" name="Google Shape;653;g1e8bbdec37_0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4" name="Google Shape;654;g1e8bbdec37_0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660" name="Shape 660"/>
        <p:cNvGrpSpPr/>
        <p:nvPr/>
      </p:nvGrpSpPr>
      <p:grpSpPr>
        <a:xfrm>
          <a:off x="0" y="0"/>
          <a:ext cx="0" cy="0"/>
          <a:chOff x="0" y="0"/>
          <a:chExt cx="0" cy="0"/>
        </a:xfrm>
      </p:grpSpPr>
      <p:sp>
        <p:nvSpPr>
          <p:cNvPr id="661" name="Google Shape;661;g1e9c1e653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2" name="Google Shape;662;g1e9c1e653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668" name="Shape 668"/>
        <p:cNvGrpSpPr/>
        <p:nvPr/>
      </p:nvGrpSpPr>
      <p:grpSpPr>
        <a:xfrm>
          <a:off x="0" y="0"/>
          <a:ext cx="0" cy="0"/>
          <a:chOff x="0" y="0"/>
          <a:chExt cx="0" cy="0"/>
        </a:xfrm>
      </p:grpSpPr>
      <p:sp>
        <p:nvSpPr>
          <p:cNvPr id="669" name="Google Shape;669;g1e8e567ec3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0" name="Google Shape;670;g1e8e567ec3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676" name="Shape 676"/>
        <p:cNvGrpSpPr/>
        <p:nvPr/>
      </p:nvGrpSpPr>
      <p:grpSpPr>
        <a:xfrm>
          <a:off x="0" y="0"/>
          <a:ext cx="0" cy="0"/>
          <a:chOff x="0" y="0"/>
          <a:chExt cx="0" cy="0"/>
        </a:xfrm>
      </p:grpSpPr>
      <p:sp>
        <p:nvSpPr>
          <p:cNvPr id="677" name="Google Shape;677;g1e8e567ec3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8" name="Google Shape;678;g1e8e567ec3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684" name="Shape 684"/>
        <p:cNvGrpSpPr/>
        <p:nvPr/>
      </p:nvGrpSpPr>
      <p:grpSpPr>
        <a:xfrm>
          <a:off x="0" y="0"/>
          <a:ext cx="0" cy="0"/>
          <a:chOff x="0" y="0"/>
          <a:chExt cx="0" cy="0"/>
        </a:xfrm>
      </p:grpSpPr>
      <p:sp>
        <p:nvSpPr>
          <p:cNvPr id="685" name="Google Shape;685;g1e8e567ec3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6" name="Google Shape;686;g1e8e567ec3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692" name="Shape 692"/>
        <p:cNvGrpSpPr/>
        <p:nvPr/>
      </p:nvGrpSpPr>
      <p:grpSpPr>
        <a:xfrm>
          <a:off x="0" y="0"/>
          <a:ext cx="0" cy="0"/>
          <a:chOff x="0" y="0"/>
          <a:chExt cx="0" cy="0"/>
        </a:xfrm>
      </p:grpSpPr>
      <p:sp>
        <p:nvSpPr>
          <p:cNvPr id="693" name="Google Shape;693;g1e8e567ec3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4" name="Google Shape;694;g1e8e567ec3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701" name="Shape 701"/>
        <p:cNvGrpSpPr/>
        <p:nvPr/>
      </p:nvGrpSpPr>
      <p:grpSpPr>
        <a:xfrm>
          <a:off x="0" y="0"/>
          <a:ext cx="0" cy="0"/>
          <a:chOff x="0" y="0"/>
          <a:chExt cx="0" cy="0"/>
        </a:xfrm>
      </p:grpSpPr>
      <p:sp>
        <p:nvSpPr>
          <p:cNvPr id="702" name="Google Shape;702;g1e8e567ec3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3" name="Google Shape;703;g1e8e567ec3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710" name="Shape 710"/>
        <p:cNvGrpSpPr/>
        <p:nvPr/>
      </p:nvGrpSpPr>
      <p:grpSpPr>
        <a:xfrm>
          <a:off x="0" y="0"/>
          <a:ext cx="0" cy="0"/>
          <a:chOff x="0" y="0"/>
          <a:chExt cx="0" cy="0"/>
        </a:xfrm>
      </p:grpSpPr>
      <p:sp>
        <p:nvSpPr>
          <p:cNvPr id="711" name="Google Shape;711;g1e8e567ec3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2" name="Google Shape;712;g1e8e567ec3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718" name="Shape 718"/>
        <p:cNvGrpSpPr/>
        <p:nvPr/>
      </p:nvGrpSpPr>
      <p:grpSpPr>
        <a:xfrm>
          <a:off x="0" y="0"/>
          <a:ext cx="0" cy="0"/>
          <a:chOff x="0" y="0"/>
          <a:chExt cx="0" cy="0"/>
        </a:xfrm>
      </p:grpSpPr>
      <p:sp>
        <p:nvSpPr>
          <p:cNvPr id="719" name="Google Shape;719;g1e8e567ec3_0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0" name="Google Shape;720;g1e8e567ec3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726" name="Shape 726"/>
        <p:cNvGrpSpPr/>
        <p:nvPr/>
      </p:nvGrpSpPr>
      <p:grpSpPr>
        <a:xfrm>
          <a:off x="0" y="0"/>
          <a:ext cx="0" cy="0"/>
          <a:chOff x="0" y="0"/>
          <a:chExt cx="0" cy="0"/>
        </a:xfrm>
      </p:grpSpPr>
      <p:sp>
        <p:nvSpPr>
          <p:cNvPr id="727" name="Google Shape;727;g1e8e567ec3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8" name="Google Shape;728;g1e8e567ec3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734" name="Shape 734"/>
        <p:cNvGrpSpPr/>
        <p:nvPr/>
      </p:nvGrpSpPr>
      <p:grpSpPr>
        <a:xfrm>
          <a:off x="0" y="0"/>
          <a:ext cx="0" cy="0"/>
          <a:chOff x="0" y="0"/>
          <a:chExt cx="0" cy="0"/>
        </a:xfrm>
      </p:grpSpPr>
      <p:sp>
        <p:nvSpPr>
          <p:cNvPr id="735" name="Google Shape;735;g1e8e567ec3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6" name="Google Shape;736;g1e8e567ec3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742" name="Shape 742"/>
        <p:cNvGrpSpPr/>
        <p:nvPr/>
      </p:nvGrpSpPr>
      <p:grpSpPr>
        <a:xfrm>
          <a:off x="0" y="0"/>
          <a:ext cx="0" cy="0"/>
          <a:chOff x="0" y="0"/>
          <a:chExt cx="0" cy="0"/>
        </a:xfrm>
      </p:grpSpPr>
      <p:sp>
        <p:nvSpPr>
          <p:cNvPr id="743" name="Google Shape;743;g1e8e567ec3_0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4" name="Google Shape;744;g1e8e567ec3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750" name="Shape 750"/>
        <p:cNvGrpSpPr/>
        <p:nvPr/>
      </p:nvGrpSpPr>
      <p:grpSpPr>
        <a:xfrm>
          <a:off x="0" y="0"/>
          <a:ext cx="0" cy="0"/>
          <a:chOff x="0" y="0"/>
          <a:chExt cx="0" cy="0"/>
        </a:xfrm>
      </p:grpSpPr>
      <p:sp>
        <p:nvSpPr>
          <p:cNvPr id="751" name="Google Shape;751;g1e8e567ec3_0_1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2" name="Google Shape;752;g1e8e567ec3_0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758" name="Shape 758"/>
        <p:cNvGrpSpPr/>
        <p:nvPr/>
      </p:nvGrpSpPr>
      <p:grpSpPr>
        <a:xfrm>
          <a:off x="0" y="0"/>
          <a:ext cx="0" cy="0"/>
          <a:chOff x="0" y="0"/>
          <a:chExt cx="0" cy="0"/>
        </a:xfrm>
      </p:grpSpPr>
      <p:sp>
        <p:nvSpPr>
          <p:cNvPr id="759" name="Google Shape;759;g1e8e567ec3_0_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0" name="Google Shape;760;g1e8e567ec3_0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766" name="Shape 766"/>
        <p:cNvGrpSpPr/>
        <p:nvPr/>
      </p:nvGrpSpPr>
      <p:grpSpPr>
        <a:xfrm>
          <a:off x="0" y="0"/>
          <a:ext cx="0" cy="0"/>
          <a:chOff x="0" y="0"/>
          <a:chExt cx="0" cy="0"/>
        </a:xfrm>
      </p:grpSpPr>
      <p:sp>
        <p:nvSpPr>
          <p:cNvPr id="767" name="Google Shape;767;g1e8e567ec3_0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8" name="Google Shape;768;g1e8e567ec3_0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774" name="Shape 774"/>
        <p:cNvGrpSpPr/>
        <p:nvPr/>
      </p:nvGrpSpPr>
      <p:grpSpPr>
        <a:xfrm>
          <a:off x="0" y="0"/>
          <a:ext cx="0" cy="0"/>
          <a:chOff x="0" y="0"/>
          <a:chExt cx="0" cy="0"/>
        </a:xfrm>
      </p:grpSpPr>
      <p:sp>
        <p:nvSpPr>
          <p:cNvPr id="775" name="Google Shape;775;g1e8e567ec3_0_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6" name="Google Shape;776;g1e8e567ec3_0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782" name="Shape 782"/>
        <p:cNvGrpSpPr/>
        <p:nvPr/>
      </p:nvGrpSpPr>
      <p:grpSpPr>
        <a:xfrm>
          <a:off x="0" y="0"/>
          <a:ext cx="0" cy="0"/>
          <a:chOff x="0" y="0"/>
          <a:chExt cx="0" cy="0"/>
        </a:xfrm>
      </p:grpSpPr>
      <p:sp>
        <p:nvSpPr>
          <p:cNvPr id="783" name="Google Shape;783;g1e8e567ec3_0_2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4" name="Google Shape;784;g1e8e567ec3_0_2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791" name="Shape 791"/>
        <p:cNvGrpSpPr/>
        <p:nvPr/>
      </p:nvGrpSpPr>
      <p:grpSpPr>
        <a:xfrm>
          <a:off x="0" y="0"/>
          <a:ext cx="0" cy="0"/>
          <a:chOff x="0" y="0"/>
          <a:chExt cx="0" cy="0"/>
        </a:xfrm>
      </p:grpSpPr>
      <p:sp>
        <p:nvSpPr>
          <p:cNvPr id="792" name="Google Shape;792;g1e8e567ec3_0_2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3" name="Google Shape;793;g1e8e567ec3_0_2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799" name="Shape 799"/>
        <p:cNvGrpSpPr/>
        <p:nvPr/>
      </p:nvGrpSpPr>
      <p:grpSpPr>
        <a:xfrm>
          <a:off x="0" y="0"/>
          <a:ext cx="0" cy="0"/>
          <a:chOff x="0" y="0"/>
          <a:chExt cx="0" cy="0"/>
        </a:xfrm>
      </p:grpSpPr>
      <p:sp>
        <p:nvSpPr>
          <p:cNvPr id="800" name="Google Shape;800;g1e8e567ec3_0_2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1" name="Google Shape;801;g1e8e567ec3_0_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807" name="Shape 807"/>
        <p:cNvGrpSpPr/>
        <p:nvPr/>
      </p:nvGrpSpPr>
      <p:grpSpPr>
        <a:xfrm>
          <a:off x="0" y="0"/>
          <a:ext cx="0" cy="0"/>
          <a:chOff x="0" y="0"/>
          <a:chExt cx="0" cy="0"/>
        </a:xfrm>
      </p:grpSpPr>
      <p:sp>
        <p:nvSpPr>
          <p:cNvPr id="808" name="Google Shape;808;g1e8e567ec3_0_2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9" name="Google Shape;809;g1e8e567ec3_0_2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815" name="Shape 815"/>
        <p:cNvGrpSpPr/>
        <p:nvPr/>
      </p:nvGrpSpPr>
      <p:grpSpPr>
        <a:xfrm>
          <a:off x="0" y="0"/>
          <a:ext cx="0" cy="0"/>
          <a:chOff x="0" y="0"/>
          <a:chExt cx="0" cy="0"/>
        </a:xfrm>
      </p:grpSpPr>
      <p:sp>
        <p:nvSpPr>
          <p:cNvPr id="816" name="Google Shape;816;g1e8e567ec3_0_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7" name="Google Shape;817;g1e8e567ec3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823" name="Shape 823"/>
        <p:cNvGrpSpPr/>
        <p:nvPr/>
      </p:nvGrpSpPr>
      <p:grpSpPr>
        <a:xfrm>
          <a:off x="0" y="0"/>
          <a:ext cx="0" cy="0"/>
          <a:chOff x="0" y="0"/>
          <a:chExt cx="0" cy="0"/>
        </a:xfrm>
      </p:grpSpPr>
      <p:sp>
        <p:nvSpPr>
          <p:cNvPr id="824" name="Google Shape;824;g1e8e567ec3_0_2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5" name="Google Shape;825;g1e8e567ec3_0_2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831" name="Shape 831"/>
        <p:cNvGrpSpPr/>
        <p:nvPr/>
      </p:nvGrpSpPr>
      <p:grpSpPr>
        <a:xfrm>
          <a:off x="0" y="0"/>
          <a:ext cx="0" cy="0"/>
          <a:chOff x="0" y="0"/>
          <a:chExt cx="0" cy="0"/>
        </a:xfrm>
      </p:grpSpPr>
      <p:sp>
        <p:nvSpPr>
          <p:cNvPr id="832" name="Google Shape;832;g1e9c1e653f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3" name="Google Shape;833;g1e9c1e653f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jp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jp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jpg"/><Relationship Id="rId4" Type="http://schemas.openxmlformats.org/officeDocument/2006/relationships/image" Target="../media/image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jpg"/><Relationship Id="rId4" Type="http://schemas.openxmlformats.org/officeDocument/2006/relationships/image" Target="../media/image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jpg"/><Relationship Id="rId4" Type="http://schemas.openxmlformats.org/officeDocument/2006/relationships/image" Target="../media/image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1.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1.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1.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1.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1.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1.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1.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1.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1.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1.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1.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1.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1.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1.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1.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1.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1.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1.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1.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1.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1.jp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1.jp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1.jp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1.jp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1.jp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1.jp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image" Target="../media/image1.jp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image" Target="../media/image1.jp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image" Target="../media/image1.jp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image" Target="../media/image1.jp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image" Target="../media/image1.jp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 Id="rId3" Type="http://schemas.openxmlformats.org/officeDocument/2006/relationships/image" Target="../media/image1.jp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 Id="rId3" Type="http://schemas.openxmlformats.org/officeDocument/2006/relationships/image" Target="../media/image1.jp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 Id="rId3" Type="http://schemas.openxmlformats.org/officeDocument/2006/relationships/image" Target="../media/image1.jp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 Id="rId3" Type="http://schemas.openxmlformats.org/officeDocument/2006/relationships/image" Target="../media/image1.jp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 Id="rId3" Type="http://schemas.openxmlformats.org/officeDocument/2006/relationships/image" Target="../media/image1.jp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 Id="rId3" Type="http://schemas.openxmlformats.org/officeDocument/2006/relationships/image" Target="../media/image1.jp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 Id="rId3" Type="http://schemas.openxmlformats.org/officeDocument/2006/relationships/image" Target="../media/image1.jp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 Id="rId3" Type="http://schemas.openxmlformats.org/officeDocument/2006/relationships/image" Target="../media/image1.jp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 Id="rId3" Type="http://schemas.openxmlformats.org/officeDocument/2006/relationships/image" Target="../media/image1.jp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 Id="rId3" Type="http://schemas.openxmlformats.org/officeDocument/2006/relationships/image" Target="../media/image1.jp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 Id="rId3" Type="http://schemas.openxmlformats.org/officeDocument/2006/relationships/image" Target="../media/image1.jp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 Id="rId3" Type="http://schemas.openxmlformats.org/officeDocument/2006/relationships/image" Target="../media/image1.jp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 Id="rId3" Type="http://schemas.openxmlformats.org/officeDocument/2006/relationships/image" Target="../media/image1.jp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 Id="rId3" Type="http://schemas.openxmlformats.org/officeDocument/2006/relationships/image" Target="../media/image1.jpg"/><Relationship Id="rId4" Type="http://schemas.openxmlformats.org/officeDocument/2006/relationships/image" Target="../media/image2.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 Id="rId3" Type="http://schemas.openxmlformats.org/officeDocument/2006/relationships/image" Target="../media/image1.jpg"/><Relationship Id="rId4" Type="http://schemas.openxmlformats.org/officeDocument/2006/relationships/image" Target="../media/image4.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8.xml"/><Relationship Id="rId3" Type="http://schemas.openxmlformats.org/officeDocument/2006/relationships/image" Target="../media/image1.jp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 Id="rId3" Type="http://schemas.openxmlformats.org/officeDocument/2006/relationships/image" Target="../media/image1.jp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0.xml"/><Relationship Id="rId3" Type="http://schemas.openxmlformats.org/officeDocument/2006/relationships/image" Target="../media/image1.jp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1.xml"/><Relationship Id="rId3" Type="http://schemas.openxmlformats.org/officeDocument/2006/relationships/image" Target="../media/image1.jp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2.xml"/><Relationship Id="rId3" Type="http://schemas.openxmlformats.org/officeDocument/2006/relationships/image" Target="../media/image1.jp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3.xml"/><Relationship Id="rId3" Type="http://schemas.openxmlformats.org/officeDocument/2006/relationships/image" Target="../media/image1.jp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4.xml"/><Relationship Id="rId3" Type="http://schemas.openxmlformats.org/officeDocument/2006/relationships/image" Target="../media/image1.jp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5.xml"/><Relationship Id="rId3" Type="http://schemas.openxmlformats.org/officeDocument/2006/relationships/image" Target="../media/image1.jp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6.xml"/><Relationship Id="rId3" Type="http://schemas.openxmlformats.org/officeDocument/2006/relationships/image" Target="../media/image1.jp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7.xml"/><Relationship Id="rId3" Type="http://schemas.openxmlformats.org/officeDocument/2006/relationships/image" Target="../media/image1.jpg"/><Relationship Id="rId4" Type="http://schemas.openxmlformats.org/officeDocument/2006/relationships/image" Target="../media/image3.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8.xml"/><Relationship Id="rId3" Type="http://schemas.openxmlformats.org/officeDocument/2006/relationships/image" Target="../media/image1.jp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9.xml"/><Relationship Id="rId3" Type="http://schemas.openxmlformats.org/officeDocument/2006/relationships/image" Target="../media/image1.jp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0.xml"/><Relationship Id="rId3" Type="http://schemas.openxmlformats.org/officeDocument/2006/relationships/image" Target="../media/image1.jp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1.xml"/><Relationship Id="rId3" Type="http://schemas.openxmlformats.org/officeDocument/2006/relationships/image" Target="../media/image1.jp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2.xml"/><Relationship Id="rId3" Type="http://schemas.openxmlformats.org/officeDocument/2006/relationships/image" Target="../media/image1.jp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 Id="rId3"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Time Series Analysis</a:t>
            </a:r>
            <a:endParaRPr b="1">
              <a:latin typeface="Montserrat"/>
              <a:ea typeface="Montserrat"/>
              <a:cs typeface="Montserrat"/>
              <a:sym typeface="Montserrat"/>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pic>
        <p:nvPicPr>
          <p:cNvPr descr="watermark.jpg" id="56" name="Google Shape;56;p13"/>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57" name="Google Shape;57;p1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61" name="Shape 61"/>
        <p:cNvGrpSpPr/>
        <p:nvPr/>
      </p:nvGrpSpPr>
      <p:grpSpPr>
        <a:xfrm>
          <a:off x="0" y="0"/>
          <a:ext cx="0" cy="0"/>
          <a:chOff x="0" y="0"/>
          <a:chExt cx="0" cy="0"/>
        </a:xfrm>
      </p:grpSpPr>
      <p:sp>
        <p:nvSpPr>
          <p:cNvPr id="62" name="Google Shape;62;p1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63" name="Google Shape;63;p1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It is now time to shift our focus to dealing with time series data!</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A lot of our financial information is going to come in the form of some value plotted against a time series.</a:t>
            </a:r>
            <a:endParaRPr sz="3000">
              <a:solidFill>
                <a:srgbClr val="434343"/>
              </a:solidFill>
              <a:latin typeface="Montserrat"/>
              <a:ea typeface="Montserrat"/>
              <a:cs typeface="Montserrat"/>
              <a:sym typeface="Montserrat"/>
            </a:endParaRPr>
          </a:p>
        </p:txBody>
      </p:sp>
      <p:pic>
        <p:nvPicPr>
          <p:cNvPr descr="watermark.jpg" id="64" name="Google Shape;64;p14"/>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65" name="Google Shape;65;p1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69" name="Shape 69"/>
        <p:cNvGrpSpPr/>
        <p:nvPr/>
      </p:nvGrpSpPr>
      <p:grpSpPr>
        <a:xfrm>
          <a:off x="0" y="0"/>
          <a:ext cx="0" cy="0"/>
          <a:chOff x="0" y="0"/>
          <a:chExt cx="0" cy="0"/>
        </a:xfrm>
      </p:grpSpPr>
      <p:sp>
        <p:nvSpPr>
          <p:cNvPr id="70" name="Google Shape;70;p1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71" name="Google Shape;71;p1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While the concepts presented in this section of the course are very important, we may not use them often when working directly with our algorithmic trading models.</a:t>
            </a:r>
            <a:endParaRPr sz="3000">
              <a:solidFill>
                <a:srgbClr val="434343"/>
              </a:solidFill>
              <a:latin typeface="Montserrat"/>
              <a:ea typeface="Montserrat"/>
              <a:cs typeface="Montserrat"/>
              <a:sym typeface="Montserrat"/>
            </a:endParaRPr>
          </a:p>
        </p:txBody>
      </p:sp>
      <p:pic>
        <p:nvPicPr>
          <p:cNvPr descr="watermark.jpg" id="72" name="Google Shape;72;p15"/>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73" name="Google Shape;73;p1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77" name="Shape 77"/>
        <p:cNvGrpSpPr/>
        <p:nvPr/>
      </p:nvGrpSpPr>
      <p:grpSpPr>
        <a:xfrm>
          <a:off x="0" y="0"/>
          <a:ext cx="0" cy="0"/>
          <a:chOff x="0" y="0"/>
          <a:chExt cx="0" cy="0"/>
        </a:xfrm>
      </p:grpSpPr>
      <p:sp>
        <p:nvSpPr>
          <p:cNvPr id="78" name="Google Shape;78;p1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79" name="Google Shape;79;p1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In fact, one of our main reasons for covering these topics is so that in future sections of the course we can show why using some of these analysis techniques on stock information is actually NOT a good idea.</a:t>
            </a:r>
            <a:endParaRPr sz="3000">
              <a:solidFill>
                <a:srgbClr val="434343"/>
              </a:solidFill>
              <a:latin typeface="Montserrat"/>
              <a:ea typeface="Montserrat"/>
              <a:cs typeface="Montserrat"/>
              <a:sym typeface="Montserrat"/>
            </a:endParaRPr>
          </a:p>
        </p:txBody>
      </p:sp>
      <p:pic>
        <p:nvPicPr>
          <p:cNvPr descr="watermark.jpg" id="80" name="Google Shape;80;p16"/>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81" name="Google Shape;81;p1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85" name="Shape 85"/>
        <p:cNvGrpSpPr/>
        <p:nvPr/>
      </p:nvGrpSpPr>
      <p:grpSpPr>
        <a:xfrm>
          <a:off x="0" y="0"/>
          <a:ext cx="0" cy="0"/>
          <a:chOff x="0" y="0"/>
          <a:chExt cx="0" cy="0"/>
        </a:xfrm>
      </p:grpSpPr>
      <p:sp>
        <p:nvSpPr>
          <p:cNvPr id="86" name="Google Shape;86;p1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87" name="Google Shape;87;p1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It can be very tempting to use some of these techniques on financial data, but sometimes it’s actually not a good idea, and to understand why that is, we first need to understand the techniques themselves.</a:t>
            </a:r>
            <a:endParaRPr sz="3000">
              <a:solidFill>
                <a:srgbClr val="434343"/>
              </a:solidFill>
              <a:latin typeface="Montserrat"/>
              <a:ea typeface="Montserrat"/>
              <a:cs typeface="Montserrat"/>
              <a:sym typeface="Montserrat"/>
            </a:endParaRPr>
          </a:p>
        </p:txBody>
      </p:sp>
      <p:pic>
        <p:nvPicPr>
          <p:cNvPr descr="watermark.jpg" id="88" name="Google Shape;88;p17"/>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89" name="Google Shape;89;p1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93" name="Shape 93"/>
        <p:cNvGrpSpPr/>
        <p:nvPr/>
      </p:nvGrpSpPr>
      <p:grpSpPr>
        <a:xfrm>
          <a:off x="0" y="0"/>
          <a:ext cx="0" cy="0"/>
          <a:chOff x="0" y="0"/>
          <a:chExt cx="0" cy="0"/>
        </a:xfrm>
      </p:grpSpPr>
      <p:sp>
        <p:nvSpPr>
          <p:cNvPr id="94" name="Google Shape;94;p1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95" name="Google Shape;95;p1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So as an overall approach to this section, you should try to get a higher level understanding of some of these concepts, but don’t get concerned too much with the details (as far as future sections of the course are concerned).</a:t>
            </a:r>
            <a:endParaRPr sz="3000">
              <a:solidFill>
                <a:srgbClr val="434343"/>
              </a:solidFill>
              <a:latin typeface="Montserrat"/>
              <a:ea typeface="Montserrat"/>
              <a:cs typeface="Montserrat"/>
              <a:sym typeface="Montserrat"/>
            </a:endParaRPr>
          </a:p>
        </p:txBody>
      </p:sp>
      <p:pic>
        <p:nvPicPr>
          <p:cNvPr descr="watermark.jpg" id="96" name="Google Shape;96;p18"/>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97" name="Google Shape;97;p1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01" name="Shape 101"/>
        <p:cNvGrpSpPr/>
        <p:nvPr/>
      </p:nvGrpSpPr>
      <p:grpSpPr>
        <a:xfrm>
          <a:off x="0" y="0"/>
          <a:ext cx="0" cy="0"/>
          <a:chOff x="0" y="0"/>
          <a:chExt cx="0" cy="0"/>
        </a:xfrm>
      </p:grpSpPr>
      <p:sp>
        <p:nvSpPr>
          <p:cNvPr id="102" name="Google Shape;102;p1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103" name="Google Shape;103;p1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In this section we will discuss:</a:t>
            </a:r>
            <a:endParaRPr sz="3000">
              <a:solidFill>
                <a:srgbClr val="434343"/>
              </a:solidFill>
              <a:latin typeface="Montserrat"/>
              <a:ea typeface="Montserrat"/>
              <a:cs typeface="Montserrat"/>
              <a:sym typeface="Montserrat"/>
            </a:endParaRPr>
          </a:p>
          <a:p>
            <a:pPr indent="-419100" lvl="1" marL="13716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Time Series Basics</a:t>
            </a:r>
            <a:endParaRPr sz="3000">
              <a:solidFill>
                <a:srgbClr val="434343"/>
              </a:solidFill>
              <a:latin typeface="Montserrat"/>
              <a:ea typeface="Montserrat"/>
              <a:cs typeface="Montserrat"/>
              <a:sym typeface="Montserrat"/>
            </a:endParaRPr>
          </a:p>
          <a:p>
            <a:pPr indent="-419100" lvl="1" marL="13716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Statsmodels Python Library</a:t>
            </a:r>
            <a:endParaRPr sz="3000">
              <a:solidFill>
                <a:srgbClr val="434343"/>
              </a:solidFill>
              <a:latin typeface="Montserrat"/>
              <a:ea typeface="Montserrat"/>
              <a:cs typeface="Montserrat"/>
              <a:sym typeface="Montserrat"/>
            </a:endParaRPr>
          </a:p>
          <a:p>
            <a:pPr indent="-419100" lvl="1" marL="13716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ETS Models and Decomposition </a:t>
            </a:r>
            <a:endParaRPr sz="3000">
              <a:solidFill>
                <a:srgbClr val="434343"/>
              </a:solidFill>
              <a:latin typeface="Montserrat"/>
              <a:ea typeface="Montserrat"/>
              <a:cs typeface="Montserrat"/>
              <a:sym typeface="Montserrat"/>
            </a:endParaRPr>
          </a:p>
          <a:p>
            <a:pPr indent="-419100" lvl="1" marL="13716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EWMA Models</a:t>
            </a:r>
            <a:endParaRPr sz="3000">
              <a:solidFill>
                <a:srgbClr val="434343"/>
              </a:solidFill>
              <a:latin typeface="Montserrat"/>
              <a:ea typeface="Montserrat"/>
              <a:cs typeface="Montserrat"/>
              <a:sym typeface="Montserrat"/>
            </a:endParaRPr>
          </a:p>
          <a:p>
            <a:pPr indent="-419100" lvl="1" marL="13716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ARIMA Models</a:t>
            </a:r>
            <a:endParaRPr sz="3000">
              <a:solidFill>
                <a:srgbClr val="434343"/>
              </a:solidFill>
              <a:latin typeface="Montserrat"/>
              <a:ea typeface="Montserrat"/>
              <a:cs typeface="Montserrat"/>
              <a:sym typeface="Montserrat"/>
            </a:endParaRPr>
          </a:p>
        </p:txBody>
      </p:sp>
      <p:pic>
        <p:nvPicPr>
          <p:cNvPr descr="watermark.jpg" id="104" name="Google Shape;104;p19"/>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05" name="Google Shape;105;p1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09" name="Shape 109"/>
        <p:cNvGrpSpPr/>
        <p:nvPr/>
      </p:nvGrpSpPr>
      <p:grpSpPr>
        <a:xfrm>
          <a:off x="0" y="0"/>
          <a:ext cx="0" cy="0"/>
          <a:chOff x="0" y="0"/>
          <a:chExt cx="0" cy="0"/>
        </a:xfrm>
      </p:grpSpPr>
      <p:sp>
        <p:nvSpPr>
          <p:cNvPr id="110" name="Google Shape;110;p20"/>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Time Series Basics</a:t>
            </a:r>
            <a:endParaRPr b="1">
              <a:latin typeface="Montserrat"/>
              <a:ea typeface="Montserrat"/>
              <a:cs typeface="Montserrat"/>
              <a:sym typeface="Montserrat"/>
            </a:endParaRPr>
          </a:p>
        </p:txBody>
      </p:sp>
      <p:sp>
        <p:nvSpPr>
          <p:cNvPr id="111" name="Google Shape;111;p20"/>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pic>
        <p:nvPicPr>
          <p:cNvPr descr="watermark.jpg" id="112" name="Google Shape;112;p20"/>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13" name="Google Shape;113;p2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17" name="Shape 117"/>
        <p:cNvGrpSpPr/>
        <p:nvPr/>
      </p:nvGrpSpPr>
      <p:grpSpPr>
        <a:xfrm>
          <a:off x="0" y="0"/>
          <a:ext cx="0" cy="0"/>
          <a:chOff x="0" y="0"/>
          <a:chExt cx="0" cy="0"/>
        </a:xfrm>
      </p:grpSpPr>
      <p:sp>
        <p:nvSpPr>
          <p:cNvPr id="118" name="Google Shape;118;p2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119" name="Google Shape;119;p2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Let’s begin discussing some important Time series concepts.</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Time series data has particular properties, let’s take a look at some plots and discuss some important terms!</a:t>
            </a:r>
            <a:endParaRPr sz="3000">
              <a:solidFill>
                <a:srgbClr val="434343"/>
              </a:solidFill>
              <a:latin typeface="Montserrat"/>
              <a:ea typeface="Montserrat"/>
              <a:cs typeface="Montserrat"/>
              <a:sym typeface="Montserrat"/>
            </a:endParaRPr>
          </a:p>
        </p:txBody>
      </p:sp>
      <p:pic>
        <p:nvPicPr>
          <p:cNvPr descr="watermark.jpg" id="120" name="Google Shape;120;p21"/>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21" name="Google Shape;121;p2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25" name="Shape 125"/>
        <p:cNvGrpSpPr/>
        <p:nvPr/>
      </p:nvGrpSpPr>
      <p:grpSpPr>
        <a:xfrm>
          <a:off x="0" y="0"/>
          <a:ext cx="0" cy="0"/>
          <a:chOff x="0" y="0"/>
          <a:chExt cx="0" cy="0"/>
        </a:xfrm>
      </p:grpSpPr>
      <p:sp>
        <p:nvSpPr>
          <p:cNvPr id="126" name="Google Shape;126;p22"/>
          <p:cNvSpPr txBox="1"/>
          <p:nvPr>
            <p:ph idx="1" type="body"/>
          </p:nvPr>
        </p:nvSpPr>
        <p:spPr>
          <a:xfrm>
            <a:off x="311700" y="119842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Trends</a:t>
            </a:r>
            <a:endParaRPr sz="3000">
              <a:solidFill>
                <a:srgbClr val="434343"/>
              </a:solidFill>
              <a:latin typeface="Montserrat"/>
              <a:ea typeface="Montserrat"/>
              <a:cs typeface="Montserrat"/>
              <a:sym typeface="Montserrat"/>
            </a:endParaRPr>
          </a:p>
        </p:txBody>
      </p:sp>
      <p:sp>
        <p:nvSpPr>
          <p:cNvPr id="127" name="Google Shape;127;p2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pic>
        <p:nvPicPr>
          <p:cNvPr descr="watermark.jpg" id="128" name="Google Shape;128;p22"/>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29" name="Google Shape;129;p2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cxnSp>
        <p:nvCxnSpPr>
          <p:cNvPr id="130" name="Google Shape;130;p22"/>
          <p:cNvCxnSpPr/>
          <p:nvPr/>
        </p:nvCxnSpPr>
        <p:spPr>
          <a:xfrm rot="10800000">
            <a:off x="2199975" y="1792650"/>
            <a:ext cx="10200" cy="2424000"/>
          </a:xfrm>
          <a:prstGeom prst="straightConnector1">
            <a:avLst/>
          </a:prstGeom>
          <a:noFill/>
          <a:ln cap="flat" cmpd="sng" w="28575">
            <a:solidFill>
              <a:schemeClr val="dk2"/>
            </a:solidFill>
            <a:prstDash val="solid"/>
            <a:round/>
            <a:headEnd len="med" w="med" type="none"/>
            <a:tailEnd len="med" w="med" type="triangle"/>
          </a:ln>
        </p:spPr>
      </p:cxnSp>
      <p:cxnSp>
        <p:nvCxnSpPr>
          <p:cNvPr id="131" name="Google Shape;131;p22"/>
          <p:cNvCxnSpPr/>
          <p:nvPr/>
        </p:nvCxnSpPr>
        <p:spPr>
          <a:xfrm>
            <a:off x="2199975" y="4216650"/>
            <a:ext cx="6050400" cy="0"/>
          </a:xfrm>
          <a:prstGeom prst="straightConnector1">
            <a:avLst/>
          </a:prstGeom>
          <a:noFill/>
          <a:ln cap="flat" cmpd="sng" w="28575">
            <a:solidFill>
              <a:schemeClr val="dk2"/>
            </a:solidFill>
            <a:prstDash val="solid"/>
            <a:round/>
            <a:headEnd len="med" w="med" type="none"/>
            <a:tailEnd len="med" w="med" type="triangle"/>
          </a:ln>
        </p:spPr>
      </p:cxnSp>
      <p:sp>
        <p:nvSpPr>
          <p:cNvPr id="132" name="Google Shape;132;p22"/>
          <p:cNvSpPr/>
          <p:nvPr/>
        </p:nvSpPr>
        <p:spPr>
          <a:xfrm>
            <a:off x="2230550" y="1862178"/>
            <a:ext cx="4644425" cy="2354475"/>
          </a:xfrm>
          <a:custGeom>
            <a:rect b="b" l="l" r="r" t="t"/>
            <a:pathLst>
              <a:path extrusionOk="0" h="94179" w="185777">
                <a:moveTo>
                  <a:pt x="0" y="94179"/>
                </a:moveTo>
                <a:cubicBezTo>
                  <a:pt x="1562" y="89019"/>
                  <a:pt x="6994" y="65796"/>
                  <a:pt x="9370" y="63216"/>
                </a:cubicBezTo>
                <a:cubicBezTo>
                  <a:pt x="11747" y="60636"/>
                  <a:pt x="12358" y="80939"/>
                  <a:pt x="14259" y="78698"/>
                </a:cubicBezTo>
                <a:cubicBezTo>
                  <a:pt x="16160" y="76457"/>
                  <a:pt x="18945" y="50655"/>
                  <a:pt x="20778" y="49772"/>
                </a:cubicBezTo>
                <a:cubicBezTo>
                  <a:pt x="22611" y="48889"/>
                  <a:pt x="23562" y="75506"/>
                  <a:pt x="25259" y="73401"/>
                </a:cubicBezTo>
                <a:cubicBezTo>
                  <a:pt x="26957" y="71296"/>
                  <a:pt x="28994" y="38772"/>
                  <a:pt x="30963" y="37142"/>
                </a:cubicBezTo>
                <a:cubicBezTo>
                  <a:pt x="32932" y="35513"/>
                  <a:pt x="35105" y="65593"/>
                  <a:pt x="37074" y="63624"/>
                </a:cubicBezTo>
                <a:cubicBezTo>
                  <a:pt x="39043" y="61655"/>
                  <a:pt x="40605" y="27839"/>
                  <a:pt x="42778" y="25327"/>
                </a:cubicBezTo>
                <a:cubicBezTo>
                  <a:pt x="44951" y="22815"/>
                  <a:pt x="47667" y="51741"/>
                  <a:pt x="50111" y="48550"/>
                </a:cubicBezTo>
                <a:cubicBezTo>
                  <a:pt x="52555" y="45359"/>
                  <a:pt x="54728" y="9235"/>
                  <a:pt x="57444" y="6179"/>
                </a:cubicBezTo>
                <a:cubicBezTo>
                  <a:pt x="60160" y="3123"/>
                  <a:pt x="63827" y="30963"/>
                  <a:pt x="66407" y="30216"/>
                </a:cubicBezTo>
                <a:cubicBezTo>
                  <a:pt x="68987" y="29469"/>
                  <a:pt x="70482" y="1562"/>
                  <a:pt x="72926" y="1698"/>
                </a:cubicBezTo>
                <a:cubicBezTo>
                  <a:pt x="75371" y="1834"/>
                  <a:pt x="78766" y="31099"/>
                  <a:pt x="81074" y="31031"/>
                </a:cubicBezTo>
                <a:cubicBezTo>
                  <a:pt x="83383" y="30963"/>
                  <a:pt x="84333" y="1563"/>
                  <a:pt x="86777" y="1291"/>
                </a:cubicBezTo>
                <a:cubicBezTo>
                  <a:pt x="89221" y="1020"/>
                  <a:pt x="93567" y="29470"/>
                  <a:pt x="95740" y="29402"/>
                </a:cubicBezTo>
                <a:cubicBezTo>
                  <a:pt x="97913" y="29334"/>
                  <a:pt x="97845" y="815"/>
                  <a:pt x="99814" y="883"/>
                </a:cubicBezTo>
                <a:cubicBezTo>
                  <a:pt x="101783" y="951"/>
                  <a:pt x="105246" y="29945"/>
                  <a:pt x="107555" y="29809"/>
                </a:cubicBezTo>
                <a:cubicBezTo>
                  <a:pt x="109864" y="29673"/>
                  <a:pt x="111561" y="-475"/>
                  <a:pt x="113666" y="68"/>
                </a:cubicBezTo>
                <a:cubicBezTo>
                  <a:pt x="115771" y="611"/>
                  <a:pt x="118012" y="32864"/>
                  <a:pt x="120185" y="33068"/>
                </a:cubicBezTo>
                <a:cubicBezTo>
                  <a:pt x="122358" y="33272"/>
                  <a:pt x="124462" y="-542"/>
                  <a:pt x="126703" y="1291"/>
                </a:cubicBezTo>
                <a:cubicBezTo>
                  <a:pt x="128944" y="3124"/>
                  <a:pt x="131456" y="41420"/>
                  <a:pt x="133629" y="44068"/>
                </a:cubicBezTo>
                <a:cubicBezTo>
                  <a:pt x="135802" y="46716"/>
                  <a:pt x="137296" y="14667"/>
                  <a:pt x="139740" y="17179"/>
                </a:cubicBezTo>
                <a:cubicBezTo>
                  <a:pt x="142185" y="19691"/>
                  <a:pt x="145784" y="57105"/>
                  <a:pt x="148296" y="59142"/>
                </a:cubicBezTo>
                <a:cubicBezTo>
                  <a:pt x="150808" y="61179"/>
                  <a:pt x="152709" y="26414"/>
                  <a:pt x="154814" y="29402"/>
                </a:cubicBezTo>
                <a:cubicBezTo>
                  <a:pt x="156919" y="32390"/>
                  <a:pt x="159092" y="74556"/>
                  <a:pt x="160925" y="77068"/>
                </a:cubicBezTo>
                <a:cubicBezTo>
                  <a:pt x="162758" y="79580"/>
                  <a:pt x="163641" y="43050"/>
                  <a:pt x="165814" y="44476"/>
                </a:cubicBezTo>
                <a:cubicBezTo>
                  <a:pt x="167987" y="45902"/>
                  <a:pt x="171925" y="83180"/>
                  <a:pt x="173962" y="85624"/>
                </a:cubicBezTo>
                <a:cubicBezTo>
                  <a:pt x="175999" y="88068"/>
                  <a:pt x="176067" y="58056"/>
                  <a:pt x="178036" y="59142"/>
                </a:cubicBezTo>
                <a:cubicBezTo>
                  <a:pt x="180005" y="60228"/>
                  <a:pt x="184487" y="86642"/>
                  <a:pt x="185777" y="92142"/>
                </a:cubicBezTo>
              </a:path>
            </a:pathLst>
          </a:custGeom>
          <a:noFill/>
          <a:ln cap="flat" cmpd="sng" w="38100">
            <a:solidFill>
              <a:srgbClr val="351C75"/>
            </a:solidFill>
            <a:prstDash val="solid"/>
            <a:round/>
            <a:headEnd len="med" w="med" type="none"/>
            <a:tailEnd len="med" w="med" type="none"/>
          </a:ln>
        </p:spPr>
      </p:sp>
      <p:sp>
        <p:nvSpPr>
          <p:cNvPr id="133" name="Google Shape;133;p22"/>
          <p:cNvSpPr txBox="1"/>
          <p:nvPr/>
        </p:nvSpPr>
        <p:spPr>
          <a:xfrm>
            <a:off x="2199975" y="2371575"/>
            <a:ext cx="1242600" cy="34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Montserrat"/>
                <a:ea typeface="Montserrat"/>
                <a:cs typeface="Montserrat"/>
                <a:sym typeface="Montserrat"/>
              </a:rPr>
              <a:t>Upward</a:t>
            </a:r>
            <a:endParaRPr sz="1800">
              <a:latin typeface="Montserrat"/>
              <a:ea typeface="Montserrat"/>
              <a:cs typeface="Montserrat"/>
              <a:sym typeface="Montserrat"/>
            </a:endParaRPr>
          </a:p>
        </p:txBody>
      </p:sp>
      <p:sp>
        <p:nvSpPr>
          <p:cNvPr id="134" name="Google Shape;134;p22"/>
          <p:cNvSpPr txBox="1"/>
          <p:nvPr/>
        </p:nvSpPr>
        <p:spPr>
          <a:xfrm>
            <a:off x="6416250" y="2484800"/>
            <a:ext cx="1691100" cy="34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Montserrat"/>
                <a:ea typeface="Montserrat"/>
                <a:cs typeface="Montserrat"/>
                <a:sym typeface="Montserrat"/>
              </a:rPr>
              <a:t>Down</a:t>
            </a:r>
            <a:r>
              <a:rPr lang="en" sz="1800">
                <a:latin typeface="Montserrat"/>
                <a:ea typeface="Montserrat"/>
                <a:cs typeface="Montserrat"/>
                <a:sym typeface="Montserrat"/>
              </a:rPr>
              <a:t>ward</a:t>
            </a:r>
            <a:endParaRPr sz="1800">
              <a:latin typeface="Montserrat"/>
              <a:ea typeface="Montserrat"/>
              <a:cs typeface="Montserrat"/>
              <a:sym typeface="Montserrat"/>
            </a:endParaRPr>
          </a:p>
        </p:txBody>
      </p:sp>
      <p:sp>
        <p:nvSpPr>
          <p:cNvPr id="135" name="Google Shape;135;p22"/>
          <p:cNvSpPr txBox="1"/>
          <p:nvPr/>
        </p:nvSpPr>
        <p:spPr>
          <a:xfrm>
            <a:off x="3340725" y="1302950"/>
            <a:ext cx="2709300" cy="34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Montserrat"/>
                <a:ea typeface="Montserrat"/>
                <a:cs typeface="Montserrat"/>
                <a:sym typeface="Montserrat"/>
              </a:rPr>
              <a:t>Horizontal/Stationary</a:t>
            </a:r>
            <a:endParaRPr sz="1800">
              <a:latin typeface="Montserrat"/>
              <a:ea typeface="Montserrat"/>
              <a:cs typeface="Montserrat"/>
              <a:sym typeface="Montserra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39" name="Shape 139"/>
        <p:cNvGrpSpPr/>
        <p:nvPr/>
      </p:nvGrpSpPr>
      <p:grpSpPr>
        <a:xfrm>
          <a:off x="0" y="0"/>
          <a:ext cx="0" cy="0"/>
          <a:chOff x="0" y="0"/>
          <a:chExt cx="0" cy="0"/>
        </a:xfrm>
      </p:grpSpPr>
      <p:sp>
        <p:nvSpPr>
          <p:cNvPr id="140" name="Google Shape;140;p23"/>
          <p:cNvSpPr txBox="1"/>
          <p:nvPr>
            <p:ph idx="1" type="body"/>
          </p:nvPr>
        </p:nvSpPr>
        <p:spPr>
          <a:xfrm>
            <a:off x="311700" y="119842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Seasonality - Repeating trends</a:t>
            </a:r>
            <a:endParaRPr sz="3000">
              <a:solidFill>
                <a:srgbClr val="434343"/>
              </a:solidFill>
              <a:latin typeface="Montserrat"/>
              <a:ea typeface="Montserrat"/>
              <a:cs typeface="Montserrat"/>
              <a:sym typeface="Montserrat"/>
            </a:endParaRPr>
          </a:p>
        </p:txBody>
      </p:sp>
      <p:sp>
        <p:nvSpPr>
          <p:cNvPr id="141" name="Google Shape;141;p2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pic>
        <p:nvPicPr>
          <p:cNvPr descr="watermark.jpg" id="142" name="Google Shape;142;p23"/>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43" name="Google Shape;143;p2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descr="Screen Shot 2017-06-27 at 10.43.39 PM.png" id="144" name="Google Shape;144;p23"/>
          <p:cNvPicPr preferRelativeResize="0"/>
          <p:nvPr/>
        </p:nvPicPr>
        <p:blipFill>
          <a:blip r:embed="rId4">
            <a:alphaModFix/>
          </a:blip>
          <a:stretch>
            <a:fillRect/>
          </a:stretch>
        </p:blipFill>
        <p:spPr>
          <a:xfrm>
            <a:off x="728237" y="2347850"/>
            <a:ext cx="7687526" cy="1984975"/>
          </a:xfrm>
          <a:prstGeom prst="rect">
            <a:avLst/>
          </a:prstGeom>
          <a:noFill/>
          <a:ln>
            <a:noFill/>
          </a:ln>
        </p:spPr>
      </p:pic>
      <p:sp>
        <p:nvSpPr>
          <p:cNvPr id="145" name="Google Shape;145;p23"/>
          <p:cNvSpPr txBox="1"/>
          <p:nvPr/>
        </p:nvSpPr>
        <p:spPr>
          <a:xfrm>
            <a:off x="2760175" y="4287950"/>
            <a:ext cx="4043400" cy="342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t>Google Trends - “Snowboarding”</a:t>
            </a:r>
            <a:endParaRPr sz="18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49" name="Shape 149"/>
        <p:cNvGrpSpPr/>
        <p:nvPr/>
      </p:nvGrpSpPr>
      <p:grpSpPr>
        <a:xfrm>
          <a:off x="0" y="0"/>
          <a:ext cx="0" cy="0"/>
          <a:chOff x="0" y="0"/>
          <a:chExt cx="0" cy="0"/>
        </a:xfrm>
      </p:grpSpPr>
      <p:sp>
        <p:nvSpPr>
          <p:cNvPr id="150" name="Google Shape;150;p24"/>
          <p:cNvSpPr txBox="1"/>
          <p:nvPr>
            <p:ph idx="1" type="body"/>
          </p:nvPr>
        </p:nvSpPr>
        <p:spPr>
          <a:xfrm>
            <a:off x="311700" y="119842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Cyclical - Trends with no set repetition. </a:t>
            </a:r>
            <a:endParaRPr sz="3000">
              <a:solidFill>
                <a:srgbClr val="434343"/>
              </a:solidFill>
              <a:latin typeface="Montserrat"/>
              <a:ea typeface="Montserrat"/>
              <a:cs typeface="Montserrat"/>
              <a:sym typeface="Montserrat"/>
            </a:endParaRPr>
          </a:p>
        </p:txBody>
      </p:sp>
      <p:sp>
        <p:nvSpPr>
          <p:cNvPr id="151" name="Google Shape;151;p2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pic>
        <p:nvPicPr>
          <p:cNvPr descr="watermark.jpg" id="152" name="Google Shape;152;p24"/>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53" name="Google Shape;153;p2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descr="Screen Shot 2017-06-27 at 10.29.07 PM.png" id="154" name="Google Shape;154;p24"/>
          <p:cNvPicPr preferRelativeResize="0"/>
          <p:nvPr/>
        </p:nvPicPr>
        <p:blipFill>
          <a:blip r:embed="rId4">
            <a:alphaModFix/>
          </a:blip>
          <a:stretch>
            <a:fillRect/>
          </a:stretch>
        </p:blipFill>
        <p:spPr>
          <a:xfrm>
            <a:off x="1388937" y="1811775"/>
            <a:ext cx="7096776" cy="2565600"/>
          </a:xfrm>
          <a:prstGeom prst="rect">
            <a:avLst/>
          </a:prstGeom>
          <a:noFill/>
          <a:ln>
            <a:noFill/>
          </a:ln>
        </p:spPr>
      </p:pic>
      <p:sp>
        <p:nvSpPr>
          <p:cNvPr id="155" name="Google Shape;155;p24"/>
          <p:cNvSpPr txBox="1"/>
          <p:nvPr/>
        </p:nvSpPr>
        <p:spPr>
          <a:xfrm>
            <a:off x="2760175" y="4287950"/>
            <a:ext cx="4043400" cy="342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t>SP500</a:t>
            </a:r>
            <a:endParaRPr sz="18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59" name="Shape 159"/>
        <p:cNvGrpSpPr/>
        <p:nvPr/>
      </p:nvGrpSpPr>
      <p:grpSpPr>
        <a:xfrm>
          <a:off x="0" y="0"/>
          <a:ext cx="0" cy="0"/>
          <a:chOff x="0" y="0"/>
          <a:chExt cx="0" cy="0"/>
        </a:xfrm>
      </p:grpSpPr>
      <p:sp>
        <p:nvSpPr>
          <p:cNvPr id="160" name="Google Shape;160;p2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161" name="Google Shape;161;p2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Now that we understand some of the very basics, let’s begin to learn about the most popular library in Python for handling time series data, statsmodels!</a:t>
            </a:r>
            <a:endParaRPr sz="3000">
              <a:solidFill>
                <a:srgbClr val="434343"/>
              </a:solidFill>
              <a:latin typeface="Montserrat"/>
              <a:ea typeface="Montserrat"/>
              <a:cs typeface="Montserrat"/>
              <a:sym typeface="Montserrat"/>
            </a:endParaRPr>
          </a:p>
        </p:txBody>
      </p:sp>
      <p:pic>
        <p:nvPicPr>
          <p:cNvPr descr="watermark.jpg" id="162" name="Google Shape;162;p25"/>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63" name="Google Shape;163;p2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67" name="Shape 167"/>
        <p:cNvGrpSpPr/>
        <p:nvPr/>
      </p:nvGrpSpPr>
      <p:grpSpPr>
        <a:xfrm>
          <a:off x="0" y="0"/>
          <a:ext cx="0" cy="0"/>
          <a:chOff x="0" y="0"/>
          <a:chExt cx="0" cy="0"/>
        </a:xfrm>
      </p:grpSpPr>
      <p:sp>
        <p:nvSpPr>
          <p:cNvPr id="168" name="Google Shape;168;p26"/>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Statsmodels</a:t>
            </a:r>
            <a:endParaRPr b="1">
              <a:latin typeface="Montserrat"/>
              <a:ea typeface="Montserrat"/>
              <a:cs typeface="Montserrat"/>
              <a:sym typeface="Montserrat"/>
            </a:endParaRPr>
          </a:p>
        </p:txBody>
      </p:sp>
      <p:sp>
        <p:nvSpPr>
          <p:cNvPr id="169" name="Google Shape;169;p26"/>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pic>
        <p:nvPicPr>
          <p:cNvPr descr="watermark.jpg" id="170" name="Google Shape;170;p26"/>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71" name="Google Shape;171;p2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75" name="Shape 175"/>
        <p:cNvGrpSpPr/>
        <p:nvPr/>
      </p:nvGrpSpPr>
      <p:grpSpPr>
        <a:xfrm>
          <a:off x="0" y="0"/>
          <a:ext cx="0" cy="0"/>
          <a:chOff x="0" y="0"/>
          <a:chExt cx="0" cy="0"/>
        </a:xfrm>
      </p:grpSpPr>
      <p:sp>
        <p:nvSpPr>
          <p:cNvPr id="176" name="Google Shape;176;p2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177" name="Google Shape;177;p2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The most popular library in Python for dealing with Time Series data is the statsmodels library.</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It is heavily inspired by the R statistical programming language.</a:t>
            </a:r>
            <a:endParaRPr sz="3000">
              <a:solidFill>
                <a:srgbClr val="434343"/>
              </a:solidFill>
              <a:latin typeface="Montserrat"/>
              <a:ea typeface="Montserrat"/>
              <a:cs typeface="Montserrat"/>
              <a:sym typeface="Montserrat"/>
            </a:endParaRPr>
          </a:p>
        </p:txBody>
      </p:sp>
      <p:pic>
        <p:nvPicPr>
          <p:cNvPr descr="watermark.jpg" id="178" name="Google Shape;178;p27"/>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79" name="Google Shape;179;p2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83" name="Shape 183"/>
        <p:cNvGrpSpPr/>
        <p:nvPr/>
      </p:nvGrpSpPr>
      <p:grpSpPr>
        <a:xfrm>
          <a:off x="0" y="0"/>
          <a:ext cx="0" cy="0"/>
          <a:chOff x="0" y="0"/>
          <a:chExt cx="0" cy="0"/>
        </a:xfrm>
      </p:grpSpPr>
      <p:sp>
        <p:nvSpPr>
          <p:cNvPr id="184" name="Google Shape;184;p2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185" name="Google Shape;185;p2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Statsmodels is a Python module that allows users to explore data, estimate statistical models, and perform statistical tests. </a:t>
            </a:r>
            <a:endParaRPr sz="3000">
              <a:solidFill>
                <a:srgbClr val="434343"/>
              </a:solidFill>
              <a:latin typeface="Montserrat"/>
              <a:ea typeface="Montserrat"/>
              <a:cs typeface="Montserrat"/>
              <a:sym typeface="Montserrat"/>
            </a:endParaRPr>
          </a:p>
        </p:txBody>
      </p:sp>
      <p:pic>
        <p:nvPicPr>
          <p:cNvPr descr="watermark.jpg" id="186" name="Google Shape;186;p28"/>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87" name="Google Shape;187;p2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91" name="Shape 191"/>
        <p:cNvGrpSpPr/>
        <p:nvPr/>
      </p:nvGrpSpPr>
      <p:grpSpPr>
        <a:xfrm>
          <a:off x="0" y="0"/>
          <a:ext cx="0" cy="0"/>
          <a:chOff x="0" y="0"/>
          <a:chExt cx="0" cy="0"/>
        </a:xfrm>
      </p:grpSpPr>
      <p:sp>
        <p:nvSpPr>
          <p:cNvPr id="192" name="Google Shape;192;p2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193" name="Google Shape;193;p2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An extensive list of descriptive statistics, statistical tests, plotting functions, and result statistics are available for different types of data and each estimator. </a:t>
            </a:r>
            <a:endParaRPr sz="3000">
              <a:solidFill>
                <a:srgbClr val="434343"/>
              </a:solidFill>
              <a:latin typeface="Montserrat"/>
              <a:ea typeface="Montserrat"/>
              <a:cs typeface="Montserrat"/>
              <a:sym typeface="Montserrat"/>
            </a:endParaRPr>
          </a:p>
        </p:txBody>
      </p:sp>
      <p:pic>
        <p:nvPicPr>
          <p:cNvPr descr="watermark.jpg" id="194" name="Google Shape;194;p29"/>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195" name="Google Shape;195;p2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99" name="Shape 199"/>
        <p:cNvGrpSpPr/>
        <p:nvPr/>
      </p:nvGrpSpPr>
      <p:grpSpPr>
        <a:xfrm>
          <a:off x="0" y="0"/>
          <a:ext cx="0" cy="0"/>
          <a:chOff x="0" y="0"/>
          <a:chExt cx="0" cy="0"/>
        </a:xfrm>
      </p:grpSpPr>
      <p:sp>
        <p:nvSpPr>
          <p:cNvPr id="200" name="Google Shape;200;p3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201" name="Google Shape;201;p3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Statsmodels is already included in the provided environment file.</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To manually install you can use:</a:t>
            </a:r>
            <a:endParaRPr sz="3000">
              <a:solidFill>
                <a:srgbClr val="434343"/>
              </a:solidFill>
              <a:latin typeface="Montserrat"/>
              <a:ea typeface="Montserrat"/>
              <a:cs typeface="Montserrat"/>
              <a:sym typeface="Montserrat"/>
            </a:endParaRPr>
          </a:p>
          <a:p>
            <a:pPr indent="-419100" lvl="1" marL="13716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conda install statsmodels</a:t>
            </a:r>
            <a:r>
              <a:rPr lang="en" sz="3000">
                <a:solidFill>
                  <a:srgbClr val="434343"/>
                </a:solidFill>
                <a:latin typeface="Montserrat"/>
                <a:ea typeface="Montserrat"/>
                <a:cs typeface="Montserrat"/>
                <a:sym typeface="Montserrat"/>
              </a:rPr>
              <a:t> </a:t>
            </a:r>
            <a:endParaRPr sz="3000">
              <a:solidFill>
                <a:srgbClr val="434343"/>
              </a:solidFill>
              <a:latin typeface="Montserrat"/>
              <a:ea typeface="Montserrat"/>
              <a:cs typeface="Montserrat"/>
              <a:sym typeface="Montserrat"/>
            </a:endParaRPr>
          </a:p>
        </p:txBody>
      </p:sp>
      <p:pic>
        <p:nvPicPr>
          <p:cNvPr descr="watermark.jpg" id="202" name="Google Shape;202;p30"/>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203" name="Google Shape;203;p3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07" name="Shape 207"/>
        <p:cNvGrpSpPr/>
        <p:nvPr/>
      </p:nvGrpSpPr>
      <p:grpSpPr>
        <a:xfrm>
          <a:off x="0" y="0"/>
          <a:ext cx="0" cy="0"/>
          <a:chOff x="0" y="0"/>
          <a:chExt cx="0" cy="0"/>
        </a:xfrm>
      </p:grpSpPr>
      <p:sp>
        <p:nvSpPr>
          <p:cNvPr id="208" name="Google Shape;208;p3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209" name="Google Shape;209;p3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Let’s explore the documentation and then run through a simple demonstration of what we can use statsmodels for in relation to time series data.</a:t>
            </a:r>
            <a:endParaRPr sz="3000">
              <a:solidFill>
                <a:srgbClr val="434343"/>
              </a:solidFill>
              <a:latin typeface="Montserrat"/>
              <a:ea typeface="Montserrat"/>
              <a:cs typeface="Montserrat"/>
              <a:sym typeface="Montserrat"/>
            </a:endParaRPr>
          </a:p>
        </p:txBody>
      </p:sp>
      <p:pic>
        <p:nvPicPr>
          <p:cNvPr descr="watermark.jpg" id="210" name="Google Shape;210;p31"/>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211" name="Google Shape;211;p3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15" name="Shape 215"/>
        <p:cNvGrpSpPr/>
        <p:nvPr/>
      </p:nvGrpSpPr>
      <p:grpSpPr>
        <a:xfrm>
          <a:off x="0" y="0"/>
          <a:ext cx="0" cy="0"/>
          <a:chOff x="0" y="0"/>
          <a:chExt cx="0" cy="0"/>
        </a:xfrm>
      </p:grpSpPr>
      <p:sp>
        <p:nvSpPr>
          <p:cNvPr id="216" name="Google Shape;216;p3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ETS Models</a:t>
            </a:r>
            <a:endParaRPr b="1">
              <a:latin typeface="Montserrat"/>
              <a:ea typeface="Montserrat"/>
              <a:cs typeface="Montserrat"/>
              <a:sym typeface="Montserrat"/>
            </a:endParaRPr>
          </a:p>
        </p:txBody>
      </p:sp>
      <p:sp>
        <p:nvSpPr>
          <p:cNvPr id="217" name="Google Shape;217;p3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pic>
        <p:nvPicPr>
          <p:cNvPr descr="watermark.jpg" id="218" name="Google Shape;218;p32"/>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219" name="Google Shape;219;p3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23" name="Shape 223"/>
        <p:cNvGrpSpPr/>
        <p:nvPr/>
      </p:nvGrpSpPr>
      <p:grpSpPr>
        <a:xfrm>
          <a:off x="0" y="0"/>
          <a:ext cx="0" cy="0"/>
          <a:chOff x="0" y="0"/>
          <a:chExt cx="0" cy="0"/>
        </a:xfrm>
      </p:grpSpPr>
      <p:sp>
        <p:nvSpPr>
          <p:cNvPr id="224" name="Google Shape;224;p3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225" name="Google Shape;225;p3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For the next few lectures, we will discuss topics conceptually in slides.</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Afterwards we will revisit these topics using Python and statsmodels to code through them!</a:t>
            </a:r>
            <a:endParaRPr sz="3000">
              <a:solidFill>
                <a:srgbClr val="434343"/>
              </a:solidFill>
              <a:latin typeface="Montserrat"/>
              <a:ea typeface="Montserrat"/>
              <a:cs typeface="Montserrat"/>
              <a:sym typeface="Montserrat"/>
            </a:endParaRPr>
          </a:p>
        </p:txBody>
      </p:sp>
      <p:pic>
        <p:nvPicPr>
          <p:cNvPr descr="watermark.jpg" id="226" name="Google Shape;226;p33"/>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227" name="Google Shape;227;p3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31" name="Shape 231"/>
        <p:cNvGrpSpPr/>
        <p:nvPr/>
      </p:nvGrpSpPr>
      <p:grpSpPr>
        <a:xfrm>
          <a:off x="0" y="0"/>
          <a:ext cx="0" cy="0"/>
          <a:chOff x="0" y="0"/>
          <a:chExt cx="0" cy="0"/>
        </a:xfrm>
      </p:grpSpPr>
      <p:sp>
        <p:nvSpPr>
          <p:cNvPr id="232" name="Google Shape;232;p3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233" name="Google Shape;233;p3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ETS Models (Error-Trend-Seasonality)</a:t>
            </a:r>
            <a:endParaRPr sz="3000">
              <a:solidFill>
                <a:srgbClr val="434343"/>
              </a:solidFill>
              <a:latin typeface="Montserrat"/>
              <a:ea typeface="Montserrat"/>
              <a:cs typeface="Montserrat"/>
              <a:sym typeface="Montserrat"/>
            </a:endParaRPr>
          </a:p>
          <a:p>
            <a:pPr indent="-419100" lvl="1" marL="13716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Exponential Smoothing</a:t>
            </a:r>
            <a:endParaRPr sz="3000">
              <a:solidFill>
                <a:srgbClr val="434343"/>
              </a:solidFill>
              <a:latin typeface="Montserrat"/>
              <a:ea typeface="Montserrat"/>
              <a:cs typeface="Montserrat"/>
              <a:sym typeface="Montserrat"/>
            </a:endParaRPr>
          </a:p>
          <a:p>
            <a:pPr indent="-419100" lvl="1" marL="13716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Trend Methods Models</a:t>
            </a:r>
            <a:endParaRPr sz="3000">
              <a:solidFill>
                <a:srgbClr val="434343"/>
              </a:solidFill>
              <a:latin typeface="Montserrat"/>
              <a:ea typeface="Montserrat"/>
              <a:cs typeface="Montserrat"/>
              <a:sym typeface="Montserrat"/>
            </a:endParaRPr>
          </a:p>
          <a:p>
            <a:pPr indent="-419100" lvl="1" marL="13716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ETS Decomposition</a:t>
            </a:r>
            <a:endParaRPr sz="3000">
              <a:solidFill>
                <a:srgbClr val="434343"/>
              </a:solidFill>
              <a:latin typeface="Montserrat"/>
              <a:ea typeface="Montserrat"/>
              <a:cs typeface="Montserrat"/>
              <a:sym typeface="Montserrat"/>
            </a:endParaRPr>
          </a:p>
          <a:p>
            <a:pPr indent="-419100" lvl="0" marL="9144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We’ll work with several of these with the python statsmodels library!</a:t>
            </a:r>
            <a:endParaRPr sz="3000">
              <a:solidFill>
                <a:srgbClr val="434343"/>
              </a:solidFill>
              <a:latin typeface="Montserrat"/>
              <a:ea typeface="Montserrat"/>
              <a:cs typeface="Montserrat"/>
              <a:sym typeface="Montserrat"/>
            </a:endParaRPr>
          </a:p>
        </p:txBody>
      </p:sp>
      <p:pic>
        <p:nvPicPr>
          <p:cNvPr descr="watermark.jpg" id="234" name="Google Shape;234;p34"/>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235" name="Google Shape;235;p3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39" name="Shape 239"/>
        <p:cNvGrpSpPr/>
        <p:nvPr/>
      </p:nvGrpSpPr>
      <p:grpSpPr>
        <a:xfrm>
          <a:off x="0" y="0"/>
          <a:ext cx="0" cy="0"/>
          <a:chOff x="0" y="0"/>
          <a:chExt cx="0" cy="0"/>
        </a:xfrm>
      </p:grpSpPr>
      <p:sp>
        <p:nvSpPr>
          <p:cNvPr id="240" name="Google Shape;240;p3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241" name="Google Shape;241;p3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ETS (Error-Trend-Seasonality) Models will take each of those terms for “smoothing” and may add them, multiply them, or even just leave some of them out.</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Based off these key factors, we can try to create a model to fit our data.</a:t>
            </a:r>
            <a:endParaRPr sz="3000">
              <a:solidFill>
                <a:srgbClr val="434343"/>
              </a:solidFill>
              <a:latin typeface="Montserrat"/>
              <a:ea typeface="Montserrat"/>
              <a:cs typeface="Montserrat"/>
              <a:sym typeface="Montserrat"/>
            </a:endParaRPr>
          </a:p>
        </p:txBody>
      </p:sp>
      <p:pic>
        <p:nvPicPr>
          <p:cNvPr descr="watermark.jpg" id="242" name="Google Shape;242;p35"/>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243" name="Google Shape;243;p3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47" name="Shape 247"/>
        <p:cNvGrpSpPr/>
        <p:nvPr/>
      </p:nvGrpSpPr>
      <p:grpSpPr>
        <a:xfrm>
          <a:off x="0" y="0"/>
          <a:ext cx="0" cy="0"/>
          <a:chOff x="0" y="0"/>
          <a:chExt cx="0" cy="0"/>
        </a:xfrm>
      </p:grpSpPr>
      <p:sp>
        <p:nvSpPr>
          <p:cNvPr id="248" name="Google Shape;248;p3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249" name="Google Shape;249;p3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Time Series Decomposition with ETS (Error-Trend-Seasonality).</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Visualizing the data based off its ETS is a good way to build an understanding of its behaviour. </a:t>
            </a:r>
            <a:endParaRPr sz="3000">
              <a:solidFill>
                <a:srgbClr val="434343"/>
              </a:solidFill>
              <a:latin typeface="Montserrat"/>
              <a:ea typeface="Montserrat"/>
              <a:cs typeface="Montserrat"/>
              <a:sym typeface="Montserrat"/>
            </a:endParaRPr>
          </a:p>
        </p:txBody>
      </p:sp>
      <p:pic>
        <p:nvPicPr>
          <p:cNvPr descr="watermark.jpg" id="250" name="Google Shape;250;p36"/>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251" name="Google Shape;251;p3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55" name="Shape 255"/>
        <p:cNvGrpSpPr/>
        <p:nvPr/>
      </p:nvGrpSpPr>
      <p:grpSpPr>
        <a:xfrm>
          <a:off x="0" y="0"/>
          <a:ext cx="0" cy="0"/>
          <a:chOff x="0" y="0"/>
          <a:chExt cx="0" cy="0"/>
        </a:xfrm>
      </p:grpSpPr>
      <p:sp>
        <p:nvSpPr>
          <p:cNvPr id="256" name="Google Shape;256;p3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257" name="Google Shape;257;p3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ETS Decomposition - Airline Passengers</a:t>
            </a:r>
            <a:endParaRPr sz="3000">
              <a:solidFill>
                <a:srgbClr val="434343"/>
              </a:solidFill>
              <a:latin typeface="Montserrat"/>
              <a:ea typeface="Montserrat"/>
              <a:cs typeface="Montserrat"/>
              <a:sym typeface="Montserrat"/>
            </a:endParaRPr>
          </a:p>
        </p:txBody>
      </p:sp>
      <p:pic>
        <p:nvPicPr>
          <p:cNvPr descr="watermark.jpg" id="258" name="Google Shape;258;p37"/>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259" name="Google Shape;259;p3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descr="Screen Shot 2017-06-27 at 11.02.31 PM.png" id="260" name="Google Shape;260;p37"/>
          <p:cNvPicPr preferRelativeResize="0"/>
          <p:nvPr/>
        </p:nvPicPr>
        <p:blipFill>
          <a:blip r:embed="rId4">
            <a:alphaModFix/>
          </a:blip>
          <a:stretch>
            <a:fillRect/>
          </a:stretch>
        </p:blipFill>
        <p:spPr>
          <a:xfrm>
            <a:off x="2239625" y="1715725"/>
            <a:ext cx="4878024" cy="3336101"/>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64" name="Shape 264"/>
        <p:cNvGrpSpPr/>
        <p:nvPr/>
      </p:nvGrpSpPr>
      <p:grpSpPr>
        <a:xfrm>
          <a:off x="0" y="0"/>
          <a:ext cx="0" cy="0"/>
          <a:chOff x="0" y="0"/>
          <a:chExt cx="0" cy="0"/>
        </a:xfrm>
      </p:grpSpPr>
      <p:sp>
        <p:nvSpPr>
          <p:cNvPr id="265" name="Google Shape;265;p3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266" name="Google Shape;266;p3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ETS Decomposition - Airline Passengers</a:t>
            </a:r>
            <a:endParaRPr sz="3000">
              <a:solidFill>
                <a:srgbClr val="434343"/>
              </a:solidFill>
              <a:latin typeface="Montserrat"/>
              <a:ea typeface="Montserrat"/>
              <a:cs typeface="Montserrat"/>
              <a:sym typeface="Montserrat"/>
            </a:endParaRPr>
          </a:p>
        </p:txBody>
      </p:sp>
      <p:pic>
        <p:nvPicPr>
          <p:cNvPr descr="watermark.jpg" id="267" name="Google Shape;267;p38"/>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268" name="Google Shape;268;p3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descr="Screen Shot 2017-06-27 at 11.09.58 PM.png" id="269" name="Google Shape;269;p38"/>
          <p:cNvPicPr preferRelativeResize="0"/>
          <p:nvPr/>
        </p:nvPicPr>
        <p:blipFill>
          <a:blip r:embed="rId4">
            <a:alphaModFix/>
          </a:blip>
          <a:stretch>
            <a:fillRect/>
          </a:stretch>
        </p:blipFill>
        <p:spPr>
          <a:xfrm>
            <a:off x="2247263" y="1672175"/>
            <a:ext cx="5380124" cy="3471324"/>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73" name="Shape 273"/>
        <p:cNvGrpSpPr/>
        <p:nvPr/>
      </p:nvGrpSpPr>
      <p:grpSpPr>
        <a:xfrm>
          <a:off x="0" y="0"/>
          <a:ext cx="0" cy="0"/>
          <a:chOff x="0" y="0"/>
          <a:chExt cx="0" cy="0"/>
        </a:xfrm>
      </p:grpSpPr>
      <p:sp>
        <p:nvSpPr>
          <p:cNvPr id="274" name="Google Shape;274;p3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275" name="Google Shape;275;p3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Time Series Decomposition with ETS (Error-Trend-Seasonality).</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Visualizing the data based off its ETS is a good way to build an understanding of its behaviour. </a:t>
            </a:r>
            <a:endParaRPr sz="3000">
              <a:solidFill>
                <a:srgbClr val="434343"/>
              </a:solidFill>
              <a:latin typeface="Montserrat"/>
              <a:ea typeface="Montserrat"/>
              <a:cs typeface="Montserrat"/>
              <a:sym typeface="Montserrat"/>
            </a:endParaRPr>
          </a:p>
        </p:txBody>
      </p:sp>
      <p:pic>
        <p:nvPicPr>
          <p:cNvPr descr="watermark.jpg" id="276" name="Google Shape;276;p39"/>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277" name="Google Shape;277;p3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81" name="Shape 281"/>
        <p:cNvGrpSpPr/>
        <p:nvPr/>
      </p:nvGrpSpPr>
      <p:grpSpPr>
        <a:xfrm>
          <a:off x="0" y="0"/>
          <a:ext cx="0" cy="0"/>
          <a:chOff x="0" y="0"/>
          <a:chExt cx="0" cy="0"/>
        </a:xfrm>
      </p:grpSpPr>
      <p:sp>
        <p:nvSpPr>
          <p:cNvPr id="282" name="Google Shape;282;p4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283" name="Google Shape;283;p4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We will visit Time Series Decomposition again when we discuss ARIMA models.</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For now let’s move on to EWMA models!</a:t>
            </a:r>
            <a:endParaRPr sz="3000">
              <a:solidFill>
                <a:srgbClr val="434343"/>
              </a:solidFill>
              <a:latin typeface="Montserrat"/>
              <a:ea typeface="Montserrat"/>
              <a:cs typeface="Montserrat"/>
              <a:sym typeface="Montserrat"/>
            </a:endParaRPr>
          </a:p>
        </p:txBody>
      </p:sp>
      <p:pic>
        <p:nvPicPr>
          <p:cNvPr descr="watermark.jpg" id="284" name="Google Shape;284;p40"/>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285" name="Google Shape;285;p4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89" name="Shape 289"/>
        <p:cNvGrpSpPr/>
        <p:nvPr/>
      </p:nvGrpSpPr>
      <p:grpSpPr>
        <a:xfrm>
          <a:off x="0" y="0"/>
          <a:ext cx="0" cy="0"/>
          <a:chOff x="0" y="0"/>
          <a:chExt cx="0" cy="0"/>
        </a:xfrm>
      </p:grpSpPr>
      <p:sp>
        <p:nvSpPr>
          <p:cNvPr id="290" name="Google Shape;290;p41"/>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EWMA Models</a:t>
            </a:r>
            <a:endParaRPr b="1">
              <a:latin typeface="Montserrat"/>
              <a:ea typeface="Montserrat"/>
              <a:cs typeface="Montserrat"/>
              <a:sym typeface="Montserrat"/>
            </a:endParaRPr>
          </a:p>
        </p:txBody>
      </p:sp>
      <p:sp>
        <p:nvSpPr>
          <p:cNvPr id="291" name="Google Shape;291;p41"/>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pic>
        <p:nvPicPr>
          <p:cNvPr descr="watermark.jpg" id="292" name="Google Shape;292;p41"/>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293" name="Google Shape;293;p4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97" name="Shape 297"/>
        <p:cNvGrpSpPr/>
        <p:nvPr/>
      </p:nvGrpSpPr>
      <p:grpSpPr>
        <a:xfrm>
          <a:off x="0" y="0"/>
          <a:ext cx="0" cy="0"/>
          <a:chOff x="0" y="0"/>
          <a:chExt cx="0" cy="0"/>
        </a:xfrm>
      </p:grpSpPr>
      <p:sp>
        <p:nvSpPr>
          <p:cNvPr id="298" name="Google Shape;298;p4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299" name="Google Shape;299;p4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We’ve previously seen how calculating simple moving averages can allow us to create a simple model that describes some trend level behavior of a time series, for example...</a:t>
            </a:r>
            <a:r>
              <a:rPr lang="en" sz="3000">
                <a:solidFill>
                  <a:srgbClr val="434343"/>
                </a:solidFill>
                <a:latin typeface="Montserrat"/>
                <a:ea typeface="Montserrat"/>
                <a:cs typeface="Montserrat"/>
                <a:sym typeface="Montserrat"/>
              </a:rPr>
              <a:t> </a:t>
            </a:r>
            <a:endParaRPr sz="3000">
              <a:solidFill>
                <a:srgbClr val="434343"/>
              </a:solidFill>
              <a:latin typeface="Montserrat"/>
              <a:ea typeface="Montserrat"/>
              <a:cs typeface="Montserrat"/>
              <a:sym typeface="Montserrat"/>
            </a:endParaRPr>
          </a:p>
        </p:txBody>
      </p:sp>
      <p:pic>
        <p:nvPicPr>
          <p:cNvPr descr="watermark.jpg" id="300" name="Google Shape;300;p42"/>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301" name="Google Shape;301;p4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05" name="Shape 305"/>
        <p:cNvGrpSpPr/>
        <p:nvPr/>
      </p:nvGrpSpPr>
      <p:grpSpPr>
        <a:xfrm>
          <a:off x="0" y="0"/>
          <a:ext cx="0" cy="0"/>
          <a:chOff x="0" y="0"/>
          <a:chExt cx="0" cy="0"/>
        </a:xfrm>
      </p:grpSpPr>
      <p:sp>
        <p:nvSpPr>
          <p:cNvPr id="306" name="Google Shape;306;p4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307" name="Google Shape;307;p4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SMA - Simple Moving Averages</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1600"/>
              </a:spcAft>
              <a:buNone/>
            </a:pPr>
            <a:r>
              <a:t/>
            </a:r>
            <a:endParaRPr sz="3000">
              <a:solidFill>
                <a:srgbClr val="434343"/>
              </a:solidFill>
              <a:latin typeface="Montserrat"/>
              <a:ea typeface="Montserrat"/>
              <a:cs typeface="Montserrat"/>
              <a:sym typeface="Montserrat"/>
            </a:endParaRPr>
          </a:p>
        </p:txBody>
      </p:sp>
      <p:pic>
        <p:nvPicPr>
          <p:cNvPr descr="watermark.jpg" id="308" name="Google Shape;308;p43"/>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309" name="Google Shape;309;p4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descr="Screen Shot 2017-06-28 at 10.43.44 AM.png" id="310" name="Google Shape;310;p43"/>
          <p:cNvPicPr preferRelativeResize="0"/>
          <p:nvPr/>
        </p:nvPicPr>
        <p:blipFill>
          <a:blip r:embed="rId4">
            <a:alphaModFix/>
          </a:blip>
          <a:stretch>
            <a:fillRect/>
          </a:stretch>
        </p:blipFill>
        <p:spPr>
          <a:xfrm>
            <a:off x="2404326" y="1727300"/>
            <a:ext cx="5065976" cy="34807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14" name="Shape 314"/>
        <p:cNvGrpSpPr/>
        <p:nvPr/>
      </p:nvGrpSpPr>
      <p:grpSpPr>
        <a:xfrm>
          <a:off x="0" y="0"/>
          <a:ext cx="0" cy="0"/>
          <a:chOff x="0" y="0"/>
          <a:chExt cx="0" cy="0"/>
        </a:xfrm>
      </p:grpSpPr>
      <p:sp>
        <p:nvSpPr>
          <p:cNvPr id="315" name="Google Shape;315;p4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316" name="Google Shape;316;p4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EWMA- Exponentially Weighted Moving Averages</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Basic SMA has some "weaknesses".</a:t>
            </a:r>
            <a:endParaRPr sz="3000">
              <a:solidFill>
                <a:srgbClr val="434343"/>
              </a:solidFill>
              <a:latin typeface="Montserrat"/>
              <a:ea typeface="Montserrat"/>
              <a:cs typeface="Montserrat"/>
              <a:sym typeface="Montserrat"/>
            </a:endParaRPr>
          </a:p>
          <a:p>
            <a:pPr indent="-419100" lvl="1" marL="13716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Smaller windows will lead to more noise, rather than signal</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1600"/>
              </a:spcAft>
              <a:buNone/>
            </a:pPr>
            <a:r>
              <a:t/>
            </a:r>
            <a:endParaRPr sz="3000">
              <a:solidFill>
                <a:srgbClr val="434343"/>
              </a:solidFill>
              <a:latin typeface="Montserrat"/>
              <a:ea typeface="Montserrat"/>
              <a:cs typeface="Montserrat"/>
              <a:sym typeface="Montserrat"/>
            </a:endParaRPr>
          </a:p>
        </p:txBody>
      </p:sp>
      <p:pic>
        <p:nvPicPr>
          <p:cNvPr descr="watermark.jpg" id="317" name="Google Shape;317;p44"/>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318" name="Google Shape;318;p4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22" name="Shape 322"/>
        <p:cNvGrpSpPr/>
        <p:nvPr/>
      </p:nvGrpSpPr>
      <p:grpSpPr>
        <a:xfrm>
          <a:off x="0" y="0"/>
          <a:ext cx="0" cy="0"/>
          <a:chOff x="0" y="0"/>
          <a:chExt cx="0" cy="0"/>
        </a:xfrm>
      </p:grpSpPr>
      <p:sp>
        <p:nvSpPr>
          <p:cNvPr id="323" name="Google Shape;323;p4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324" name="Google Shape;324;p4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EWMA- Exponentially Weighted Moving Averages</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Basic SMA has some "weaknesses".</a:t>
            </a:r>
            <a:endParaRPr sz="3000">
              <a:solidFill>
                <a:srgbClr val="434343"/>
              </a:solidFill>
              <a:latin typeface="Montserrat"/>
              <a:ea typeface="Montserrat"/>
              <a:cs typeface="Montserrat"/>
              <a:sym typeface="Montserrat"/>
            </a:endParaRPr>
          </a:p>
          <a:p>
            <a:pPr indent="-419100" lvl="1" marL="13716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It will always lag by the size of the window</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1600"/>
              </a:spcAft>
              <a:buNone/>
            </a:pPr>
            <a:r>
              <a:t/>
            </a:r>
            <a:endParaRPr sz="3000">
              <a:solidFill>
                <a:srgbClr val="434343"/>
              </a:solidFill>
              <a:latin typeface="Montserrat"/>
              <a:ea typeface="Montserrat"/>
              <a:cs typeface="Montserrat"/>
              <a:sym typeface="Montserrat"/>
            </a:endParaRPr>
          </a:p>
        </p:txBody>
      </p:sp>
      <p:pic>
        <p:nvPicPr>
          <p:cNvPr descr="watermark.jpg" id="325" name="Google Shape;325;p45"/>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326" name="Google Shape;326;p4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30" name="Shape 330"/>
        <p:cNvGrpSpPr/>
        <p:nvPr/>
      </p:nvGrpSpPr>
      <p:grpSpPr>
        <a:xfrm>
          <a:off x="0" y="0"/>
          <a:ext cx="0" cy="0"/>
          <a:chOff x="0" y="0"/>
          <a:chExt cx="0" cy="0"/>
        </a:xfrm>
      </p:grpSpPr>
      <p:sp>
        <p:nvSpPr>
          <p:cNvPr id="331" name="Google Shape;331;p4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332" name="Google Shape;332;p4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EWMA- Exponentially Weighted Moving Averages</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Basic SMA has some "weaknesses".</a:t>
            </a:r>
            <a:endParaRPr sz="3000">
              <a:solidFill>
                <a:srgbClr val="434343"/>
              </a:solidFill>
              <a:latin typeface="Montserrat"/>
              <a:ea typeface="Montserrat"/>
              <a:cs typeface="Montserrat"/>
              <a:sym typeface="Montserrat"/>
            </a:endParaRPr>
          </a:p>
          <a:p>
            <a:pPr indent="-419100" lvl="1" marL="13716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It will never reach to full peak or valley of the data due to the averaging.</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1600"/>
              </a:spcAft>
              <a:buNone/>
            </a:pPr>
            <a:r>
              <a:t/>
            </a:r>
            <a:endParaRPr sz="3000">
              <a:solidFill>
                <a:srgbClr val="434343"/>
              </a:solidFill>
              <a:latin typeface="Montserrat"/>
              <a:ea typeface="Montserrat"/>
              <a:cs typeface="Montserrat"/>
              <a:sym typeface="Montserrat"/>
            </a:endParaRPr>
          </a:p>
        </p:txBody>
      </p:sp>
      <p:pic>
        <p:nvPicPr>
          <p:cNvPr descr="watermark.jpg" id="333" name="Google Shape;333;p46"/>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334" name="Google Shape;334;p4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38" name="Shape 338"/>
        <p:cNvGrpSpPr/>
        <p:nvPr/>
      </p:nvGrpSpPr>
      <p:grpSpPr>
        <a:xfrm>
          <a:off x="0" y="0"/>
          <a:ext cx="0" cy="0"/>
          <a:chOff x="0" y="0"/>
          <a:chExt cx="0" cy="0"/>
        </a:xfrm>
      </p:grpSpPr>
      <p:sp>
        <p:nvSpPr>
          <p:cNvPr id="339" name="Google Shape;339;p4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340" name="Google Shape;340;p4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EWMA- Exponentially Weighted Moving Averages</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Basic SMA has some "weaknesses".</a:t>
            </a:r>
            <a:endParaRPr sz="3000">
              <a:solidFill>
                <a:srgbClr val="434343"/>
              </a:solidFill>
              <a:latin typeface="Montserrat"/>
              <a:ea typeface="Montserrat"/>
              <a:cs typeface="Montserrat"/>
              <a:sym typeface="Montserrat"/>
            </a:endParaRPr>
          </a:p>
          <a:p>
            <a:pPr indent="-419100" lvl="1" marL="13716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Does not really inform you about possible future behaviour, all it really does is describe trends in your data.</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1600"/>
              </a:spcAft>
              <a:buNone/>
            </a:pPr>
            <a:r>
              <a:t/>
            </a:r>
            <a:endParaRPr sz="3000">
              <a:solidFill>
                <a:srgbClr val="434343"/>
              </a:solidFill>
              <a:latin typeface="Montserrat"/>
              <a:ea typeface="Montserrat"/>
              <a:cs typeface="Montserrat"/>
              <a:sym typeface="Montserrat"/>
            </a:endParaRPr>
          </a:p>
        </p:txBody>
      </p:sp>
      <p:pic>
        <p:nvPicPr>
          <p:cNvPr descr="watermark.jpg" id="341" name="Google Shape;341;p47"/>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342" name="Google Shape;342;p4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46" name="Shape 346"/>
        <p:cNvGrpSpPr/>
        <p:nvPr/>
      </p:nvGrpSpPr>
      <p:grpSpPr>
        <a:xfrm>
          <a:off x="0" y="0"/>
          <a:ext cx="0" cy="0"/>
          <a:chOff x="0" y="0"/>
          <a:chExt cx="0" cy="0"/>
        </a:xfrm>
      </p:grpSpPr>
      <p:sp>
        <p:nvSpPr>
          <p:cNvPr id="347" name="Google Shape;347;p4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348" name="Google Shape;348;p4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EWMA- Exponentially Weighted Moving Averages</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Basic SMA has some "weaknesses".</a:t>
            </a:r>
            <a:endParaRPr sz="3000">
              <a:solidFill>
                <a:srgbClr val="434343"/>
              </a:solidFill>
              <a:latin typeface="Montserrat"/>
              <a:ea typeface="Montserrat"/>
              <a:cs typeface="Montserrat"/>
              <a:sym typeface="Montserrat"/>
            </a:endParaRPr>
          </a:p>
          <a:p>
            <a:pPr indent="-419100" lvl="1" marL="13716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Extreme historical values can skew your SMA significantly</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1600"/>
              </a:spcAft>
              <a:buNone/>
            </a:pPr>
            <a:r>
              <a:t/>
            </a:r>
            <a:endParaRPr sz="3000">
              <a:solidFill>
                <a:srgbClr val="434343"/>
              </a:solidFill>
              <a:latin typeface="Montserrat"/>
              <a:ea typeface="Montserrat"/>
              <a:cs typeface="Montserrat"/>
              <a:sym typeface="Montserrat"/>
            </a:endParaRPr>
          </a:p>
        </p:txBody>
      </p:sp>
      <p:pic>
        <p:nvPicPr>
          <p:cNvPr descr="watermark.jpg" id="349" name="Google Shape;349;p48"/>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350" name="Google Shape;350;p4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54" name="Shape 354"/>
        <p:cNvGrpSpPr/>
        <p:nvPr/>
      </p:nvGrpSpPr>
      <p:grpSpPr>
        <a:xfrm>
          <a:off x="0" y="0"/>
          <a:ext cx="0" cy="0"/>
          <a:chOff x="0" y="0"/>
          <a:chExt cx="0" cy="0"/>
        </a:xfrm>
      </p:grpSpPr>
      <p:sp>
        <p:nvSpPr>
          <p:cNvPr id="355" name="Google Shape;355;p4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356" name="Google Shape;356;p4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EWMA- Exponentially Weighted Moving Averages</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Basic SMA has some "weaknesses".</a:t>
            </a:r>
            <a:endParaRPr sz="3000">
              <a:solidFill>
                <a:srgbClr val="434343"/>
              </a:solidFill>
              <a:latin typeface="Montserrat"/>
              <a:ea typeface="Montserrat"/>
              <a:cs typeface="Montserrat"/>
              <a:sym typeface="Montserrat"/>
            </a:endParaRPr>
          </a:p>
          <a:p>
            <a:pPr indent="-419100" lvl="1" marL="13716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To help fix some of these issues, we can use an EWMA (Exponentially-weighted moving average).</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0"/>
              </a:spcAft>
              <a:buNone/>
            </a:pPr>
            <a:r>
              <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1600"/>
              </a:spcAft>
              <a:buNone/>
            </a:pPr>
            <a:r>
              <a:t/>
            </a:r>
            <a:endParaRPr sz="3000">
              <a:solidFill>
                <a:srgbClr val="434343"/>
              </a:solidFill>
              <a:latin typeface="Montserrat"/>
              <a:ea typeface="Montserrat"/>
              <a:cs typeface="Montserrat"/>
              <a:sym typeface="Montserrat"/>
            </a:endParaRPr>
          </a:p>
        </p:txBody>
      </p:sp>
      <p:pic>
        <p:nvPicPr>
          <p:cNvPr descr="watermark.jpg" id="357" name="Google Shape;357;p49"/>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358" name="Google Shape;358;p4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62" name="Shape 362"/>
        <p:cNvGrpSpPr/>
        <p:nvPr/>
      </p:nvGrpSpPr>
      <p:grpSpPr>
        <a:xfrm>
          <a:off x="0" y="0"/>
          <a:ext cx="0" cy="0"/>
          <a:chOff x="0" y="0"/>
          <a:chExt cx="0" cy="0"/>
        </a:xfrm>
      </p:grpSpPr>
      <p:sp>
        <p:nvSpPr>
          <p:cNvPr id="363" name="Google Shape;363;p5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364" name="Google Shape;364;p5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EWMA will allow us to reduce the lag effect from SMA and it will put more weight on values that occurred more recently (by applying more weight to the more recent values, thus the name). </a:t>
            </a:r>
            <a:endParaRPr sz="3000">
              <a:solidFill>
                <a:srgbClr val="434343"/>
              </a:solidFill>
              <a:latin typeface="Montserrat"/>
              <a:ea typeface="Montserrat"/>
              <a:cs typeface="Montserrat"/>
              <a:sym typeface="Montserrat"/>
            </a:endParaRPr>
          </a:p>
        </p:txBody>
      </p:sp>
      <p:pic>
        <p:nvPicPr>
          <p:cNvPr descr="watermark.jpg" id="365" name="Google Shape;365;p50"/>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366" name="Google Shape;366;p5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70" name="Shape 370"/>
        <p:cNvGrpSpPr/>
        <p:nvPr/>
      </p:nvGrpSpPr>
      <p:grpSpPr>
        <a:xfrm>
          <a:off x="0" y="0"/>
          <a:ext cx="0" cy="0"/>
          <a:chOff x="0" y="0"/>
          <a:chExt cx="0" cy="0"/>
        </a:xfrm>
      </p:grpSpPr>
      <p:sp>
        <p:nvSpPr>
          <p:cNvPr id="371" name="Google Shape;371;p5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372" name="Google Shape;372;p5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The amount of weight applied to the most recent values will depend on the actual parameters used in the EWMA and the number of periods given a window size. </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0"/>
              </a:spcAft>
              <a:buNone/>
            </a:pPr>
            <a:r>
              <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1600"/>
              </a:spcAft>
              <a:buNone/>
            </a:pPr>
            <a:r>
              <a:t/>
            </a:r>
            <a:endParaRPr sz="3000">
              <a:solidFill>
                <a:srgbClr val="434343"/>
              </a:solidFill>
              <a:latin typeface="Montserrat"/>
              <a:ea typeface="Montserrat"/>
              <a:cs typeface="Montserrat"/>
              <a:sym typeface="Montserrat"/>
            </a:endParaRPr>
          </a:p>
        </p:txBody>
      </p:sp>
      <p:pic>
        <p:nvPicPr>
          <p:cNvPr descr="watermark.jpg" id="373" name="Google Shape;373;p51"/>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374" name="Google Shape;374;p5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78" name="Shape 378"/>
        <p:cNvGrpSpPr/>
        <p:nvPr/>
      </p:nvGrpSpPr>
      <p:grpSpPr>
        <a:xfrm>
          <a:off x="0" y="0"/>
          <a:ext cx="0" cy="0"/>
          <a:chOff x="0" y="0"/>
          <a:chExt cx="0" cy="0"/>
        </a:xfrm>
      </p:grpSpPr>
      <p:sp>
        <p:nvSpPr>
          <p:cNvPr id="379" name="Google Shape;379;p5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380" name="Google Shape;380;p5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Let’s code out an example of using pandas to create EWMA in the next lecture!</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0"/>
              </a:spcAft>
              <a:buNone/>
            </a:pPr>
            <a:r>
              <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1600"/>
              </a:spcAft>
              <a:buNone/>
            </a:pPr>
            <a:r>
              <a:t/>
            </a:r>
            <a:endParaRPr sz="3000">
              <a:solidFill>
                <a:srgbClr val="434343"/>
              </a:solidFill>
              <a:latin typeface="Montserrat"/>
              <a:ea typeface="Montserrat"/>
              <a:cs typeface="Montserrat"/>
              <a:sym typeface="Montserrat"/>
            </a:endParaRPr>
          </a:p>
        </p:txBody>
      </p:sp>
      <p:pic>
        <p:nvPicPr>
          <p:cNvPr descr="watermark.jpg" id="381" name="Google Shape;381;p52"/>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382" name="Google Shape;382;p5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86" name="Shape 386"/>
        <p:cNvGrpSpPr/>
        <p:nvPr/>
      </p:nvGrpSpPr>
      <p:grpSpPr>
        <a:xfrm>
          <a:off x="0" y="0"/>
          <a:ext cx="0" cy="0"/>
          <a:chOff x="0" y="0"/>
          <a:chExt cx="0" cy="0"/>
        </a:xfrm>
      </p:grpSpPr>
      <p:sp>
        <p:nvSpPr>
          <p:cNvPr id="387" name="Google Shape;387;p53"/>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EWMA Code Along</a:t>
            </a:r>
            <a:endParaRPr b="1">
              <a:latin typeface="Montserrat"/>
              <a:ea typeface="Montserrat"/>
              <a:cs typeface="Montserrat"/>
              <a:sym typeface="Montserrat"/>
            </a:endParaRPr>
          </a:p>
        </p:txBody>
      </p:sp>
      <p:sp>
        <p:nvSpPr>
          <p:cNvPr id="388" name="Google Shape;388;p53"/>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pic>
        <p:nvPicPr>
          <p:cNvPr descr="watermark.jpg" id="389" name="Google Shape;389;p53"/>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390" name="Google Shape;390;p5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94" name="Shape 394"/>
        <p:cNvGrpSpPr/>
        <p:nvPr/>
      </p:nvGrpSpPr>
      <p:grpSpPr>
        <a:xfrm>
          <a:off x="0" y="0"/>
          <a:ext cx="0" cy="0"/>
          <a:chOff x="0" y="0"/>
          <a:chExt cx="0" cy="0"/>
        </a:xfrm>
      </p:grpSpPr>
      <p:sp>
        <p:nvSpPr>
          <p:cNvPr id="395" name="Google Shape;395;p54"/>
          <p:cNvSpPr txBox="1"/>
          <p:nvPr>
            <p:ph type="ctrTitle"/>
          </p:nvPr>
        </p:nvSpPr>
        <p:spPr>
          <a:xfrm>
            <a:off x="311708" y="1545450"/>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ETS Decomposition Code Along</a:t>
            </a:r>
            <a:endParaRPr b="1">
              <a:latin typeface="Montserrat"/>
              <a:ea typeface="Montserrat"/>
              <a:cs typeface="Montserrat"/>
              <a:sym typeface="Montserrat"/>
            </a:endParaRPr>
          </a:p>
        </p:txBody>
      </p:sp>
      <p:sp>
        <p:nvSpPr>
          <p:cNvPr id="396" name="Google Shape;396;p5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pic>
        <p:nvPicPr>
          <p:cNvPr descr="watermark.jpg" id="397" name="Google Shape;397;p54"/>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398" name="Google Shape;398;p5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02" name="Shape 402"/>
        <p:cNvGrpSpPr/>
        <p:nvPr/>
      </p:nvGrpSpPr>
      <p:grpSpPr>
        <a:xfrm>
          <a:off x="0" y="0"/>
          <a:ext cx="0" cy="0"/>
          <a:chOff x="0" y="0"/>
          <a:chExt cx="0" cy="0"/>
        </a:xfrm>
      </p:grpSpPr>
      <p:sp>
        <p:nvSpPr>
          <p:cNvPr id="403" name="Google Shape;403;p55"/>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ARIMA Models</a:t>
            </a:r>
            <a:endParaRPr b="1">
              <a:latin typeface="Montserrat"/>
              <a:ea typeface="Montserrat"/>
              <a:cs typeface="Montserrat"/>
              <a:sym typeface="Montserrat"/>
            </a:endParaRPr>
          </a:p>
        </p:txBody>
      </p:sp>
      <p:sp>
        <p:nvSpPr>
          <p:cNvPr id="404" name="Google Shape;404;p55"/>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pic>
        <p:nvPicPr>
          <p:cNvPr descr="watermark.jpg" id="405" name="Google Shape;405;p55"/>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406" name="Google Shape;406;p5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10" name="Shape 410"/>
        <p:cNvGrpSpPr/>
        <p:nvPr/>
      </p:nvGrpSpPr>
      <p:grpSpPr>
        <a:xfrm>
          <a:off x="0" y="0"/>
          <a:ext cx="0" cy="0"/>
          <a:chOff x="0" y="0"/>
          <a:chExt cx="0" cy="0"/>
        </a:xfrm>
      </p:grpSpPr>
      <p:sp>
        <p:nvSpPr>
          <p:cNvPr id="411" name="Google Shape;411;p5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412" name="Google Shape;412;p5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We will now discuss one of the most common time series models, ARIMA. </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Please note, this is an </a:t>
            </a:r>
            <a:r>
              <a:rPr b="1" lang="en" sz="3000">
                <a:solidFill>
                  <a:srgbClr val="434343"/>
                </a:solidFill>
                <a:latin typeface="Montserrat"/>
                <a:ea typeface="Montserrat"/>
                <a:cs typeface="Montserrat"/>
                <a:sym typeface="Montserrat"/>
              </a:rPr>
              <a:t>optional</a:t>
            </a:r>
            <a:r>
              <a:rPr lang="en" sz="3000">
                <a:solidFill>
                  <a:srgbClr val="434343"/>
                </a:solidFill>
                <a:latin typeface="Montserrat"/>
                <a:ea typeface="Montserrat"/>
                <a:cs typeface="Montserrat"/>
                <a:sym typeface="Montserrat"/>
              </a:rPr>
              <a:t> section of the course.</a:t>
            </a:r>
            <a:r>
              <a:rPr lang="en" sz="3000">
                <a:solidFill>
                  <a:srgbClr val="434343"/>
                </a:solidFill>
                <a:latin typeface="Montserrat"/>
                <a:ea typeface="Montserrat"/>
                <a:cs typeface="Montserrat"/>
                <a:sym typeface="Montserrat"/>
              </a:rPr>
              <a:t> </a:t>
            </a:r>
            <a:endParaRPr sz="3000">
              <a:solidFill>
                <a:srgbClr val="434343"/>
              </a:solidFill>
              <a:latin typeface="Montserrat"/>
              <a:ea typeface="Montserrat"/>
              <a:cs typeface="Montserrat"/>
              <a:sym typeface="Montserrat"/>
            </a:endParaRPr>
          </a:p>
        </p:txBody>
      </p:sp>
      <p:pic>
        <p:nvPicPr>
          <p:cNvPr descr="watermark.jpg" id="413" name="Google Shape;413;p56"/>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414" name="Google Shape;414;p5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18" name="Shape 418"/>
        <p:cNvGrpSpPr/>
        <p:nvPr/>
      </p:nvGrpSpPr>
      <p:grpSpPr>
        <a:xfrm>
          <a:off x="0" y="0"/>
          <a:ext cx="0" cy="0"/>
          <a:chOff x="0" y="0"/>
          <a:chExt cx="0" cy="0"/>
        </a:xfrm>
      </p:grpSpPr>
      <p:sp>
        <p:nvSpPr>
          <p:cNvPr id="419" name="Google Shape;419;p5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420" name="Google Shape;420;p5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For various reasons we will discover later on, ARIMA models often don’t work well with historical stock data.</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However, they are so fundamental to understanding time series analysis that it is still worth the time to go over them.</a:t>
            </a:r>
            <a:endParaRPr sz="3000">
              <a:solidFill>
                <a:srgbClr val="434343"/>
              </a:solidFill>
              <a:latin typeface="Montserrat"/>
              <a:ea typeface="Montserrat"/>
              <a:cs typeface="Montserrat"/>
              <a:sym typeface="Montserrat"/>
            </a:endParaRPr>
          </a:p>
        </p:txBody>
      </p:sp>
      <p:pic>
        <p:nvPicPr>
          <p:cNvPr descr="watermark.jpg" id="421" name="Google Shape;421;p57"/>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422" name="Google Shape;422;p5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26" name="Shape 426"/>
        <p:cNvGrpSpPr/>
        <p:nvPr/>
      </p:nvGrpSpPr>
      <p:grpSpPr>
        <a:xfrm>
          <a:off x="0" y="0"/>
          <a:ext cx="0" cy="0"/>
          <a:chOff x="0" y="0"/>
          <a:chExt cx="0" cy="0"/>
        </a:xfrm>
      </p:grpSpPr>
      <p:sp>
        <p:nvSpPr>
          <p:cNvPr id="427" name="Google Shape;427;p5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428" name="Google Shape;428;p5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ARIMA models can be complex!</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Make sure to make full use of the various links and extra resources presented throughout this section if you want to later use ARIMA models for other problems.</a:t>
            </a:r>
            <a:endParaRPr sz="3000">
              <a:solidFill>
                <a:srgbClr val="434343"/>
              </a:solidFill>
              <a:latin typeface="Montserrat"/>
              <a:ea typeface="Montserrat"/>
              <a:cs typeface="Montserrat"/>
              <a:sym typeface="Montserrat"/>
            </a:endParaRPr>
          </a:p>
        </p:txBody>
      </p:sp>
      <p:pic>
        <p:nvPicPr>
          <p:cNvPr descr="watermark.jpg" id="429" name="Google Shape;429;p58"/>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430" name="Google Shape;430;p5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34" name="Shape 434"/>
        <p:cNvGrpSpPr/>
        <p:nvPr/>
      </p:nvGrpSpPr>
      <p:grpSpPr>
        <a:xfrm>
          <a:off x="0" y="0"/>
          <a:ext cx="0" cy="0"/>
          <a:chOff x="0" y="0"/>
          <a:chExt cx="0" cy="0"/>
        </a:xfrm>
      </p:grpSpPr>
      <p:sp>
        <p:nvSpPr>
          <p:cNvPr id="435" name="Google Shape;435;p5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436" name="Google Shape;436;p5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AutoRegressive Integrated Moving Average (ARIMA) model is a generalization of an autoregressive moving average (ARMA) model. </a:t>
            </a:r>
            <a:endParaRPr sz="3000">
              <a:solidFill>
                <a:srgbClr val="434343"/>
              </a:solidFill>
              <a:latin typeface="Montserrat"/>
              <a:ea typeface="Montserrat"/>
              <a:cs typeface="Montserrat"/>
              <a:sym typeface="Montserrat"/>
            </a:endParaRPr>
          </a:p>
        </p:txBody>
      </p:sp>
      <p:pic>
        <p:nvPicPr>
          <p:cNvPr descr="watermark.jpg" id="437" name="Google Shape;437;p59"/>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438" name="Google Shape;438;p5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42" name="Shape 442"/>
        <p:cNvGrpSpPr/>
        <p:nvPr/>
      </p:nvGrpSpPr>
      <p:grpSpPr>
        <a:xfrm>
          <a:off x="0" y="0"/>
          <a:ext cx="0" cy="0"/>
          <a:chOff x="0" y="0"/>
          <a:chExt cx="0" cy="0"/>
        </a:xfrm>
      </p:grpSpPr>
      <p:sp>
        <p:nvSpPr>
          <p:cNvPr id="443" name="Google Shape;443;p6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444" name="Google Shape;444;p6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Both of those models (ARIMA and ARMA) are fitted to time series data either to better understand the data or to predict future points in the series (forecasting). </a:t>
            </a:r>
            <a:endParaRPr sz="3000">
              <a:solidFill>
                <a:srgbClr val="434343"/>
              </a:solidFill>
              <a:latin typeface="Montserrat"/>
              <a:ea typeface="Montserrat"/>
              <a:cs typeface="Montserrat"/>
              <a:sym typeface="Montserrat"/>
            </a:endParaRPr>
          </a:p>
        </p:txBody>
      </p:sp>
      <p:pic>
        <p:nvPicPr>
          <p:cNvPr descr="watermark.jpg" id="445" name="Google Shape;445;p60"/>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446" name="Google Shape;446;p6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50" name="Shape 450"/>
        <p:cNvGrpSpPr/>
        <p:nvPr/>
      </p:nvGrpSpPr>
      <p:grpSpPr>
        <a:xfrm>
          <a:off x="0" y="0"/>
          <a:ext cx="0" cy="0"/>
          <a:chOff x="0" y="0"/>
          <a:chExt cx="0" cy="0"/>
        </a:xfrm>
      </p:grpSpPr>
      <p:sp>
        <p:nvSpPr>
          <p:cNvPr id="451" name="Google Shape;451;p6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452" name="Google Shape;452;p6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ARIMA (Autoregressive Integrated Moving Averages)</a:t>
            </a:r>
            <a:endParaRPr sz="3000">
              <a:solidFill>
                <a:srgbClr val="434343"/>
              </a:solidFill>
              <a:latin typeface="Montserrat"/>
              <a:ea typeface="Montserrat"/>
              <a:cs typeface="Montserrat"/>
              <a:sym typeface="Montserrat"/>
            </a:endParaRPr>
          </a:p>
          <a:p>
            <a:pPr indent="-419100" lvl="1" marL="13716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Non-seasonal ARIMA</a:t>
            </a:r>
            <a:endParaRPr sz="3000">
              <a:solidFill>
                <a:srgbClr val="434343"/>
              </a:solidFill>
              <a:latin typeface="Montserrat"/>
              <a:ea typeface="Montserrat"/>
              <a:cs typeface="Montserrat"/>
              <a:sym typeface="Montserrat"/>
            </a:endParaRPr>
          </a:p>
          <a:p>
            <a:pPr indent="-419100" lvl="1" marL="13716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Seasonal ARIMA</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0"/>
              </a:spcAft>
              <a:buNone/>
            </a:pPr>
            <a:r>
              <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1600"/>
              </a:spcAft>
              <a:buNone/>
            </a:pPr>
            <a:r>
              <a:t/>
            </a:r>
            <a:endParaRPr sz="3000">
              <a:solidFill>
                <a:srgbClr val="434343"/>
              </a:solidFill>
              <a:latin typeface="Montserrat"/>
              <a:ea typeface="Montserrat"/>
              <a:cs typeface="Montserrat"/>
              <a:sym typeface="Montserrat"/>
            </a:endParaRPr>
          </a:p>
        </p:txBody>
      </p:sp>
      <p:pic>
        <p:nvPicPr>
          <p:cNvPr descr="watermark.jpg" id="453" name="Google Shape;453;p61"/>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454" name="Google Shape;454;p6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58" name="Shape 458"/>
        <p:cNvGrpSpPr/>
        <p:nvPr/>
      </p:nvGrpSpPr>
      <p:grpSpPr>
        <a:xfrm>
          <a:off x="0" y="0"/>
          <a:ext cx="0" cy="0"/>
          <a:chOff x="0" y="0"/>
          <a:chExt cx="0" cy="0"/>
        </a:xfrm>
      </p:grpSpPr>
      <p:sp>
        <p:nvSpPr>
          <p:cNvPr id="459" name="Google Shape;459;p6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460" name="Google Shape;460;p6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We will start by discussing non-seasonal ARIMA models and then move on to seasonal ARIMA models.</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The python examples at the end will be using seasonal ARIMA.</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0"/>
              </a:spcAft>
              <a:buNone/>
            </a:pPr>
            <a:r>
              <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1600"/>
              </a:spcAft>
              <a:buNone/>
            </a:pPr>
            <a:r>
              <a:t/>
            </a:r>
            <a:endParaRPr sz="3000">
              <a:solidFill>
                <a:srgbClr val="434343"/>
              </a:solidFill>
              <a:latin typeface="Montserrat"/>
              <a:ea typeface="Montserrat"/>
              <a:cs typeface="Montserrat"/>
              <a:sym typeface="Montserrat"/>
            </a:endParaRPr>
          </a:p>
        </p:txBody>
      </p:sp>
      <p:pic>
        <p:nvPicPr>
          <p:cNvPr descr="watermark.jpg" id="461" name="Google Shape;461;p62"/>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462" name="Google Shape;462;p6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66" name="Shape 466"/>
        <p:cNvGrpSpPr/>
        <p:nvPr/>
      </p:nvGrpSpPr>
      <p:grpSpPr>
        <a:xfrm>
          <a:off x="0" y="0"/>
          <a:ext cx="0" cy="0"/>
          <a:chOff x="0" y="0"/>
          <a:chExt cx="0" cy="0"/>
        </a:xfrm>
      </p:grpSpPr>
      <p:sp>
        <p:nvSpPr>
          <p:cNvPr id="467" name="Google Shape;467;p6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468" name="Google Shape;468;p6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ARIMA models are applied in some cases where data show evidence of non-stationarity, where an initial differencing step (corresponding to the "integrated" part of the model) can be applied one or more times to eliminate the non-stationarity.</a:t>
            </a:r>
            <a:endParaRPr sz="3000">
              <a:solidFill>
                <a:srgbClr val="434343"/>
              </a:solidFill>
              <a:latin typeface="Montserrat"/>
              <a:ea typeface="Montserrat"/>
              <a:cs typeface="Montserrat"/>
              <a:sym typeface="Montserrat"/>
            </a:endParaRPr>
          </a:p>
        </p:txBody>
      </p:sp>
      <p:pic>
        <p:nvPicPr>
          <p:cNvPr descr="watermark.jpg" id="469" name="Google Shape;469;p63"/>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470" name="Google Shape;470;p6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74" name="Shape 474"/>
        <p:cNvGrpSpPr/>
        <p:nvPr/>
      </p:nvGrpSpPr>
      <p:grpSpPr>
        <a:xfrm>
          <a:off x="0" y="0"/>
          <a:ext cx="0" cy="0"/>
          <a:chOff x="0" y="0"/>
          <a:chExt cx="0" cy="0"/>
        </a:xfrm>
      </p:grpSpPr>
      <p:sp>
        <p:nvSpPr>
          <p:cNvPr id="475" name="Google Shape;475;p6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476" name="Google Shape;476;p6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Differencing is actually a very simple idea, but let’s put it on hold for now, and talk a bit more about ARIMA!</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We’ll touch back on differencing later on.</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Let’s talk about the major components of ARIMA.</a:t>
            </a:r>
            <a:endParaRPr sz="3000">
              <a:solidFill>
                <a:srgbClr val="434343"/>
              </a:solidFill>
              <a:latin typeface="Montserrat"/>
              <a:ea typeface="Montserrat"/>
              <a:cs typeface="Montserrat"/>
              <a:sym typeface="Montserrat"/>
            </a:endParaRPr>
          </a:p>
        </p:txBody>
      </p:sp>
      <p:pic>
        <p:nvPicPr>
          <p:cNvPr descr="watermark.jpg" id="477" name="Google Shape;477;p64"/>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478" name="Google Shape;478;p6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82" name="Shape 482"/>
        <p:cNvGrpSpPr/>
        <p:nvPr/>
      </p:nvGrpSpPr>
      <p:grpSpPr>
        <a:xfrm>
          <a:off x="0" y="0"/>
          <a:ext cx="0" cy="0"/>
          <a:chOff x="0" y="0"/>
          <a:chExt cx="0" cy="0"/>
        </a:xfrm>
      </p:grpSpPr>
      <p:sp>
        <p:nvSpPr>
          <p:cNvPr id="483" name="Google Shape;483;p6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484" name="Google Shape;484;p6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Non-seasonal ARIMA models are generally denoted ARIMA(p,d,q) where parameters p, d, and q are non-negative integers.</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Let’s discuss what these three components are!</a:t>
            </a:r>
            <a:endParaRPr sz="3000">
              <a:solidFill>
                <a:srgbClr val="434343"/>
              </a:solidFill>
              <a:latin typeface="Montserrat"/>
              <a:ea typeface="Montserrat"/>
              <a:cs typeface="Montserrat"/>
              <a:sym typeface="Montserrat"/>
            </a:endParaRPr>
          </a:p>
        </p:txBody>
      </p:sp>
      <p:pic>
        <p:nvPicPr>
          <p:cNvPr descr="watermark.jpg" id="485" name="Google Shape;485;p65"/>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486" name="Google Shape;486;p6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90" name="Shape 490"/>
        <p:cNvGrpSpPr/>
        <p:nvPr/>
      </p:nvGrpSpPr>
      <p:grpSpPr>
        <a:xfrm>
          <a:off x="0" y="0"/>
          <a:ext cx="0" cy="0"/>
          <a:chOff x="0" y="0"/>
          <a:chExt cx="0" cy="0"/>
        </a:xfrm>
      </p:grpSpPr>
      <p:sp>
        <p:nvSpPr>
          <p:cNvPr id="491" name="Google Shape;491;p6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492" name="Google Shape;492;p6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Parts of ARIMA model</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AR (p): Autoregression </a:t>
            </a:r>
            <a:endParaRPr sz="3000">
              <a:solidFill>
                <a:srgbClr val="434343"/>
              </a:solidFill>
              <a:latin typeface="Montserrat"/>
              <a:ea typeface="Montserrat"/>
              <a:cs typeface="Montserrat"/>
              <a:sym typeface="Montserrat"/>
            </a:endParaRPr>
          </a:p>
          <a:p>
            <a:pPr indent="-419100" lvl="1" marL="13716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 A regression model that utilizes the dependent relationship between a current observation and observations over a previous period</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1600"/>
              </a:spcAft>
              <a:buNone/>
            </a:pPr>
            <a:r>
              <a:t/>
            </a:r>
            <a:endParaRPr sz="3000">
              <a:solidFill>
                <a:srgbClr val="434343"/>
              </a:solidFill>
              <a:latin typeface="Montserrat"/>
              <a:ea typeface="Montserrat"/>
              <a:cs typeface="Montserrat"/>
              <a:sym typeface="Montserrat"/>
            </a:endParaRPr>
          </a:p>
        </p:txBody>
      </p:sp>
      <p:pic>
        <p:nvPicPr>
          <p:cNvPr descr="watermark.jpg" id="493" name="Google Shape;493;p66"/>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494" name="Google Shape;494;p6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98" name="Shape 498"/>
        <p:cNvGrpSpPr/>
        <p:nvPr/>
      </p:nvGrpSpPr>
      <p:grpSpPr>
        <a:xfrm>
          <a:off x="0" y="0"/>
          <a:ext cx="0" cy="0"/>
          <a:chOff x="0" y="0"/>
          <a:chExt cx="0" cy="0"/>
        </a:xfrm>
      </p:grpSpPr>
      <p:sp>
        <p:nvSpPr>
          <p:cNvPr id="499" name="Google Shape;499;p6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500" name="Google Shape;500;p6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Parts of ARIMA model</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I (d): Integrated. </a:t>
            </a:r>
            <a:endParaRPr sz="3000">
              <a:solidFill>
                <a:srgbClr val="434343"/>
              </a:solidFill>
              <a:latin typeface="Montserrat"/>
              <a:ea typeface="Montserrat"/>
              <a:cs typeface="Montserrat"/>
              <a:sym typeface="Montserrat"/>
            </a:endParaRPr>
          </a:p>
          <a:p>
            <a:pPr indent="-419100" lvl="1" marL="13716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Differencing of observations (subtracting an observation from an observation at the previous time step) in order to make the time series stationary.</a:t>
            </a:r>
            <a:endParaRPr sz="3000">
              <a:solidFill>
                <a:srgbClr val="434343"/>
              </a:solidFill>
              <a:latin typeface="Montserrat"/>
              <a:ea typeface="Montserrat"/>
              <a:cs typeface="Montserrat"/>
              <a:sym typeface="Montserrat"/>
            </a:endParaRPr>
          </a:p>
        </p:txBody>
      </p:sp>
      <p:pic>
        <p:nvPicPr>
          <p:cNvPr descr="watermark.jpg" id="501" name="Google Shape;501;p67"/>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502" name="Google Shape;502;p6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06" name="Shape 506"/>
        <p:cNvGrpSpPr/>
        <p:nvPr/>
      </p:nvGrpSpPr>
      <p:grpSpPr>
        <a:xfrm>
          <a:off x="0" y="0"/>
          <a:ext cx="0" cy="0"/>
          <a:chOff x="0" y="0"/>
          <a:chExt cx="0" cy="0"/>
        </a:xfrm>
      </p:grpSpPr>
      <p:sp>
        <p:nvSpPr>
          <p:cNvPr id="507" name="Google Shape;507;p6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508" name="Google Shape;508;p6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Parts of ARIMA model</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MA (q): Moving Average.</a:t>
            </a:r>
            <a:endParaRPr sz="3000">
              <a:solidFill>
                <a:srgbClr val="434343"/>
              </a:solidFill>
              <a:latin typeface="Montserrat"/>
              <a:ea typeface="Montserrat"/>
              <a:cs typeface="Montserrat"/>
              <a:sym typeface="Montserrat"/>
            </a:endParaRPr>
          </a:p>
          <a:p>
            <a:pPr indent="-419100" lvl="1" marL="13716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 A model that uses the dependency between an observation and a residual error from a moving average model applied to lagged observations.</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0"/>
              </a:spcAft>
              <a:buNone/>
            </a:pPr>
            <a:r>
              <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0"/>
              </a:spcAft>
              <a:buNone/>
            </a:pPr>
            <a:r>
              <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1600"/>
              </a:spcAft>
              <a:buNone/>
            </a:pPr>
            <a:r>
              <a:t/>
            </a:r>
            <a:endParaRPr sz="3000">
              <a:solidFill>
                <a:srgbClr val="434343"/>
              </a:solidFill>
              <a:latin typeface="Montserrat"/>
              <a:ea typeface="Montserrat"/>
              <a:cs typeface="Montserrat"/>
              <a:sym typeface="Montserrat"/>
            </a:endParaRPr>
          </a:p>
        </p:txBody>
      </p:sp>
      <p:pic>
        <p:nvPicPr>
          <p:cNvPr descr="watermark.jpg" id="509" name="Google Shape;509;p68"/>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510" name="Google Shape;510;p6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14" name="Shape 514"/>
        <p:cNvGrpSpPr/>
        <p:nvPr/>
      </p:nvGrpSpPr>
      <p:grpSpPr>
        <a:xfrm>
          <a:off x="0" y="0"/>
          <a:ext cx="0" cy="0"/>
          <a:chOff x="0" y="0"/>
          <a:chExt cx="0" cy="0"/>
        </a:xfrm>
      </p:grpSpPr>
      <p:sp>
        <p:nvSpPr>
          <p:cNvPr id="515" name="Google Shape;515;p6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516" name="Google Shape;516;p6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Stationary vs Non-Stationary Data</a:t>
            </a:r>
            <a:endParaRPr sz="3000">
              <a:solidFill>
                <a:srgbClr val="434343"/>
              </a:solidFill>
              <a:latin typeface="Montserrat"/>
              <a:ea typeface="Montserrat"/>
              <a:cs typeface="Montserrat"/>
              <a:sym typeface="Montserrat"/>
            </a:endParaRPr>
          </a:p>
          <a:p>
            <a:pPr indent="-419100" lvl="1" marL="13716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To effectively use ARIMA, we need to understand Stationarity in our data.</a:t>
            </a:r>
            <a:endParaRPr sz="3000">
              <a:solidFill>
                <a:srgbClr val="434343"/>
              </a:solidFill>
              <a:latin typeface="Montserrat"/>
              <a:ea typeface="Montserrat"/>
              <a:cs typeface="Montserrat"/>
              <a:sym typeface="Montserrat"/>
            </a:endParaRPr>
          </a:p>
          <a:p>
            <a:pPr indent="-419100" lvl="1" marL="13716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So what makes a data set Stationary?</a:t>
            </a:r>
            <a:endParaRPr sz="3000">
              <a:solidFill>
                <a:srgbClr val="434343"/>
              </a:solidFill>
              <a:latin typeface="Montserrat"/>
              <a:ea typeface="Montserrat"/>
              <a:cs typeface="Montserrat"/>
              <a:sym typeface="Montserrat"/>
            </a:endParaRPr>
          </a:p>
          <a:p>
            <a:pPr indent="-419100" lvl="2" marL="18288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A Stationary series has constant mean and variance over time.</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0"/>
              </a:spcAft>
              <a:buNone/>
            </a:pPr>
            <a:r>
              <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1600"/>
              </a:spcAft>
              <a:buNone/>
            </a:pPr>
            <a:r>
              <a:t/>
            </a:r>
            <a:endParaRPr sz="3000">
              <a:solidFill>
                <a:srgbClr val="434343"/>
              </a:solidFill>
              <a:latin typeface="Montserrat"/>
              <a:ea typeface="Montserrat"/>
              <a:cs typeface="Montserrat"/>
              <a:sym typeface="Montserrat"/>
            </a:endParaRPr>
          </a:p>
        </p:txBody>
      </p:sp>
      <p:pic>
        <p:nvPicPr>
          <p:cNvPr descr="watermark.jpg" id="517" name="Google Shape;517;p69"/>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518" name="Google Shape;518;p6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22" name="Shape 522"/>
        <p:cNvGrpSpPr/>
        <p:nvPr/>
      </p:nvGrpSpPr>
      <p:grpSpPr>
        <a:xfrm>
          <a:off x="0" y="0"/>
          <a:ext cx="0" cy="0"/>
          <a:chOff x="0" y="0"/>
          <a:chExt cx="0" cy="0"/>
        </a:xfrm>
      </p:grpSpPr>
      <p:sp>
        <p:nvSpPr>
          <p:cNvPr id="523" name="Google Shape;523;p7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524" name="Google Shape;524;p7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A Stationary data set will allow our model to predict that the mean and variance will be the same in future periods.</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Let’s take a look at a few examples!</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1600"/>
              </a:spcAft>
              <a:buNone/>
            </a:pPr>
            <a:r>
              <a:t/>
            </a:r>
            <a:endParaRPr sz="3000">
              <a:solidFill>
                <a:srgbClr val="434343"/>
              </a:solidFill>
              <a:latin typeface="Montserrat"/>
              <a:ea typeface="Montserrat"/>
              <a:cs typeface="Montserrat"/>
              <a:sym typeface="Montserrat"/>
            </a:endParaRPr>
          </a:p>
        </p:txBody>
      </p:sp>
      <p:pic>
        <p:nvPicPr>
          <p:cNvPr descr="watermark.jpg" id="525" name="Google Shape;525;p70"/>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526" name="Google Shape;526;p7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30" name="Shape 530"/>
        <p:cNvGrpSpPr/>
        <p:nvPr/>
      </p:nvGrpSpPr>
      <p:grpSpPr>
        <a:xfrm>
          <a:off x="0" y="0"/>
          <a:ext cx="0" cy="0"/>
          <a:chOff x="0" y="0"/>
          <a:chExt cx="0" cy="0"/>
        </a:xfrm>
      </p:grpSpPr>
      <p:sp>
        <p:nvSpPr>
          <p:cNvPr id="531" name="Google Shape;531;p7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532" name="Google Shape;532;p71"/>
          <p:cNvSpPr txBox="1"/>
          <p:nvPr>
            <p:ph idx="1" type="body"/>
          </p:nvPr>
        </p:nvSpPr>
        <p:spPr>
          <a:xfrm>
            <a:off x="440900" y="4226950"/>
            <a:ext cx="2805300" cy="616800"/>
          </a:xfrm>
          <a:prstGeom prst="rect">
            <a:avLst/>
          </a:prstGeom>
        </p:spPr>
        <p:txBody>
          <a:bodyPr anchorCtr="0" anchor="t" bIns="91425" lIns="91425" spcFirstLastPara="1" rIns="91425" wrap="square" tIns="91425">
            <a:noAutofit/>
          </a:bodyPr>
          <a:lstStyle/>
          <a:p>
            <a:pPr indent="0" lvl="0" marL="0" marR="0" rtl="0" algn="ctr">
              <a:lnSpc>
                <a:spcPct val="115000"/>
              </a:lnSpc>
              <a:spcBef>
                <a:spcPts val="0"/>
              </a:spcBef>
              <a:spcAft>
                <a:spcPts val="0"/>
              </a:spcAft>
              <a:buNone/>
            </a:pPr>
            <a:r>
              <a:rPr lang="en" sz="3000">
                <a:solidFill>
                  <a:srgbClr val="434343"/>
                </a:solidFill>
                <a:latin typeface="Montserrat"/>
                <a:ea typeface="Montserrat"/>
                <a:cs typeface="Montserrat"/>
                <a:sym typeface="Montserrat"/>
              </a:rPr>
              <a:t>Stationary     </a:t>
            </a:r>
            <a:endParaRPr sz="3000">
              <a:solidFill>
                <a:srgbClr val="434343"/>
              </a:solidFill>
              <a:latin typeface="Montserrat"/>
              <a:ea typeface="Montserrat"/>
              <a:cs typeface="Montserrat"/>
              <a:sym typeface="Montserrat"/>
            </a:endParaRPr>
          </a:p>
          <a:p>
            <a:pPr indent="0" lvl="0" marL="0" marR="0" rtl="0" algn="ctr">
              <a:lnSpc>
                <a:spcPct val="115000"/>
              </a:lnSpc>
              <a:spcBef>
                <a:spcPts val="1600"/>
              </a:spcBef>
              <a:spcAft>
                <a:spcPts val="1600"/>
              </a:spcAft>
              <a:buNone/>
            </a:pPr>
            <a:r>
              <a:t/>
            </a:r>
            <a:endParaRPr sz="3000">
              <a:solidFill>
                <a:srgbClr val="434343"/>
              </a:solidFill>
              <a:latin typeface="Montserrat"/>
              <a:ea typeface="Montserrat"/>
              <a:cs typeface="Montserrat"/>
              <a:sym typeface="Montserrat"/>
            </a:endParaRPr>
          </a:p>
        </p:txBody>
      </p:sp>
      <p:pic>
        <p:nvPicPr>
          <p:cNvPr descr="watermark.jpg" id="533" name="Google Shape;533;p71"/>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534" name="Google Shape;534;p7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535" name="Google Shape;535;p71"/>
          <p:cNvSpPr txBox="1"/>
          <p:nvPr>
            <p:ph idx="1" type="body"/>
          </p:nvPr>
        </p:nvSpPr>
        <p:spPr>
          <a:xfrm>
            <a:off x="4663475" y="4226950"/>
            <a:ext cx="3382500" cy="616800"/>
          </a:xfrm>
          <a:prstGeom prst="rect">
            <a:avLst/>
          </a:prstGeom>
        </p:spPr>
        <p:txBody>
          <a:bodyPr anchorCtr="0" anchor="t" bIns="91425" lIns="91425" spcFirstLastPara="1" rIns="91425" wrap="square" tIns="91425">
            <a:noAutofit/>
          </a:bodyPr>
          <a:lstStyle/>
          <a:p>
            <a:pPr indent="0" lvl="0" marL="0" marR="0" rtl="0" algn="ctr">
              <a:lnSpc>
                <a:spcPct val="115000"/>
              </a:lnSpc>
              <a:spcBef>
                <a:spcPts val="0"/>
              </a:spcBef>
              <a:spcAft>
                <a:spcPts val="0"/>
              </a:spcAft>
              <a:buNone/>
            </a:pPr>
            <a:r>
              <a:rPr lang="en" sz="3000">
                <a:solidFill>
                  <a:srgbClr val="434343"/>
                </a:solidFill>
                <a:latin typeface="Montserrat"/>
                <a:ea typeface="Montserrat"/>
                <a:cs typeface="Montserrat"/>
                <a:sym typeface="Montserrat"/>
              </a:rPr>
              <a:t>Non-</a:t>
            </a:r>
            <a:r>
              <a:rPr lang="en" sz="3000">
                <a:solidFill>
                  <a:srgbClr val="434343"/>
                </a:solidFill>
                <a:latin typeface="Montserrat"/>
                <a:ea typeface="Montserrat"/>
                <a:cs typeface="Montserrat"/>
                <a:sym typeface="Montserrat"/>
              </a:rPr>
              <a:t>Stationary     </a:t>
            </a:r>
            <a:endParaRPr sz="3000">
              <a:solidFill>
                <a:srgbClr val="434343"/>
              </a:solidFill>
              <a:latin typeface="Montserrat"/>
              <a:ea typeface="Montserrat"/>
              <a:cs typeface="Montserrat"/>
              <a:sym typeface="Montserrat"/>
            </a:endParaRPr>
          </a:p>
          <a:p>
            <a:pPr indent="0" lvl="0" marL="0" marR="0" rtl="0" algn="ctr">
              <a:lnSpc>
                <a:spcPct val="115000"/>
              </a:lnSpc>
              <a:spcBef>
                <a:spcPts val="1600"/>
              </a:spcBef>
              <a:spcAft>
                <a:spcPts val="1600"/>
              </a:spcAft>
              <a:buNone/>
            </a:pPr>
            <a:r>
              <a:t/>
            </a:r>
            <a:endParaRPr sz="3000">
              <a:solidFill>
                <a:srgbClr val="434343"/>
              </a:solidFill>
              <a:latin typeface="Montserrat"/>
              <a:ea typeface="Montserrat"/>
              <a:cs typeface="Montserrat"/>
              <a:sym typeface="Montserrat"/>
            </a:endParaRPr>
          </a:p>
        </p:txBody>
      </p:sp>
      <p:cxnSp>
        <p:nvCxnSpPr>
          <p:cNvPr id="536" name="Google Shape;536;p71"/>
          <p:cNvCxnSpPr/>
          <p:nvPr/>
        </p:nvCxnSpPr>
        <p:spPr>
          <a:xfrm rot="10800000">
            <a:off x="440970" y="1802950"/>
            <a:ext cx="5100" cy="2424000"/>
          </a:xfrm>
          <a:prstGeom prst="straightConnector1">
            <a:avLst/>
          </a:prstGeom>
          <a:noFill/>
          <a:ln cap="flat" cmpd="sng" w="28575">
            <a:solidFill>
              <a:schemeClr val="dk2"/>
            </a:solidFill>
            <a:prstDash val="solid"/>
            <a:round/>
            <a:headEnd len="med" w="med" type="none"/>
            <a:tailEnd len="med" w="med" type="triangle"/>
          </a:ln>
        </p:spPr>
      </p:cxnSp>
      <p:cxnSp>
        <p:nvCxnSpPr>
          <p:cNvPr id="537" name="Google Shape;537;p71"/>
          <p:cNvCxnSpPr/>
          <p:nvPr/>
        </p:nvCxnSpPr>
        <p:spPr>
          <a:xfrm>
            <a:off x="440900" y="4226950"/>
            <a:ext cx="3066900" cy="0"/>
          </a:xfrm>
          <a:prstGeom prst="straightConnector1">
            <a:avLst/>
          </a:prstGeom>
          <a:noFill/>
          <a:ln cap="flat" cmpd="sng" w="28575">
            <a:solidFill>
              <a:schemeClr val="dk2"/>
            </a:solidFill>
            <a:prstDash val="solid"/>
            <a:round/>
            <a:headEnd len="med" w="med" type="none"/>
            <a:tailEnd len="med" w="med" type="triangle"/>
          </a:ln>
        </p:spPr>
      </p:cxnSp>
      <p:cxnSp>
        <p:nvCxnSpPr>
          <p:cNvPr id="538" name="Google Shape;538;p71"/>
          <p:cNvCxnSpPr/>
          <p:nvPr/>
        </p:nvCxnSpPr>
        <p:spPr>
          <a:xfrm rot="10800000">
            <a:off x="4821345" y="1802950"/>
            <a:ext cx="5100" cy="2424000"/>
          </a:xfrm>
          <a:prstGeom prst="straightConnector1">
            <a:avLst/>
          </a:prstGeom>
          <a:noFill/>
          <a:ln cap="flat" cmpd="sng" w="28575">
            <a:solidFill>
              <a:schemeClr val="dk2"/>
            </a:solidFill>
            <a:prstDash val="solid"/>
            <a:round/>
            <a:headEnd len="med" w="med" type="none"/>
            <a:tailEnd len="med" w="med" type="triangle"/>
          </a:ln>
        </p:spPr>
      </p:cxnSp>
      <p:cxnSp>
        <p:nvCxnSpPr>
          <p:cNvPr id="539" name="Google Shape;539;p71"/>
          <p:cNvCxnSpPr/>
          <p:nvPr/>
        </p:nvCxnSpPr>
        <p:spPr>
          <a:xfrm>
            <a:off x="4821275" y="4226950"/>
            <a:ext cx="3066900" cy="0"/>
          </a:xfrm>
          <a:prstGeom prst="straightConnector1">
            <a:avLst/>
          </a:prstGeom>
          <a:noFill/>
          <a:ln cap="flat" cmpd="sng" w="28575">
            <a:solidFill>
              <a:schemeClr val="dk2"/>
            </a:solidFill>
            <a:prstDash val="solid"/>
            <a:round/>
            <a:headEnd len="med" w="med" type="none"/>
            <a:tailEnd len="med" w="med" type="triangle"/>
          </a:ln>
        </p:spPr>
      </p:cxnSp>
      <p:sp>
        <p:nvSpPr>
          <p:cNvPr id="540" name="Google Shape;540;p7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Mean needs to be constant</a:t>
            </a:r>
            <a:endParaRPr sz="3000">
              <a:solidFill>
                <a:srgbClr val="434343"/>
              </a:solidFill>
              <a:latin typeface="Montserrat"/>
              <a:ea typeface="Montserrat"/>
              <a:cs typeface="Montserrat"/>
              <a:sym typeface="Montserrat"/>
            </a:endParaRPr>
          </a:p>
        </p:txBody>
      </p:sp>
      <p:sp>
        <p:nvSpPr>
          <p:cNvPr id="541" name="Google Shape;541;p71"/>
          <p:cNvSpPr/>
          <p:nvPr/>
        </p:nvSpPr>
        <p:spPr>
          <a:xfrm>
            <a:off x="462925" y="2457743"/>
            <a:ext cx="2479150" cy="1075425"/>
          </a:xfrm>
          <a:custGeom>
            <a:rect b="b" l="l" r="r" t="t"/>
            <a:pathLst>
              <a:path extrusionOk="0" h="43017" w="99166">
                <a:moveTo>
                  <a:pt x="0" y="24723"/>
                </a:moveTo>
                <a:cubicBezTo>
                  <a:pt x="1646" y="21294"/>
                  <a:pt x="6720" y="1406"/>
                  <a:pt x="9875" y="4149"/>
                </a:cubicBezTo>
                <a:cubicBezTo>
                  <a:pt x="13030" y="6892"/>
                  <a:pt x="15773" y="39605"/>
                  <a:pt x="18928" y="41182"/>
                </a:cubicBezTo>
                <a:cubicBezTo>
                  <a:pt x="22083" y="42759"/>
                  <a:pt x="25786" y="14710"/>
                  <a:pt x="28803" y="13613"/>
                </a:cubicBezTo>
                <a:cubicBezTo>
                  <a:pt x="31821" y="12516"/>
                  <a:pt x="33741" y="36587"/>
                  <a:pt x="37033" y="34598"/>
                </a:cubicBezTo>
                <a:cubicBezTo>
                  <a:pt x="40325" y="32609"/>
                  <a:pt x="44988" y="308"/>
                  <a:pt x="48554" y="1680"/>
                </a:cubicBezTo>
                <a:cubicBezTo>
                  <a:pt x="52120" y="3052"/>
                  <a:pt x="55070" y="41319"/>
                  <a:pt x="58430" y="42828"/>
                </a:cubicBezTo>
                <a:cubicBezTo>
                  <a:pt x="61791" y="44337"/>
                  <a:pt x="65631" y="11898"/>
                  <a:pt x="68717" y="10732"/>
                </a:cubicBezTo>
                <a:cubicBezTo>
                  <a:pt x="71803" y="9566"/>
                  <a:pt x="73791" y="37615"/>
                  <a:pt x="76946" y="35832"/>
                </a:cubicBezTo>
                <a:cubicBezTo>
                  <a:pt x="80101" y="34049"/>
                  <a:pt x="83942" y="-240"/>
                  <a:pt x="87645" y="34"/>
                </a:cubicBezTo>
                <a:cubicBezTo>
                  <a:pt x="91348" y="308"/>
                  <a:pt x="97246" y="31237"/>
                  <a:pt x="99166" y="37478"/>
                </a:cubicBezTo>
              </a:path>
            </a:pathLst>
          </a:custGeom>
          <a:noFill/>
          <a:ln cap="flat" cmpd="sng" w="28575">
            <a:solidFill>
              <a:srgbClr val="38761D"/>
            </a:solidFill>
            <a:prstDash val="solid"/>
            <a:round/>
            <a:headEnd len="med" w="med" type="none"/>
            <a:tailEnd len="med" w="med" type="none"/>
          </a:ln>
        </p:spPr>
      </p:sp>
      <p:sp>
        <p:nvSpPr>
          <p:cNvPr id="542" name="Google Shape;542;p71"/>
          <p:cNvSpPr/>
          <p:nvPr/>
        </p:nvSpPr>
        <p:spPr>
          <a:xfrm>
            <a:off x="4855475" y="1357875"/>
            <a:ext cx="2407150" cy="2859800"/>
          </a:xfrm>
          <a:custGeom>
            <a:rect b="b" l="l" r="r" t="t"/>
            <a:pathLst>
              <a:path extrusionOk="0" h="114392" w="96286">
                <a:moveTo>
                  <a:pt x="0" y="114392"/>
                </a:moveTo>
                <a:cubicBezTo>
                  <a:pt x="1097" y="109729"/>
                  <a:pt x="4594" y="88126"/>
                  <a:pt x="6583" y="86411"/>
                </a:cubicBezTo>
                <a:cubicBezTo>
                  <a:pt x="8572" y="84697"/>
                  <a:pt x="9943" y="107260"/>
                  <a:pt x="11932" y="104105"/>
                </a:cubicBezTo>
                <a:cubicBezTo>
                  <a:pt x="13921" y="100950"/>
                  <a:pt x="16321" y="67689"/>
                  <a:pt x="18516" y="67483"/>
                </a:cubicBezTo>
                <a:cubicBezTo>
                  <a:pt x="20711" y="67277"/>
                  <a:pt x="22631" y="107328"/>
                  <a:pt x="25100" y="102870"/>
                </a:cubicBezTo>
                <a:cubicBezTo>
                  <a:pt x="27569" y="98412"/>
                  <a:pt x="30792" y="43274"/>
                  <a:pt x="33329" y="40737"/>
                </a:cubicBezTo>
                <a:cubicBezTo>
                  <a:pt x="35867" y="38200"/>
                  <a:pt x="38199" y="88469"/>
                  <a:pt x="40325" y="87646"/>
                </a:cubicBezTo>
                <a:cubicBezTo>
                  <a:pt x="42451" y="86823"/>
                  <a:pt x="44028" y="38817"/>
                  <a:pt x="46085" y="35799"/>
                </a:cubicBezTo>
                <a:cubicBezTo>
                  <a:pt x="48142" y="32781"/>
                  <a:pt x="50269" y="72352"/>
                  <a:pt x="52669" y="69540"/>
                </a:cubicBezTo>
                <a:cubicBezTo>
                  <a:pt x="55069" y="66728"/>
                  <a:pt x="57812" y="21603"/>
                  <a:pt x="60487" y="18928"/>
                </a:cubicBezTo>
                <a:cubicBezTo>
                  <a:pt x="63162" y="16254"/>
                  <a:pt x="66042" y="55619"/>
                  <a:pt x="68717" y="53493"/>
                </a:cubicBezTo>
                <a:cubicBezTo>
                  <a:pt x="71392" y="51367"/>
                  <a:pt x="73586" y="7750"/>
                  <a:pt x="76535" y="6173"/>
                </a:cubicBezTo>
                <a:cubicBezTo>
                  <a:pt x="79484" y="4596"/>
                  <a:pt x="83118" y="45058"/>
                  <a:pt x="86410" y="44029"/>
                </a:cubicBezTo>
                <a:cubicBezTo>
                  <a:pt x="89702" y="43000"/>
                  <a:pt x="94640" y="7338"/>
                  <a:pt x="96286" y="0"/>
                </a:cubicBezTo>
              </a:path>
            </a:pathLst>
          </a:custGeom>
          <a:noFill/>
          <a:ln cap="flat" cmpd="sng" w="28575">
            <a:solidFill>
              <a:srgbClr val="980000"/>
            </a:solidFill>
            <a:prstDash val="solid"/>
            <a:round/>
            <a:headEnd len="med" w="med" type="none"/>
            <a:tailEnd len="med" w="med" type="none"/>
          </a:ln>
        </p:spPr>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46" name="Shape 546"/>
        <p:cNvGrpSpPr/>
        <p:nvPr/>
      </p:nvGrpSpPr>
      <p:grpSpPr>
        <a:xfrm>
          <a:off x="0" y="0"/>
          <a:ext cx="0" cy="0"/>
          <a:chOff x="0" y="0"/>
          <a:chExt cx="0" cy="0"/>
        </a:xfrm>
      </p:grpSpPr>
      <p:sp>
        <p:nvSpPr>
          <p:cNvPr id="547" name="Google Shape;547;p7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548" name="Google Shape;548;p72"/>
          <p:cNvSpPr txBox="1"/>
          <p:nvPr>
            <p:ph idx="1" type="body"/>
          </p:nvPr>
        </p:nvSpPr>
        <p:spPr>
          <a:xfrm>
            <a:off x="440900" y="4226950"/>
            <a:ext cx="2805300" cy="616800"/>
          </a:xfrm>
          <a:prstGeom prst="rect">
            <a:avLst/>
          </a:prstGeom>
        </p:spPr>
        <p:txBody>
          <a:bodyPr anchorCtr="0" anchor="t" bIns="91425" lIns="91425" spcFirstLastPara="1" rIns="91425" wrap="square" tIns="91425">
            <a:noAutofit/>
          </a:bodyPr>
          <a:lstStyle/>
          <a:p>
            <a:pPr indent="0" lvl="0" marL="0" marR="0" rtl="0" algn="ctr">
              <a:lnSpc>
                <a:spcPct val="115000"/>
              </a:lnSpc>
              <a:spcBef>
                <a:spcPts val="0"/>
              </a:spcBef>
              <a:spcAft>
                <a:spcPts val="0"/>
              </a:spcAft>
              <a:buNone/>
            </a:pPr>
            <a:r>
              <a:rPr lang="en" sz="3000">
                <a:solidFill>
                  <a:srgbClr val="434343"/>
                </a:solidFill>
                <a:latin typeface="Montserrat"/>
                <a:ea typeface="Montserrat"/>
                <a:cs typeface="Montserrat"/>
                <a:sym typeface="Montserrat"/>
              </a:rPr>
              <a:t>Stationary     </a:t>
            </a:r>
            <a:endParaRPr sz="3000">
              <a:solidFill>
                <a:srgbClr val="434343"/>
              </a:solidFill>
              <a:latin typeface="Montserrat"/>
              <a:ea typeface="Montserrat"/>
              <a:cs typeface="Montserrat"/>
              <a:sym typeface="Montserrat"/>
            </a:endParaRPr>
          </a:p>
          <a:p>
            <a:pPr indent="0" lvl="0" marL="0" marR="0" rtl="0" algn="ctr">
              <a:lnSpc>
                <a:spcPct val="115000"/>
              </a:lnSpc>
              <a:spcBef>
                <a:spcPts val="1600"/>
              </a:spcBef>
              <a:spcAft>
                <a:spcPts val="1600"/>
              </a:spcAft>
              <a:buNone/>
            </a:pPr>
            <a:r>
              <a:t/>
            </a:r>
            <a:endParaRPr sz="3000">
              <a:solidFill>
                <a:srgbClr val="434343"/>
              </a:solidFill>
              <a:latin typeface="Montserrat"/>
              <a:ea typeface="Montserrat"/>
              <a:cs typeface="Montserrat"/>
              <a:sym typeface="Montserrat"/>
            </a:endParaRPr>
          </a:p>
        </p:txBody>
      </p:sp>
      <p:pic>
        <p:nvPicPr>
          <p:cNvPr descr="watermark.jpg" id="549" name="Google Shape;549;p72"/>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550" name="Google Shape;550;p7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551" name="Google Shape;551;p72"/>
          <p:cNvSpPr txBox="1"/>
          <p:nvPr>
            <p:ph idx="1" type="body"/>
          </p:nvPr>
        </p:nvSpPr>
        <p:spPr>
          <a:xfrm>
            <a:off x="4663475" y="4226950"/>
            <a:ext cx="3382500" cy="616800"/>
          </a:xfrm>
          <a:prstGeom prst="rect">
            <a:avLst/>
          </a:prstGeom>
        </p:spPr>
        <p:txBody>
          <a:bodyPr anchorCtr="0" anchor="t" bIns="91425" lIns="91425" spcFirstLastPara="1" rIns="91425" wrap="square" tIns="91425">
            <a:noAutofit/>
          </a:bodyPr>
          <a:lstStyle/>
          <a:p>
            <a:pPr indent="0" lvl="0" marL="0" marR="0" rtl="0" algn="ctr">
              <a:lnSpc>
                <a:spcPct val="115000"/>
              </a:lnSpc>
              <a:spcBef>
                <a:spcPts val="0"/>
              </a:spcBef>
              <a:spcAft>
                <a:spcPts val="0"/>
              </a:spcAft>
              <a:buNone/>
            </a:pPr>
            <a:r>
              <a:rPr lang="en" sz="3000">
                <a:solidFill>
                  <a:srgbClr val="434343"/>
                </a:solidFill>
                <a:latin typeface="Montserrat"/>
                <a:ea typeface="Montserrat"/>
                <a:cs typeface="Montserrat"/>
                <a:sym typeface="Montserrat"/>
              </a:rPr>
              <a:t>Non-Stationary     </a:t>
            </a:r>
            <a:endParaRPr sz="3000">
              <a:solidFill>
                <a:srgbClr val="434343"/>
              </a:solidFill>
              <a:latin typeface="Montserrat"/>
              <a:ea typeface="Montserrat"/>
              <a:cs typeface="Montserrat"/>
              <a:sym typeface="Montserrat"/>
            </a:endParaRPr>
          </a:p>
          <a:p>
            <a:pPr indent="0" lvl="0" marL="0" marR="0" rtl="0" algn="ctr">
              <a:lnSpc>
                <a:spcPct val="115000"/>
              </a:lnSpc>
              <a:spcBef>
                <a:spcPts val="1600"/>
              </a:spcBef>
              <a:spcAft>
                <a:spcPts val="1600"/>
              </a:spcAft>
              <a:buNone/>
            </a:pPr>
            <a:r>
              <a:t/>
            </a:r>
            <a:endParaRPr sz="3000">
              <a:solidFill>
                <a:srgbClr val="434343"/>
              </a:solidFill>
              <a:latin typeface="Montserrat"/>
              <a:ea typeface="Montserrat"/>
              <a:cs typeface="Montserrat"/>
              <a:sym typeface="Montserrat"/>
            </a:endParaRPr>
          </a:p>
        </p:txBody>
      </p:sp>
      <p:cxnSp>
        <p:nvCxnSpPr>
          <p:cNvPr id="552" name="Google Shape;552;p72"/>
          <p:cNvCxnSpPr/>
          <p:nvPr/>
        </p:nvCxnSpPr>
        <p:spPr>
          <a:xfrm rot="10800000">
            <a:off x="440970" y="1802950"/>
            <a:ext cx="5100" cy="2424000"/>
          </a:xfrm>
          <a:prstGeom prst="straightConnector1">
            <a:avLst/>
          </a:prstGeom>
          <a:noFill/>
          <a:ln cap="flat" cmpd="sng" w="28575">
            <a:solidFill>
              <a:schemeClr val="dk2"/>
            </a:solidFill>
            <a:prstDash val="solid"/>
            <a:round/>
            <a:headEnd len="med" w="med" type="none"/>
            <a:tailEnd len="med" w="med" type="triangle"/>
          </a:ln>
        </p:spPr>
      </p:cxnSp>
      <p:cxnSp>
        <p:nvCxnSpPr>
          <p:cNvPr id="553" name="Google Shape;553;p72"/>
          <p:cNvCxnSpPr/>
          <p:nvPr/>
        </p:nvCxnSpPr>
        <p:spPr>
          <a:xfrm>
            <a:off x="440900" y="4226950"/>
            <a:ext cx="3066900" cy="0"/>
          </a:xfrm>
          <a:prstGeom prst="straightConnector1">
            <a:avLst/>
          </a:prstGeom>
          <a:noFill/>
          <a:ln cap="flat" cmpd="sng" w="28575">
            <a:solidFill>
              <a:schemeClr val="dk2"/>
            </a:solidFill>
            <a:prstDash val="solid"/>
            <a:round/>
            <a:headEnd len="med" w="med" type="none"/>
            <a:tailEnd len="med" w="med" type="triangle"/>
          </a:ln>
        </p:spPr>
      </p:cxnSp>
      <p:cxnSp>
        <p:nvCxnSpPr>
          <p:cNvPr id="554" name="Google Shape;554;p72"/>
          <p:cNvCxnSpPr/>
          <p:nvPr/>
        </p:nvCxnSpPr>
        <p:spPr>
          <a:xfrm rot="10800000">
            <a:off x="4821345" y="1802950"/>
            <a:ext cx="5100" cy="2424000"/>
          </a:xfrm>
          <a:prstGeom prst="straightConnector1">
            <a:avLst/>
          </a:prstGeom>
          <a:noFill/>
          <a:ln cap="flat" cmpd="sng" w="28575">
            <a:solidFill>
              <a:schemeClr val="dk2"/>
            </a:solidFill>
            <a:prstDash val="solid"/>
            <a:round/>
            <a:headEnd len="med" w="med" type="none"/>
            <a:tailEnd len="med" w="med" type="triangle"/>
          </a:ln>
        </p:spPr>
      </p:cxnSp>
      <p:cxnSp>
        <p:nvCxnSpPr>
          <p:cNvPr id="555" name="Google Shape;555;p72"/>
          <p:cNvCxnSpPr/>
          <p:nvPr/>
        </p:nvCxnSpPr>
        <p:spPr>
          <a:xfrm>
            <a:off x="4821275" y="4226950"/>
            <a:ext cx="3066900" cy="0"/>
          </a:xfrm>
          <a:prstGeom prst="straightConnector1">
            <a:avLst/>
          </a:prstGeom>
          <a:noFill/>
          <a:ln cap="flat" cmpd="sng" w="28575">
            <a:solidFill>
              <a:schemeClr val="dk2"/>
            </a:solidFill>
            <a:prstDash val="solid"/>
            <a:round/>
            <a:headEnd len="med" w="med" type="none"/>
            <a:tailEnd len="med" w="med" type="triangle"/>
          </a:ln>
        </p:spPr>
      </p:cxnSp>
      <p:sp>
        <p:nvSpPr>
          <p:cNvPr id="556" name="Google Shape;556;p7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Variance</a:t>
            </a:r>
            <a:r>
              <a:rPr lang="en" sz="3000">
                <a:solidFill>
                  <a:srgbClr val="434343"/>
                </a:solidFill>
                <a:latin typeface="Montserrat"/>
                <a:ea typeface="Montserrat"/>
                <a:cs typeface="Montserrat"/>
                <a:sym typeface="Montserrat"/>
              </a:rPr>
              <a:t> should not be a function of time</a:t>
            </a:r>
            <a:endParaRPr sz="3000">
              <a:solidFill>
                <a:srgbClr val="434343"/>
              </a:solidFill>
              <a:latin typeface="Montserrat"/>
              <a:ea typeface="Montserrat"/>
              <a:cs typeface="Montserrat"/>
              <a:sym typeface="Montserrat"/>
            </a:endParaRPr>
          </a:p>
        </p:txBody>
      </p:sp>
      <p:sp>
        <p:nvSpPr>
          <p:cNvPr id="557" name="Google Shape;557;p72"/>
          <p:cNvSpPr/>
          <p:nvPr/>
        </p:nvSpPr>
        <p:spPr>
          <a:xfrm>
            <a:off x="462925" y="2457743"/>
            <a:ext cx="2479150" cy="1075425"/>
          </a:xfrm>
          <a:custGeom>
            <a:rect b="b" l="l" r="r" t="t"/>
            <a:pathLst>
              <a:path extrusionOk="0" h="43017" w="99166">
                <a:moveTo>
                  <a:pt x="0" y="24723"/>
                </a:moveTo>
                <a:cubicBezTo>
                  <a:pt x="1646" y="21294"/>
                  <a:pt x="6720" y="1406"/>
                  <a:pt x="9875" y="4149"/>
                </a:cubicBezTo>
                <a:cubicBezTo>
                  <a:pt x="13030" y="6892"/>
                  <a:pt x="15773" y="39605"/>
                  <a:pt x="18928" y="41182"/>
                </a:cubicBezTo>
                <a:cubicBezTo>
                  <a:pt x="22083" y="42759"/>
                  <a:pt x="25786" y="14710"/>
                  <a:pt x="28803" y="13613"/>
                </a:cubicBezTo>
                <a:cubicBezTo>
                  <a:pt x="31821" y="12516"/>
                  <a:pt x="33741" y="36587"/>
                  <a:pt x="37033" y="34598"/>
                </a:cubicBezTo>
                <a:cubicBezTo>
                  <a:pt x="40325" y="32609"/>
                  <a:pt x="44988" y="308"/>
                  <a:pt x="48554" y="1680"/>
                </a:cubicBezTo>
                <a:cubicBezTo>
                  <a:pt x="52120" y="3052"/>
                  <a:pt x="55070" y="41319"/>
                  <a:pt x="58430" y="42828"/>
                </a:cubicBezTo>
                <a:cubicBezTo>
                  <a:pt x="61791" y="44337"/>
                  <a:pt x="65631" y="11898"/>
                  <a:pt x="68717" y="10732"/>
                </a:cubicBezTo>
                <a:cubicBezTo>
                  <a:pt x="71803" y="9566"/>
                  <a:pt x="73791" y="37615"/>
                  <a:pt x="76946" y="35832"/>
                </a:cubicBezTo>
                <a:cubicBezTo>
                  <a:pt x="80101" y="34049"/>
                  <a:pt x="83942" y="-240"/>
                  <a:pt x="87645" y="34"/>
                </a:cubicBezTo>
                <a:cubicBezTo>
                  <a:pt x="91348" y="308"/>
                  <a:pt x="97246" y="31237"/>
                  <a:pt x="99166" y="37478"/>
                </a:cubicBezTo>
              </a:path>
            </a:pathLst>
          </a:custGeom>
          <a:noFill/>
          <a:ln cap="flat" cmpd="sng" w="28575">
            <a:solidFill>
              <a:srgbClr val="38761D"/>
            </a:solidFill>
            <a:prstDash val="solid"/>
            <a:round/>
            <a:headEnd len="med" w="med" type="none"/>
            <a:tailEnd len="med" w="med" type="none"/>
          </a:ln>
        </p:spPr>
      </p:sp>
      <p:sp>
        <p:nvSpPr>
          <p:cNvPr id="558" name="Google Shape;558;p72"/>
          <p:cNvSpPr/>
          <p:nvPr/>
        </p:nvSpPr>
        <p:spPr>
          <a:xfrm>
            <a:off x="4845175" y="1718983"/>
            <a:ext cx="2921500" cy="2380925"/>
          </a:xfrm>
          <a:custGeom>
            <a:rect b="b" l="l" r="r" t="t"/>
            <a:pathLst>
              <a:path extrusionOk="0" h="95237" w="116860">
                <a:moveTo>
                  <a:pt x="0" y="54685"/>
                </a:moveTo>
                <a:cubicBezTo>
                  <a:pt x="686" y="51530"/>
                  <a:pt x="2949" y="34385"/>
                  <a:pt x="4115" y="35757"/>
                </a:cubicBezTo>
                <a:cubicBezTo>
                  <a:pt x="5281" y="37129"/>
                  <a:pt x="5212" y="63189"/>
                  <a:pt x="6995" y="62915"/>
                </a:cubicBezTo>
                <a:cubicBezTo>
                  <a:pt x="8778" y="62641"/>
                  <a:pt x="12893" y="34317"/>
                  <a:pt x="14813" y="34111"/>
                </a:cubicBezTo>
                <a:cubicBezTo>
                  <a:pt x="16733" y="33905"/>
                  <a:pt x="16391" y="61954"/>
                  <a:pt x="18517" y="61680"/>
                </a:cubicBezTo>
                <a:cubicBezTo>
                  <a:pt x="20643" y="61406"/>
                  <a:pt x="25306" y="32191"/>
                  <a:pt x="27569" y="32465"/>
                </a:cubicBezTo>
                <a:cubicBezTo>
                  <a:pt x="29832" y="32739"/>
                  <a:pt x="30107" y="68675"/>
                  <a:pt x="32096" y="63326"/>
                </a:cubicBezTo>
                <a:cubicBezTo>
                  <a:pt x="34085" y="57977"/>
                  <a:pt x="37788" y="-4705"/>
                  <a:pt x="39502" y="370"/>
                </a:cubicBezTo>
                <a:cubicBezTo>
                  <a:pt x="41217" y="5445"/>
                  <a:pt x="40600" y="93570"/>
                  <a:pt x="42383" y="93776"/>
                </a:cubicBezTo>
                <a:cubicBezTo>
                  <a:pt x="44166" y="93982"/>
                  <a:pt x="47938" y="1673"/>
                  <a:pt x="50201" y="1604"/>
                </a:cubicBezTo>
                <a:cubicBezTo>
                  <a:pt x="52464" y="1535"/>
                  <a:pt x="53629" y="92815"/>
                  <a:pt x="55961" y="93364"/>
                </a:cubicBezTo>
                <a:cubicBezTo>
                  <a:pt x="58293" y="93913"/>
                  <a:pt x="62339" y="10177"/>
                  <a:pt x="64191" y="4896"/>
                </a:cubicBezTo>
                <a:cubicBezTo>
                  <a:pt x="66043" y="-385"/>
                  <a:pt x="65631" y="57222"/>
                  <a:pt x="67071" y="61680"/>
                </a:cubicBezTo>
                <a:cubicBezTo>
                  <a:pt x="68511" y="66138"/>
                  <a:pt x="71049" y="31573"/>
                  <a:pt x="72832" y="31642"/>
                </a:cubicBezTo>
                <a:cubicBezTo>
                  <a:pt x="74615" y="31711"/>
                  <a:pt x="75781" y="62092"/>
                  <a:pt x="77770" y="62092"/>
                </a:cubicBezTo>
                <a:cubicBezTo>
                  <a:pt x="79759" y="62092"/>
                  <a:pt x="83119" y="26499"/>
                  <a:pt x="84765" y="31642"/>
                </a:cubicBezTo>
                <a:cubicBezTo>
                  <a:pt x="86411" y="36786"/>
                  <a:pt x="86136" y="97617"/>
                  <a:pt x="87645" y="92953"/>
                </a:cubicBezTo>
                <a:cubicBezTo>
                  <a:pt x="89154" y="88290"/>
                  <a:pt x="91761" y="9490"/>
                  <a:pt x="93818" y="3661"/>
                </a:cubicBezTo>
                <a:cubicBezTo>
                  <a:pt x="95876" y="-2168"/>
                  <a:pt x="98001" y="58457"/>
                  <a:pt x="99990" y="57977"/>
                </a:cubicBezTo>
                <a:cubicBezTo>
                  <a:pt x="101979" y="57497"/>
                  <a:pt x="104447" y="-5323"/>
                  <a:pt x="105750" y="781"/>
                </a:cubicBezTo>
                <a:cubicBezTo>
                  <a:pt x="107053" y="6885"/>
                  <a:pt x="105956" y="87741"/>
                  <a:pt x="107808" y="94599"/>
                </a:cubicBezTo>
                <a:cubicBezTo>
                  <a:pt x="109660" y="101457"/>
                  <a:pt x="115351" y="50707"/>
                  <a:pt x="116860" y="41929"/>
                </a:cubicBezTo>
              </a:path>
            </a:pathLst>
          </a:custGeom>
          <a:noFill/>
          <a:ln cap="flat" cmpd="sng" w="28575">
            <a:solidFill>
              <a:srgbClr val="980000"/>
            </a:solidFill>
            <a:prstDash val="solid"/>
            <a:round/>
            <a:headEnd len="med" w="med" type="none"/>
            <a:tailEnd len="med" w="med" type="none"/>
          </a:ln>
        </p:spPr>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62" name="Shape 562"/>
        <p:cNvGrpSpPr/>
        <p:nvPr/>
      </p:nvGrpSpPr>
      <p:grpSpPr>
        <a:xfrm>
          <a:off x="0" y="0"/>
          <a:ext cx="0" cy="0"/>
          <a:chOff x="0" y="0"/>
          <a:chExt cx="0" cy="0"/>
        </a:xfrm>
      </p:grpSpPr>
      <p:sp>
        <p:nvSpPr>
          <p:cNvPr id="563" name="Google Shape;563;p7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564" name="Google Shape;564;p73"/>
          <p:cNvSpPr txBox="1"/>
          <p:nvPr>
            <p:ph idx="1" type="body"/>
          </p:nvPr>
        </p:nvSpPr>
        <p:spPr>
          <a:xfrm>
            <a:off x="440900" y="4226950"/>
            <a:ext cx="2805300" cy="616800"/>
          </a:xfrm>
          <a:prstGeom prst="rect">
            <a:avLst/>
          </a:prstGeom>
        </p:spPr>
        <p:txBody>
          <a:bodyPr anchorCtr="0" anchor="t" bIns="91425" lIns="91425" spcFirstLastPara="1" rIns="91425" wrap="square" tIns="91425">
            <a:noAutofit/>
          </a:bodyPr>
          <a:lstStyle/>
          <a:p>
            <a:pPr indent="0" lvl="0" marL="0" marR="0" rtl="0" algn="ctr">
              <a:lnSpc>
                <a:spcPct val="115000"/>
              </a:lnSpc>
              <a:spcBef>
                <a:spcPts val="0"/>
              </a:spcBef>
              <a:spcAft>
                <a:spcPts val="0"/>
              </a:spcAft>
              <a:buNone/>
            </a:pPr>
            <a:r>
              <a:rPr lang="en" sz="3000">
                <a:solidFill>
                  <a:srgbClr val="434343"/>
                </a:solidFill>
                <a:latin typeface="Montserrat"/>
                <a:ea typeface="Montserrat"/>
                <a:cs typeface="Montserrat"/>
                <a:sym typeface="Montserrat"/>
              </a:rPr>
              <a:t>Stationary     </a:t>
            </a:r>
            <a:endParaRPr sz="3000">
              <a:solidFill>
                <a:srgbClr val="434343"/>
              </a:solidFill>
              <a:latin typeface="Montserrat"/>
              <a:ea typeface="Montserrat"/>
              <a:cs typeface="Montserrat"/>
              <a:sym typeface="Montserrat"/>
            </a:endParaRPr>
          </a:p>
          <a:p>
            <a:pPr indent="0" lvl="0" marL="0" marR="0" rtl="0" algn="ctr">
              <a:lnSpc>
                <a:spcPct val="115000"/>
              </a:lnSpc>
              <a:spcBef>
                <a:spcPts val="1600"/>
              </a:spcBef>
              <a:spcAft>
                <a:spcPts val="1600"/>
              </a:spcAft>
              <a:buNone/>
            </a:pPr>
            <a:r>
              <a:t/>
            </a:r>
            <a:endParaRPr sz="3000">
              <a:solidFill>
                <a:srgbClr val="434343"/>
              </a:solidFill>
              <a:latin typeface="Montserrat"/>
              <a:ea typeface="Montserrat"/>
              <a:cs typeface="Montserrat"/>
              <a:sym typeface="Montserrat"/>
            </a:endParaRPr>
          </a:p>
        </p:txBody>
      </p:sp>
      <p:pic>
        <p:nvPicPr>
          <p:cNvPr descr="watermark.jpg" id="565" name="Google Shape;565;p73"/>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566" name="Google Shape;566;p7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567" name="Google Shape;567;p73"/>
          <p:cNvSpPr txBox="1"/>
          <p:nvPr>
            <p:ph idx="1" type="body"/>
          </p:nvPr>
        </p:nvSpPr>
        <p:spPr>
          <a:xfrm>
            <a:off x="4663475" y="4226950"/>
            <a:ext cx="3382500" cy="616800"/>
          </a:xfrm>
          <a:prstGeom prst="rect">
            <a:avLst/>
          </a:prstGeom>
        </p:spPr>
        <p:txBody>
          <a:bodyPr anchorCtr="0" anchor="t" bIns="91425" lIns="91425" spcFirstLastPara="1" rIns="91425" wrap="square" tIns="91425">
            <a:noAutofit/>
          </a:bodyPr>
          <a:lstStyle/>
          <a:p>
            <a:pPr indent="0" lvl="0" marL="0" marR="0" rtl="0" algn="ctr">
              <a:lnSpc>
                <a:spcPct val="115000"/>
              </a:lnSpc>
              <a:spcBef>
                <a:spcPts val="0"/>
              </a:spcBef>
              <a:spcAft>
                <a:spcPts val="0"/>
              </a:spcAft>
              <a:buNone/>
            </a:pPr>
            <a:r>
              <a:rPr lang="en" sz="3000">
                <a:solidFill>
                  <a:srgbClr val="434343"/>
                </a:solidFill>
                <a:latin typeface="Montserrat"/>
                <a:ea typeface="Montserrat"/>
                <a:cs typeface="Montserrat"/>
                <a:sym typeface="Montserrat"/>
              </a:rPr>
              <a:t>Non-Stationary     </a:t>
            </a:r>
            <a:endParaRPr sz="3000">
              <a:solidFill>
                <a:srgbClr val="434343"/>
              </a:solidFill>
              <a:latin typeface="Montserrat"/>
              <a:ea typeface="Montserrat"/>
              <a:cs typeface="Montserrat"/>
              <a:sym typeface="Montserrat"/>
            </a:endParaRPr>
          </a:p>
          <a:p>
            <a:pPr indent="0" lvl="0" marL="0" marR="0" rtl="0" algn="ctr">
              <a:lnSpc>
                <a:spcPct val="115000"/>
              </a:lnSpc>
              <a:spcBef>
                <a:spcPts val="1600"/>
              </a:spcBef>
              <a:spcAft>
                <a:spcPts val="1600"/>
              </a:spcAft>
              <a:buNone/>
            </a:pPr>
            <a:r>
              <a:t/>
            </a:r>
            <a:endParaRPr sz="3000">
              <a:solidFill>
                <a:srgbClr val="434343"/>
              </a:solidFill>
              <a:latin typeface="Montserrat"/>
              <a:ea typeface="Montserrat"/>
              <a:cs typeface="Montserrat"/>
              <a:sym typeface="Montserrat"/>
            </a:endParaRPr>
          </a:p>
        </p:txBody>
      </p:sp>
      <p:cxnSp>
        <p:nvCxnSpPr>
          <p:cNvPr id="568" name="Google Shape;568;p73"/>
          <p:cNvCxnSpPr/>
          <p:nvPr/>
        </p:nvCxnSpPr>
        <p:spPr>
          <a:xfrm rot="10800000">
            <a:off x="440970" y="1802950"/>
            <a:ext cx="5100" cy="2424000"/>
          </a:xfrm>
          <a:prstGeom prst="straightConnector1">
            <a:avLst/>
          </a:prstGeom>
          <a:noFill/>
          <a:ln cap="flat" cmpd="sng" w="28575">
            <a:solidFill>
              <a:schemeClr val="dk2"/>
            </a:solidFill>
            <a:prstDash val="solid"/>
            <a:round/>
            <a:headEnd len="med" w="med" type="none"/>
            <a:tailEnd len="med" w="med" type="triangle"/>
          </a:ln>
        </p:spPr>
      </p:cxnSp>
      <p:cxnSp>
        <p:nvCxnSpPr>
          <p:cNvPr id="569" name="Google Shape;569;p73"/>
          <p:cNvCxnSpPr/>
          <p:nvPr/>
        </p:nvCxnSpPr>
        <p:spPr>
          <a:xfrm>
            <a:off x="440900" y="4226950"/>
            <a:ext cx="3066900" cy="0"/>
          </a:xfrm>
          <a:prstGeom prst="straightConnector1">
            <a:avLst/>
          </a:prstGeom>
          <a:noFill/>
          <a:ln cap="flat" cmpd="sng" w="28575">
            <a:solidFill>
              <a:schemeClr val="dk2"/>
            </a:solidFill>
            <a:prstDash val="solid"/>
            <a:round/>
            <a:headEnd len="med" w="med" type="none"/>
            <a:tailEnd len="med" w="med" type="triangle"/>
          </a:ln>
        </p:spPr>
      </p:cxnSp>
      <p:cxnSp>
        <p:nvCxnSpPr>
          <p:cNvPr id="570" name="Google Shape;570;p73"/>
          <p:cNvCxnSpPr/>
          <p:nvPr/>
        </p:nvCxnSpPr>
        <p:spPr>
          <a:xfrm rot="10800000">
            <a:off x="4821345" y="1802950"/>
            <a:ext cx="5100" cy="2424000"/>
          </a:xfrm>
          <a:prstGeom prst="straightConnector1">
            <a:avLst/>
          </a:prstGeom>
          <a:noFill/>
          <a:ln cap="flat" cmpd="sng" w="28575">
            <a:solidFill>
              <a:schemeClr val="dk2"/>
            </a:solidFill>
            <a:prstDash val="solid"/>
            <a:round/>
            <a:headEnd len="med" w="med" type="none"/>
            <a:tailEnd len="med" w="med" type="triangle"/>
          </a:ln>
        </p:spPr>
      </p:cxnSp>
      <p:cxnSp>
        <p:nvCxnSpPr>
          <p:cNvPr id="571" name="Google Shape;571;p73"/>
          <p:cNvCxnSpPr/>
          <p:nvPr/>
        </p:nvCxnSpPr>
        <p:spPr>
          <a:xfrm>
            <a:off x="4821275" y="4226950"/>
            <a:ext cx="3066900" cy="0"/>
          </a:xfrm>
          <a:prstGeom prst="straightConnector1">
            <a:avLst/>
          </a:prstGeom>
          <a:noFill/>
          <a:ln cap="flat" cmpd="sng" w="28575">
            <a:solidFill>
              <a:schemeClr val="dk2"/>
            </a:solidFill>
            <a:prstDash val="solid"/>
            <a:round/>
            <a:headEnd len="med" w="med" type="none"/>
            <a:tailEnd len="med" w="med" type="triangle"/>
          </a:ln>
        </p:spPr>
      </p:cxnSp>
      <p:sp>
        <p:nvSpPr>
          <p:cNvPr id="572" name="Google Shape;572;p73"/>
          <p:cNvSpPr txBox="1"/>
          <p:nvPr>
            <p:ph idx="1" type="body"/>
          </p:nvPr>
        </p:nvSpPr>
        <p:spPr>
          <a:xfrm>
            <a:off x="311700" y="1152475"/>
            <a:ext cx="88323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rgbClr val="434343"/>
                </a:solidFill>
                <a:latin typeface="Montserrat"/>
                <a:ea typeface="Montserrat"/>
                <a:cs typeface="Montserrat"/>
                <a:sym typeface="Montserrat"/>
              </a:rPr>
              <a:t>Covariance should not be a function of time</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1600"/>
              </a:spcAft>
              <a:buNone/>
            </a:pPr>
            <a:r>
              <a:t/>
            </a:r>
            <a:endParaRPr sz="3000">
              <a:solidFill>
                <a:srgbClr val="434343"/>
              </a:solidFill>
              <a:latin typeface="Montserrat"/>
              <a:ea typeface="Montserrat"/>
              <a:cs typeface="Montserrat"/>
              <a:sym typeface="Montserrat"/>
            </a:endParaRPr>
          </a:p>
        </p:txBody>
      </p:sp>
      <p:sp>
        <p:nvSpPr>
          <p:cNvPr id="573" name="Google Shape;573;p73"/>
          <p:cNvSpPr/>
          <p:nvPr/>
        </p:nvSpPr>
        <p:spPr>
          <a:xfrm>
            <a:off x="462925" y="2457743"/>
            <a:ext cx="2479150" cy="1075425"/>
          </a:xfrm>
          <a:custGeom>
            <a:rect b="b" l="l" r="r" t="t"/>
            <a:pathLst>
              <a:path extrusionOk="0" h="43017" w="99166">
                <a:moveTo>
                  <a:pt x="0" y="24723"/>
                </a:moveTo>
                <a:cubicBezTo>
                  <a:pt x="1646" y="21294"/>
                  <a:pt x="6720" y="1406"/>
                  <a:pt x="9875" y="4149"/>
                </a:cubicBezTo>
                <a:cubicBezTo>
                  <a:pt x="13030" y="6892"/>
                  <a:pt x="15773" y="39605"/>
                  <a:pt x="18928" y="41182"/>
                </a:cubicBezTo>
                <a:cubicBezTo>
                  <a:pt x="22083" y="42759"/>
                  <a:pt x="25786" y="14710"/>
                  <a:pt x="28803" y="13613"/>
                </a:cubicBezTo>
                <a:cubicBezTo>
                  <a:pt x="31821" y="12516"/>
                  <a:pt x="33741" y="36587"/>
                  <a:pt x="37033" y="34598"/>
                </a:cubicBezTo>
                <a:cubicBezTo>
                  <a:pt x="40325" y="32609"/>
                  <a:pt x="44988" y="308"/>
                  <a:pt x="48554" y="1680"/>
                </a:cubicBezTo>
                <a:cubicBezTo>
                  <a:pt x="52120" y="3052"/>
                  <a:pt x="55070" y="41319"/>
                  <a:pt x="58430" y="42828"/>
                </a:cubicBezTo>
                <a:cubicBezTo>
                  <a:pt x="61791" y="44337"/>
                  <a:pt x="65631" y="11898"/>
                  <a:pt x="68717" y="10732"/>
                </a:cubicBezTo>
                <a:cubicBezTo>
                  <a:pt x="71803" y="9566"/>
                  <a:pt x="73791" y="37615"/>
                  <a:pt x="76946" y="35832"/>
                </a:cubicBezTo>
                <a:cubicBezTo>
                  <a:pt x="80101" y="34049"/>
                  <a:pt x="83942" y="-240"/>
                  <a:pt x="87645" y="34"/>
                </a:cubicBezTo>
                <a:cubicBezTo>
                  <a:pt x="91348" y="308"/>
                  <a:pt x="97246" y="31237"/>
                  <a:pt x="99166" y="37478"/>
                </a:cubicBezTo>
              </a:path>
            </a:pathLst>
          </a:custGeom>
          <a:noFill/>
          <a:ln cap="flat" cmpd="sng" w="28575">
            <a:solidFill>
              <a:srgbClr val="38761D"/>
            </a:solidFill>
            <a:prstDash val="solid"/>
            <a:round/>
            <a:headEnd len="med" w="med" type="none"/>
            <a:tailEnd len="med" w="med" type="none"/>
          </a:ln>
        </p:spPr>
      </p:sp>
      <p:sp>
        <p:nvSpPr>
          <p:cNvPr id="574" name="Google Shape;574;p73"/>
          <p:cNvSpPr/>
          <p:nvPr/>
        </p:nvSpPr>
        <p:spPr>
          <a:xfrm>
            <a:off x="4834900" y="2565964"/>
            <a:ext cx="2746625" cy="821025"/>
          </a:xfrm>
          <a:custGeom>
            <a:rect b="b" l="l" r="r" t="t"/>
            <a:pathLst>
              <a:path extrusionOk="0" h="32841" w="109865">
                <a:moveTo>
                  <a:pt x="0" y="21216"/>
                </a:moveTo>
                <a:cubicBezTo>
                  <a:pt x="1234" y="17719"/>
                  <a:pt x="4869" y="-1621"/>
                  <a:pt x="7406" y="231"/>
                </a:cubicBezTo>
                <a:cubicBezTo>
                  <a:pt x="9943" y="2083"/>
                  <a:pt x="12275" y="32120"/>
                  <a:pt x="15224" y="32326"/>
                </a:cubicBezTo>
                <a:cubicBezTo>
                  <a:pt x="18173" y="32532"/>
                  <a:pt x="22220" y="1602"/>
                  <a:pt x="25100" y="1465"/>
                </a:cubicBezTo>
                <a:cubicBezTo>
                  <a:pt x="27981" y="1328"/>
                  <a:pt x="30861" y="31434"/>
                  <a:pt x="32507" y="31503"/>
                </a:cubicBezTo>
                <a:cubicBezTo>
                  <a:pt x="34153" y="31572"/>
                  <a:pt x="34152" y="2014"/>
                  <a:pt x="34975" y="1877"/>
                </a:cubicBezTo>
                <a:cubicBezTo>
                  <a:pt x="35798" y="1740"/>
                  <a:pt x="36621" y="30544"/>
                  <a:pt x="37444" y="30681"/>
                </a:cubicBezTo>
                <a:cubicBezTo>
                  <a:pt x="38267" y="30818"/>
                  <a:pt x="39090" y="2700"/>
                  <a:pt x="39913" y="2700"/>
                </a:cubicBezTo>
                <a:cubicBezTo>
                  <a:pt x="40736" y="2700"/>
                  <a:pt x="41491" y="30750"/>
                  <a:pt x="42382" y="30681"/>
                </a:cubicBezTo>
                <a:cubicBezTo>
                  <a:pt x="43274" y="30612"/>
                  <a:pt x="44233" y="1945"/>
                  <a:pt x="45262" y="2288"/>
                </a:cubicBezTo>
                <a:cubicBezTo>
                  <a:pt x="46291" y="2631"/>
                  <a:pt x="46702" y="32738"/>
                  <a:pt x="48554" y="32738"/>
                </a:cubicBezTo>
                <a:cubicBezTo>
                  <a:pt x="50406" y="32738"/>
                  <a:pt x="53492" y="2357"/>
                  <a:pt x="56372" y="2288"/>
                </a:cubicBezTo>
                <a:cubicBezTo>
                  <a:pt x="59252" y="2219"/>
                  <a:pt x="62956" y="32395"/>
                  <a:pt x="65836" y="32326"/>
                </a:cubicBezTo>
                <a:cubicBezTo>
                  <a:pt x="68717" y="32258"/>
                  <a:pt x="70912" y="1877"/>
                  <a:pt x="73655" y="1877"/>
                </a:cubicBezTo>
                <a:cubicBezTo>
                  <a:pt x="76398" y="1877"/>
                  <a:pt x="79759" y="32463"/>
                  <a:pt x="82296" y="32326"/>
                </a:cubicBezTo>
                <a:cubicBezTo>
                  <a:pt x="84833" y="32189"/>
                  <a:pt x="87576" y="985"/>
                  <a:pt x="88879" y="1054"/>
                </a:cubicBezTo>
                <a:cubicBezTo>
                  <a:pt x="90182" y="1123"/>
                  <a:pt x="89428" y="32532"/>
                  <a:pt x="90114" y="32738"/>
                </a:cubicBezTo>
                <a:cubicBezTo>
                  <a:pt x="90800" y="32944"/>
                  <a:pt x="92103" y="2425"/>
                  <a:pt x="92994" y="2288"/>
                </a:cubicBezTo>
                <a:cubicBezTo>
                  <a:pt x="93886" y="2151"/>
                  <a:pt x="94229" y="31984"/>
                  <a:pt x="95463" y="31915"/>
                </a:cubicBezTo>
                <a:cubicBezTo>
                  <a:pt x="96698" y="31847"/>
                  <a:pt x="99167" y="2014"/>
                  <a:pt x="100401" y="1877"/>
                </a:cubicBezTo>
                <a:cubicBezTo>
                  <a:pt x="101636" y="1740"/>
                  <a:pt x="101293" y="30886"/>
                  <a:pt x="102870" y="31092"/>
                </a:cubicBezTo>
                <a:cubicBezTo>
                  <a:pt x="104447" y="31298"/>
                  <a:pt x="108699" y="7775"/>
                  <a:pt x="109865" y="3111"/>
                </a:cubicBezTo>
              </a:path>
            </a:pathLst>
          </a:custGeom>
          <a:noFill/>
          <a:ln cap="flat" cmpd="sng" w="28575">
            <a:solidFill>
              <a:srgbClr val="980000"/>
            </a:solidFill>
            <a:prstDash val="solid"/>
            <a:round/>
            <a:headEnd len="med" w="med" type="none"/>
            <a:tailEnd len="med" w="med" type="none"/>
          </a:ln>
        </p:spPr>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78" name="Shape 578"/>
        <p:cNvGrpSpPr/>
        <p:nvPr/>
      </p:nvGrpSpPr>
      <p:grpSpPr>
        <a:xfrm>
          <a:off x="0" y="0"/>
          <a:ext cx="0" cy="0"/>
          <a:chOff x="0" y="0"/>
          <a:chExt cx="0" cy="0"/>
        </a:xfrm>
      </p:grpSpPr>
      <p:sp>
        <p:nvSpPr>
          <p:cNvPr id="579" name="Google Shape;579;p7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580" name="Google Shape;580;p7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There are also mathematical tests you can use to test for stationarity in your data.</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A common one is the Augmented Dickey–Fuller test (we will see how to use this with Python’s statsmodels)</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0"/>
              </a:spcAft>
              <a:buNone/>
            </a:pPr>
            <a:r>
              <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1600"/>
              </a:spcAft>
              <a:buNone/>
            </a:pPr>
            <a:r>
              <a:t/>
            </a:r>
            <a:endParaRPr sz="3000">
              <a:solidFill>
                <a:srgbClr val="434343"/>
              </a:solidFill>
              <a:latin typeface="Montserrat"/>
              <a:ea typeface="Montserrat"/>
              <a:cs typeface="Montserrat"/>
              <a:sym typeface="Montserrat"/>
            </a:endParaRPr>
          </a:p>
        </p:txBody>
      </p:sp>
      <p:pic>
        <p:nvPicPr>
          <p:cNvPr descr="watermark.jpg" id="581" name="Google Shape;581;p74"/>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582" name="Google Shape;582;p7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86" name="Shape 586"/>
        <p:cNvGrpSpPr/>
        <p:nvPr/>
      </p:nvGrpSpPr>
      <p:grpSpPr>
        <a:xfrm>
          <a:off x="0" y="0"/>
          <a:ext cx="0" cy="0"/>
          <a:chOff x="0" y="0"/>
          <a:chExt cx="0" cy="0"/>
        </a:xfrm>
      </p:grpSpPr>
      <p:sp>
        <p:nvSpPr>
          <p:cNvPr id="587" name="Google Shape;587;p7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588" name="Google Shape;588;p7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If you’ve determined your data is not stationary (either visually or mathematically), you will then need to transform it to be stationary in order to evaluate it and what type of ARIMA terms you will use.</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0"/>
              </a:spcAft>
              <a:buNone/>
            </a:pPr>
            <a:r>
              <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1600"/>
              </a:spcAft>
              <a:buNone/>
            </a:pPr>
            <a:r>
              <a:t/>
            </a:r>
            <a:endParaRPr sz="3000">
              <a:solidFill>
                <a:srgbClr val="434343"/>
              </a:solidFill>
              <a:latin typeface="Montserrat"/>
              <a:ea typeface="Montserrat"/>
              <a:cs typeface="Montserrat"/>
              <a:sym typeface="Montserrat"/>
            </a:endParaRPr>
          </a:p>
        </p:txBody>
      </p:sp>
      <p:pic>
        <p:nvPicPr>
          <p:cNvPr descr="watermark.jpg" id="589" name="Google Shape;589;p75"/>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590" name="Google Shape;590;p7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94" name="Shape 594"/>
        <p:cNvGrpSpPr/>
        <p:nvPr/>
      </p:nvGrpSpPr>
      <p:grpSpPr>
        <a:xfrm>
          <a:off x="0" y="0"/>
          <a:ext cx="0" cy="0"/>
          <a:chOff x="0" y="0"/>
          <a:chExt cx="0" cy="0"/>
        </a:xfrm>
      </p:grpSpPr>
      <p:sp>
        <p:nvSpPr>
          <p:cNvPr id="595" name="Google Shape;595;p7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596" name="Google Shape;596;p7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One simple way to do this is through “differencing”.</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The idea behind differencing is quite simple, let’s see an example...</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0"/>
              </a:spcAft>
              <a:buNone/>
            </a:pPr>
            <a:r>
              <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1600"/>
              </a:spcAft>
              <a:buNone/>
            </a:pPr>
            <a:r>
              <a:t/>
            </a:r>
            <a:endParaRPr sz="3000">
              <a:solidFill>
                <a:srgbClr val="434343"/>
              </a:solidFill>
              <a:latin typeface="Montserrat"/>
              <a:ea typeface="Montserrat"/>
              <a:cs typeface="Montserrat"/>
              <a:sym typeface="Montserrat"/>
            </a:endParaRPr>
          </a:p>
        </p:txBody>
      </p:sp>
      <p:pic>
        <p:nvPicPr>
          <p:cNvPr descr="watermark.jpg" id="597" name="Google Shape;597;p76"/>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598" name="Google Shape;598;p7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602" name="Shape 602"/>
        <p:cNvGrpSpPr/>
        <p:nvPr/>
      </p:nvGrpSpPr>
      <p:grpSpPr>
        <a:xfrm>
          <a:off x="0" y="0"/>
          <a:ext cx="0" cy="0"/>
          <a:chOff x="0" y="0"/>
          <a:chExt cx="0" cy="0"/>
        </a:xfrm>
      </p:grpSpPr>
      <p:sp>
        <p:nvSpPr>
          <p:cNvPr id="603" name="Google Shape;603;p7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604" name="Google Shape;604;p77"/>
          <p:cNvSpPr txBox="1"/>
          <p:nvPr>
            <p:ph idx="1" type="body"/>
          </p:nvPr>
        </p:nvSpPr>
        <p:spPr>
          <a:xfrm>
            <a:off x="311700" y="1152475"/>
            <a:ext cx="2844900" cy="722100"/>
          </a:xfrm>
          <a:prstGeom prst="rect">
            <a:avLst/>
          </a:prstGeom>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lang="en" sz="3000">
                <a:solidFill>
                  <a:srgbClr val="434343"/>
                </a:solidFill>
                <a:latin typeface="Montserrat"/>
                <a:ea typeface="Montserrat"/>
                <a:cs typeface="Montserrat"/>
                <a:sym typeface="Montserrat"/>
              </a:rPr>
              <a:t>Original Data</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0"/>
              </a:spcAft>
              <a:buNone/>
            </a:pPr>
            <a:r>
              <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1600"/>
              </a:spcAft>
              <a:buNone/>
            </a:pPr>
            <a:r>
              <a:t/>
            </a:r>
            <a:endParaRPr sz="3000">
              <a:solidFill>
                <a:srgbClr val="434343"/>
              </a:solidFill>
              <a:latin typeface="Montserrat"/>
              <a:ea typeface="Montserrat"/>
              <a:cs typeface="Montserrat"/>
              <a:sym typeface="Montserrat"/>
            </a:endParaRPr>
          </a:p>
        </p:txBody>
      </p:sp>
      <p:pic>
        <p:nvPicPr>
          <p:cNvPr descr="watermark.jpg" id="605" name="Google Shape;605;p77"/>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606" name="Google Shape;606;p7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graphicFrame>
        <p:nvGraphicFramePr>
          <p:cNvPr id="607" name="Google Shape;607;p77"/>
          <p:cNvGraphicFramePr/>
          <p:nvPr/>
        </p:nvGraphicFramePr>
        <p:xfrm>
          <a:off x="895800" y="1874580"/>
          <a:ext cx="3000000" cy="3000000"/>
        </p:xfrm>
        <a:graphic>
          <a:graphicData uri="http://schemas.openxmlformats.org/drawingml/2006/table">
            <a:tbl>
              <a:tblPr>
                <a:noFill/>
                <a:tableStyleId>{DCC92612-C815-424C-A28B-9A22D3F952D6}</a:tableStyleId>
              </a:tblPr>
              <a:tblGrid>
                <a:gridCol w="689750"/>
                <a:gridCol w="689750"/>
              </a:tblGrid>
              <a:tr h="402800">
                <a:tc>
                  <a:txBody>
                    <a:bodyPr/>
                    <a:lstStyle/>
                    <a:p>
                      <a:pPr indent="0" lvl="0" marL="0" rtl="0" algn="l">
                        <a:spcBef>
                          <a:spcPts val="0"/>
                        </a:spcBef>
                        <a:spcAft>
                          <a:spcPts val="0"/>
                        </a:spcAft>
                        <a:buNone/>
                      </a:pPr>
                      <a:r>
                        <a:rPr lang="en"/>
                        <a:t>Time1</a:t>
                      </a:r>
                      <a:endParaRPr/>
                    </a:p>
                  </a:txBody>
                  <a:tcPr marT="91425" marB="91425" marR="91425" marL="91425"/>
                </a:tc>
                <a:tc>
                  <a:txBody>
                    <a:bodyPr/>
                    <a:lstStyle/>
                    <a:p>
                      <a:pPr indent="0" lvl="0" marL="0" rtl="0" algn="l">
                        <a:spcBef>
                          <a:spcPts val="0"/>
                        </a:spcBef>
                        <a:spcAft>
                          <a:spcPts val="0"/>
                        </a:spcAft>
                        <a:buNone/>
                      </a:pPr>
                      <a:r>
                        <a:rPr lang="en"/>
                        <a:t>10</a:t>
                      </a:r>
                      <a:endParaRPr/>
                    </a:p>
                  </a:txBody>
                  <a:tcPr marT="91425" marB="91425" marR="91425" marL="91425"/>
                </a:tc>
              </a:tr>
              <a:tr h="398925">
                <a:tc>
                  <a:txBody>
                    <a:bodyPr/>
                    <a:lstStyle/>
                    <a:p>
                      <a:pPr indent="0" lvl="0" marL="0" rtl="0" algn="l">
                        <a:spcBef>
                          <a:spcPts val="0"/>
                        </a:spcBef>
                        <a:spcAft>
                          <a:spcPts val="0"/>
                        </a:spcAft>
                        <a:buNone/>
                      </a:pPr>
                      <a:r>
                        <a:rPr lang="en">
                          <a:solidFill>
                            <a:schemeClr val="dk1"/>
                          </a:solidFill>
                        </a:rPr>
                        <a:t>Time2</a:t>
                      </a:r>
                      <a:endParaRPr/>
                    </a:p>
                  </a:txBody>
                  <a:tcPr marT="91425" marB="91425" marR="91425" marL="91425"/>
                </a:tc>
                <a:tc>
                  <a:txBody>
                    <a:bodyPr/>
                    <a:lstStyle/>
                    <a:p>
                      <a:pPr indent="0" lvl="0" marL="0" rtl="0" algn="l">
                        <a:spcBef>
                          <a:spcPts val="0"/>
                        </a:spcBef>
                        <a:spcAft>
                          <a:spcPts val="0"/>
                        </a:spcAft>
                        <a:buNone/>
                      </a:pPr>
                      <a:r>
                        <a:rPr lang="en"/>
                        <a:t>12</a:t>
                      </a:r>
                      <a:endParaRPr/>
                    </a:p>
                  </a:txBody>
                  <a:tcPr marT="91425" marB="91425" marR="91425" marL="91425"/>
                </a:tc>
              </a:tr>
              <a:tr h="402800">
                <a:tc>
                  <a:txBody>
                    <a:bodyPr/>
                    <a:lstStyle/>
                    <a:p>
                      <a:pPr indent="0" lvl="0" marL="0" rtl="0" algn="l">
                        <a:spcBef>
                          <a:spcPts val="0"/>
                        </a:spcBef>
                        <a:spcAft>
                          <a:spcPts val="0"/>
                        </a:spcAft>
                        <a:buNone/>
                      </a:pPr>
                      <a:r>
                        <a:rPr lang="en">
                          <a:solidFill>
                            <a:schemeClr val="dk1"/>
                          </a:solidFill>
                        </a:rPr>
                        <a:t>Time3</a:t>
                      </a:r>
                      <a:endParaRPr/>
                    </a:p>
                  </a:txBody>
                  <a:tcPr marT="91425" marB="91425" marR="91425" marL="91425"/>
                </a:tc>
                <a:tc>
                  <a:txBody>
                    <a:bodyPr/>
                    <a:lstStyle/>
                    <a:p>
                      <a:pPr indent="0" lvl="0" marL="0" rtl="0" algn="l">
                        <a:spcBef>
                          <a:spcPts val="0"/>
                        </a:spcBef>
                        <a:spcAft>
                          <a:spcPts val="0"/>
                        </a:spcAft>
                        <a:buNone/>
                      </a:pPr>
                      <a:r>
                        <a:rPr lang="en"/>
                        <a:t>8</a:t>
                      </a:r>
                      <a:endParaRPr/>
                    </a:p>
                  </a:txBody>
                  <a:tcPr marT="91425" marB="91425" marR="91425" marL="91425"/>
                </a:tc>
              </a:tr>
              <a:tr h="402800">
                <a:tc>
                  <a:txBody>
                    <a:bodyPr/>
                    <a:lstStyle/>
                    <a:p>
                      <a:pPr indent="0" lvl="0" marL="0" rtl="0" algn="l">
                        <a:spcBef>
                          <a:spcPts val="0"/>
                        </a:spcBef>
                        <a:spcAft>
                          <a:spcPts val="0"/>
                        </a:spcAft>
                        <a:buNone/>
                      </a:pPr>
                      <a:r>
                        <a:rPr lang="en">
                          <a:solidFill>
                            <a:schemeClr val="dk1"/>
                          </a:solidFill>
                        </a:rPr>
                        <a:t>Time4</a:t>
                      </a:r>
                      <a:endParaRPr/>
                    </a:p>
                  </a:txBody>
                  <a:tcPr marT="91425" marB="91425" marR="91425" marL="91425"/>
                </a:tc>
                <a:tc>
                  <a:txBody>
                    <a:bodyPr/>
                    <a:lstStyle/>
                    <a:p>
                      <a:pPr indent="0" lvl="0" marL="0" rtl="0" algn="l">
                        <a:spcBef>
                          <a:spcPts val="0"/>
                        </a:spcBef>
                        <a:spcAft>
                          <a:spcPts val="0"/>
                        </a:spcAft>
                        <a:buNone/>
                      </a:pPr>
                      <a:r>
                        <a:rPr lang="en"/>
                        <a:t>14</a:t>
                      </a:r>
                      <a:endParaRPr/>
                    </a:p>
                  </a:txBody>
                  <a:tcPr marT="91425" marB="91425" marR="91425" marL="91425"/>
                </a:tc>
              </a:tr>
              <a:tr h="398925">
                <a:tc>
                  <a:txBody>
                    <a:bodyPr/>
                    <a:lstStyle/>
                    <a:p>
                      <a:pPr indent="0" lvl="0" marL="0" rtl="0" algn="l">
                        <a:spcBef>
                          <a:spcPts val="0"/>
                        </a:spcBef>
                        <a:spcAft>
                          <a:spcPts val="0"/>
                        </a:spcAft>
                        <a:buNone/>
                      </a:pPr>
                      <a:r>
                        <a:rPr lang="en">
                          <a:solidFill>
                            <a:schemeClr val="dk1"/>
                          </a:solidFill>
                        </a:rPr>
                        <a:t>Time5</a:t>
                      </a:r>
                      <a:endParaRPr/>
                    </a:p>
                  </a:txBody>
                  <a:tcPr marT="91425" marB="91425" marR="91425" marL="91425"/>
                </a:tc>
                <a:tc>
                  <a:txBody>
                    <a:bodyPr/>
                    <a:lstStyle/>
                    <a:p>
                      <a:pPr indent="0" lvl="0" marL="0" rtl="0" algn="l">
                        <a:spcBef>
                          <a:spcPts val="0"/>
                        </a:spcBef>
                        <a:spcAft>
                          <a:spcPts val="0"/>
                        </a:spcAft>
                        <a:buNone/>
                      </a:pPr>
                      <a:r>
                        <a:rPr lang="en"/>
                        <a:t>7</a:t>
                      </a:r>
                      <a:endParaRPr/>
                    </a:p>
                  </a:txBody>
                  <a:tcPr marT="91425" marB="91425" marR="91425" marL="91425"/>
                </a:tc>
              </a:tr>
            </a:tbl>
          </a:graphicData>
        </a:graphic>
      </p:graphicFrame>
      <p:sp>
        <p:nvSpPr>
          <p:cNvPr id="608" name="Google Shape;608;p77"/>
          <p:cNvSpPr txBox="1"/>
          <p:nvPr>
            <p:ph idx="1" type="body"/>
          </p:nvPr>
        </p:nvSpPr>
        <p:spPr>
          <a:xfrm>
            <a:off x="3025900" y="895900"/>
            <a:ext cx="2889300" cy="722100"/>
          </a:xfrm>
          <a:prstGeom prst="rect">
            <a:avLst/>
          </a:prstGeom>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lang="en" sz="3000">
                <a:solidFill>
                  <a:srgbClr val="434343"/>
                </a:solidFill>
                <a:latin typeface="Montserrat"/>
                <a:ea typeface="Montserrat"/>
                <a:cs typeface="Montserrat"/>
                <a:sym typeface="Montserrat"/>
              </a:rPr>
              <a:t>First Difference</a:t>
            </a:r>
            <a:endParaRPr sz="3000">
              <a:solidFill>
                <a:srgbClr val="434343"/>
              </a:solidFill>
              <a:latin typeface="Montserrat"/>
              <a:ea typeface="Montserrat"/>
              <a:cs typeface="Montserrat"/>
              <a:sym typeface="Montserrat"/>
            </a:endParaRPr>
          </a:p>
        </p:txBody>
      </p:sp>
      <p:sp>
        <p:nvSpPr>
          <p:cNvPr id="609" name="Google Shape;609;p77"/>
          <p:cNvSpPr txBox="1"/>
          <p:nvPr>
            <p:ph idx="1" type="body"/>
          </p:nvPr>
        </p:nvSpPr>
        <p:spPr>
          <a:xfrm>
            <a:off x="6054350" y="895900"/>
            <a:ext cx="2889300" cy="722100"/>
          </a:xfrm>
          <a:prstGeom prst="rect">
            <a:avLst/>
          </a:prstGeom>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lang="en" sz="3000">
                <a:solidFill>
                  <a:srgbClr val="434343"/>
                </a:solidFill>
                <a:latin typeface="Montserrat"/>
                <a:ea typeface="Montserrat"/>
                <a:cs typeface="Montserrat"/>
                <a:sym typeface="Montserrat"/>
              </a:rPr>
              <a:t>Second</a:t>
            </a:r>
            <a:r>
              <a:rPr lang="en" sz="3000">
                <a:solidFill>
                  <a:srgbClr val="434343"/>
                </a:solidFill>
                <a:latin typeface="Montserrat"/>
                <a:ea typeface="Montserrat"/>
                <a:cs typeface="Montserrat"/>
                <a:sym typeface="Montserrat"/>
              </a:rPr>
              <a:t> Difference</a:t>
            </a:r>
            <a:endParaRPr sz="3000">
              <a:solidFill>
                <a:srgbClr val="434343"/>
              </a:solidFill>
              <a:latin typeface="Montserrat"/>
              <a:ea typeface="Montserrat"/>
              <a:cs typeface="Montserrat"/>
              <a:sym typeface="Montserrat"/>
            </a:endParaRPr>
          </a:p>
        </p:txBody>
      </p:sp>
      <p:graphicFrame>
        <p:nvGraphicFramePr>
          <p:cNvPr id="610" name="Google Shape;610;p77"/>
          <p:cNvGraphicFramePr/>
          <p:nvPr/>
        </p:nvGraphicFramePr>
        <p:xfrm>
          <a:off x="3780800" y="2009080"/>
          <a:ext cx="3000000" cy="3000000"/>
        </p:xfrm>
        <a:graphic>
          <a:graphicData uri="http://schemas.openxmlformats.org/drawingml/2006/table">
            <a:tbl>
              <a:tblPr>
                <a:noFill/>
                <a:tableStyleId>{DCC92612-C815-424C-A28B-9A22D3F952D6}</a:tableStyleId>
              </a:tblPr>
              <a:tblGrid>
                <a:gridCol w="689750"/>
                <a:gridCol w="689750"/>
              </a:tblGrid>
              <a:tr h="402800">
                <a:tc>
                  <a:txBody>
                    <a:bodyPr/>
                    <a:lstStyle/>
                    <a:p>
                      <a:pPr indent="0" lvl="0" marL="0" rtl="0" algn="l">
                        <a:spcBef>
                          <a:spcPts val="0"/>
                        </a:spcBef>
                        <a:spcAft>
                          <a:spcPts val="0"/>
                        </a:spcAft>
                        <a:buNone/>
                      </a:pPr>
                      <a:r>
                        <a:rPr lang="en"/>
                        <a:t>Time1</a:t>
                      </a:r>
                      <a:endParaRPr/>
                    </a:p>
                  </a:txBody>
                  <a:tcPr marT="91425" marB="91425" marR="91425" marL="91425"/>
                </a:tc>
                <a:tc>
                  <a:txBody>
                    <a:bodyPr/>
                    <a:lstStyle/>
                    <a:p>
                      <a:pPr indent="0" lvl="0" marL="0" rtl="0" algn="l">
                        <a:spcBef>
                          <a:spcPts val="0"/>
                        </a:spcBef>
                        <a:spcAft>
                          <a:spcPts val="0"/>
                        </a:spcAft>
                        <a:buNone/>
                      </a:pPr>
                      <a:r>
                        <a:rPr lang="en"/>
                        <a:t>NA</a:t>
                      </a:r>
                      <a:endParaRPr/>
                    </a:p>
                  </a:txBody>
                  <a:tcPr marT="91425" marB="91425" marR="91425" marL="91425"/>
                </a:tc>
              </a:tr>
              <a:tr h="398925">
                <a:tc>
                  <a:txBody>
                    <a:bodyPr/>
                    <a:lstStyle/>
                    <a:p>
                      <a:pPr indent="0" lvl="0" marL="0" rtl="0" algn="l">
                        <a:spcBef>
                          <a:spcPts val="0"/>
                        </a:spcBef>
                        <a:spcAft>
                          <a:spcPts val="0"/>
                        </a:spcAft>
                        <a:buNone/>
                      </a:pPr>
                      <a:r>
                        <a:rPr lang="en">
                          <a:solidFill>
                            <a:schemeClr val="dk1"/>
                          </a:solidFill>
                        </a:rPr>
                        <a:t>Time2</a:t>
                      </a:r>
                      <a:endParaRPr/>
                    </a:p>
                  </a:txBody>
                  <a:tcPr marT="91425" marB="91425" marR="91425" marL="91425"/>
                </a:tc>
                <a:tc>
                  <a:txBody>
                    <a:bodyPr/>
                    <a:lstStyle/>
                    <a:p>
                      <a:pPr indent="0" lvl="0" marL="0" rtl="0" algn="l">
                        <a:spcBef>
                          <a:spcPts val="0"/>
                        </a:spcBef>
                        <a:spcAft>
                          <a:spcPts val="0"/>
                        </a:spcAft>
                        <a:buNone/>
                      </a:pPr>
                      <a:r>
                        <a:rPr lang="en"/>
                        <a:t>2</a:t>
                      </a:r>
                      <a:endParaRPr/>
                    </a:p>
                  </a:txBody>
                  <a:tcPr marT="91425" marB="91425" marR="91425" marL="91425"/>
                </a:tc>
              </a:tr>
              <a:tr h="402800">
                <a:tc>
                  <a:txBody>
                    <a:bodyPr/>
                    <a:lstStyle/>
                    <a:p>
                      <a:pPr indent="0" lvl="0" marL="0" rtl="0" algn="l">
                        <a:spcBef>
                          <a:spcPts val="0"/>
                        </a:spcBef>
                        <a:spcAft>
                          <a:spcPts val="0"/>
                        </a:spcAft>
                        <a:buNone/>
                      </a:pPr>
                      <a:r>
                        <a:rPr lang="en">
                          <a:solidFill>
                            <a:schemeClr val="dk1"/>
                          </a:solidFill>
                        </a:rPr>
                        <a:t>Time3</a:t>
                      </a:r>
                      <a:endParaRPr/>
                    </a:p>
                  </a:txBody>
                  <a:tcPr marT="91425" marB="91425" marR="91425" marL="91425"/>
                </a:tc>
                <a:tc>
                  <a:txBody>
                    <a:bodyPr/>
                    <a:lstStyle/>
                    <a:p>
                      <a:pPr indent="0" lvl="0" marL="0" rtl="0" algn="l">
                        <a:spcBef>
                          <a:spcPts val="0"/>
                        </a:spcBef>
                        <a:spcAft>
                          <a:spcPts val="0"/>
                        </a:spcAft>
                        <a:buNone/>
                      </a:pPr>
                      <a:r>
                        <a:rPr lang="en"/>
                        <a:t>-4</a:t>
                      </a:r>
                      <a:endParaRPr/>
                    </a:p>
                  </a:txBody>
                  <a:tcPr marT="91425" marB="91425" marR="91425" marL="91425"/>
                </a:tc>
              </a:tr>
              <a:tr h="402800">
                <a:tc>
                  <a:txBody>
                    <a:bodyPr/>
                    <a:lstStyle/>
                    <a:p>
                      <a:pPr indent="0" lvl="0" marL="0" rtl="0" algn="l">
                        <a:spcBef>
                          <a:spcPts val="0"/>
                        </a:spcBef>
                        <a:spcAft>
                          <a:spcPts val="0"/>
                        </a:spcAft>
                        <a:buNone/>
                      </a:pPr>
                      <a:r>
                        <a:rPr lang="en">
                          <a:solidFill>
                            <a:schemeClr val="dk1"/>
                          </a:solidFill>
                        </a:rPr>
                        <a:t>Time4</a:t>
                      </a:r>
                      <a:endParaRPr/>
                    </a:p>
                  </a:txBody>
                  <a:tcPr marT="91425" marB="91425" marR="91425" marL="91425"/>
                </a:tc>
                <a:tc>
                  <a:txBody>
                    <a:bodyPr/>
                    <a:lstStyle/>
                    <a:p>
                      <a:pPr indent="0" lvl="0" marL="0" rtl="0" algn="l">
                        <a:spcBef>
                          <a:spcPts val="0"/>
                        </a:spcBef>
                        <a:spcAft>
                          <a:spcPts val="0"/>
                        </a:spcAft>
                        <a:buNone/>
                      </a:pPr>
                      <a:r>
                        <a:rPr lang="en"/>
                        <a:t>6</a:t>
                      </a:r>
                      <a:endParaRPr/>
                    </a:p>
                  </a:txBody>
                  <a:tcPr marT="91425" marB="91425" marR="91425" marL="91425"/>
                </a:tc>
              </a:tr>
              <a:tr h="398925">
                <a:tc>
                  <a:txBody>
                    <a:bodyPr/>
                    <a:lstStyle/>
                    <a:p>
                      <a:pPr indent="0" lvl="0" marL="0" rtl="0" algn="l">
                        <a:spcBef>
                          <a:spcPts val="0"/>
                        </a:spcBef>
                        <a:spcAft>
                          <a:spcPts val="0"/>
                        </a:spcAft>
                        <a:buNone/>
                      </a:pPr>
                      <a:r>
                        <a:rPr lang="en">
                          <a:solidFill>
                            <a:schemeClr val="dk1"/>
                          </a:solidFill>
                        </a:rPr>
                        <a:t>Time5</a:t>
                      </a:r>
                      <a:endParaRPr/>
                    </a:p>
                  </a:txBody>
                  <a:tcPr marT="91425" marB="91425" marR="91425" marL="91425"/>
                </a:tc>
                <a:tc>
                  <a:txBody>
                    <a:bodyPr/>
                    <a:lstStyle/>
                    <a:p>
                      <a:pPr indent="0" lvl="0" marL="0" rtl="0" algn="l">
                        <a:spcBef>
                          <a:spcPts val="0"/>
                        </a:spcBef>
                        <a:spcAft>
                          <a:spcPts val="0"/>
                        </a:spcAft>
                        <a:buNone/>
                      </a:pPr>
                      <a:r>
                        <a:rPr lang="en"/>
                        <a:t>-7</a:t>
                      </a:r>
                      <a:endParaRPr/>
                    </a:p>
                  </a:txBody>
                  <a:tcPr marT="91425" marB="91425" marR="91425" marL="91425"/>
                </a:tc>
              </a:tr>
            </a:tbl>
          </a:graphicData>
        </a:graphic>
      </p:graphicFrame>
      <p:graphicFrame>
        <p:nvGraphicFramePr>
          <p:cNvPr id="611" name="Google Shape;611;p77"/>
          <p:cNvGraphicFramePr/>
          <p:nvPr/>
        </p:nvGraphicFramePr>
        <p:xfrm>
          <a:off x="6809250" y="2009080"/>
          <a:ext cx="3000000" cy="3000000"/>
        </p:xfrm>
        <a:graphic>
          <a:graphicData uri="http://schemas.openxmlformats.org/drawingml/2006/table">
            <a:tbl>
              <a:tblPr>
                <a:noFill/>
                <a:tableStyleId>{DCC92612-C815-424C-A28B-9A22D3F952D6}</a:tableStyleId>
              </a:tblPr>
              <a:tblGrid>
                <a:gridCol w="689750"/>
                <a:gridCol w="689750"/>
              </a:tblGrid>
              <a:tr h="402800">
                <a:tc>
                  <a:txBody>
                    <a:bodyPr/>
                    <a:lstStyle/>
                    <a:p>
                      <a:pPr indent="0" lvl="0" marL="0" rtl="0" algn="l">
                        <a:spcBef>
                          <a:spcPts val="0"/>
                        </a:spcBef>
                        <a:spcAft>
                          <a:spcPts val="0"/>
                        </a:spcAft>
                        <a:buNone/>
                      </a:pPr>
                      <a:r>
                        <a:rPr lang="en"/>
                        <a:t>Time1</a:t>
                      </a:r>
                      <a:endParaRPr/>
                    </a:p>
                  </a:txBody>
                  <a:tcPr marT="91425" marB="91425" marR="91425" marL="91425"/>
                </a:tc>
                <a:tc>
                  <a:txBody>
                    <a:bodyPr/>
                    <a:lstStyle/>
                    <a:p>
                      <a:pPr indent="0" lvl="0" marL="0" rtl="0" algn="l">
                        <a:spcBef>
                          <a:spcPts val="0"/>
                        </a:spcBef>
                        <a:spcAft>
                          <a:spcPts val="0"/>
                        </a:spcAft>
                        <a:buNone/>
                      </a:pPr>
                      <a:r>
                        <a:rPr lang="en"/>
                        <a:t>NA</a:t>
                      </a:r>
                      <a:endParaRPr/>
                    </a:p>
                  </a:txBody>
                  <a:tcPr marT="91425" marB="91425" marR="91425" marL="91425"/>
                </a:tc>
              </a:tr>
              <a:tr h="398925">
                <a:tc>
                  <a:txBody>
                    <a:bodyPr/>
                    <a:lstStyle/>
                    <a:p>
                      <a:pPr indent="0" lvl="0" marL="0" rtl="0" algn="l">
                        <a:spcBef>
                          <a:spcPts val="0"/>
                        </a:spcBef>
                        <a:spcAft>
                          <a:spcPts val="0"/>
                        </a:spcAft>
                        <a:buNone/>
                      </a:pPr>
                      <a:r>
                        <a:rPr lang="en">
                          <a:solidFill>
                            <a:schemeClr val="dk1"/>
                          </a:solidFill>
                        </a:rPr>
                        <a:t>Time2</a:t>
                      </a:r>
                      <a:endParaRPr/>
                    </a:p>
                  </a:txBody>
                  <a:tcPr marT="91425" marB="91425" marR="91425" marL="91425"/>
                </a:tc>
                <a:tc>
                  <a:txBody>
                    <a:bodyPr/>
                    <a:lstStyle/>
                    <a:p>
                      <a:pPr indent="0" lvl="0" marL="0" rtl="0" algn="l">
                        <a:spcBef>
                          <a:spcPts val="0"/>
                        </a:spcBef>
                        <a:spcAft>
                          <a:spcPts val="0"/>
                        </a:spcAft>
                        <a:buNone/>
                      </a:pPr>
                      <a:r>
                        <a:rPr lang="en"/>
                        <a:t>NA</a:t>
                      </a:r>
                      <a:endParaRPr/>
                    </a:p>
                  </a:txBody>
                  <a:tcPr marT="91425" marB="91425" marR="91425" marL="91425"/>
                </a:tc>
              </a:tr>
              <a:tr h="402800">
                <a:tc>
                  <a:txBody>
                    <a:bodyPr/>
                    <a:lstStyle/>
                    <a:p>
                      <a:pPr indent="0" lvl="0" marL="0" rtl="0" algn="l">
                        <a:spcBef>
                          <a:spcPts val="0"/>
                        </a:spcBef>
                        <a:spcAft>
                          <a:spcPts val="0"/>
                        </a:spcAft>
                        <a:buNone/>
                      </a:pPr>
                      <a:r>
                        <a:rPr lang="en">
                          <a:solidFill>
                            <a:schemeClr val="dk1"/>
                          </a:solidFill>
                        </a:rPr>
                        <a:t>Time3</a:t>
                      </a:r>
                      <a:endParaRPr/>
                    </a:p>
                  </a:txBody>
                  <a:tcPr marT="91425" marB="91425" marR="91425" marL="91425"/>
                </a:tc>
                <a:tc>
                  <a:txBody>
                    <a:bodyPr/>
                    <a:lstStyle/>
                    <a:p>
                      <a:pPr indent="0" lvl="0" marL="0" rtl="0" algn="l">
                        <a:spcBef>
                          <a:spcPts val="0"/>
                        </a:spcBef>
                        <a:spcAft>
                          <a:spcPts val="0"/>
                        </a:spcAft>
                        <a:buNone/>
                      </a:pPr>
                      <a:r>
                        <a:rPr lang="en"/>
                        <a:t>-6</a:t>
                      </a:r>
                      <a:endParaRPr/>
                    </a:p>
                  </a:txBody>
                  <a:tcPr marT="91425" marB="91425" marR="91425" marL="91425"/>
                </a:tc>
              </a:tr>
              <a:tr h="402800">
                <a:tc>
                  <a:txBody>
                    <a:bodyPr/>
                    <a:lstStyle/>
                    <a:p>
                      <a:pPr indent="0" lvl="0" marL="0" rtl="0" algn="l">
                        <a:spcBef>
                          <a:spcPts val="0"/>
                        </a:spcBef>
                        <a:spcAft>
                          <a:spcPts val="0"/>
                        </a:spcAft>
                        <a:buNone/>
                      </a:pPr>
                      <a:r>
                        <a:rPr lang="en">
                          <a:solidFill>
                            <a:schemeClr val="dk1"/>
                          </a:solidFill>
                        </a:rPr>
                        <a:t>Time4</a:t>
                      </a:r>
                      <a:endParaRPr/>
                    </a:p>
                  </a:txBody>
                  <a:tcPr marT="91425" marB="91425" marR="91425" marL="91425"/>
                </a:tc>
                <a:tc>
                  <a:txBody>
                    <a:bodyPr/>
                    <a:lstStyle/>
                    <a:p>
                      <a:pPr indent="0" lvl="0" marL="0" rtl="0" algn="l">
                        <a:spcBef>
                          <a:spcPts val="0"/>
                        </a:spcBef>
                        <a:spcAft>
                          <a:spcPts val="0"/>
                        </a:spcAft>
                        <a:buNone/>
                      </a:pPr>
                      <a:r>
                        <a:rPr lang="en"/>
                        <a:t>10</a:t>
                      </a:r>
                      <a:endParaRPr/>
                    </a:p>
                  </a:txBody>
                  <a:tcPr marT="91425" marB="91425" marR="91425" marL="91425"/>
                </a:tc>
              </a:tr>
              <a:tr h="398925">
                <a:tc>
                  <a:txBody>
                    <a:bodyPr/>
                    <a:lstStyle/>
                    <a:p>
                      <a:pPr indent="0" lvl="0" marL="0" rtl="0" algn="l">
                        <a:spcBef>
                          <a:spcPts val="0"/>
                        </a:spcBef>
                        <a:spcAft>
                          <a:spcPts val="0"/>
                        </a:spcAft>
                        <a:buNone/>
                      </a:pPr>
                      <a:r>
                        <a:rPr lang="en">
                          <a:solidFill>
                            <a:schemeClr val="dk1"/>
                          </a:solidFill>
                        </a:rPr>
                        <a:t>Time5</a:t>
                      </a:r>
                      <a:endParaRPr/>
                    </a:p>
                  </a:txBody>
                  <a:tcPr marT="91425" marB="91425" marR="91425" marL="91425"/>
                </a:tc>
                <a:tc>
                  <a:txBody>
                    <a:bodyPr/>
                    <a:lstStyle/>
                    <a:p>
                      <a:pPr indent="0" lvl="0" marL="0" rtl="0" algn="l">
                        <a:spcBef>
                          <a:spcPts val="0"/>
                        </a:spcBef>
                        <a:spcAft>
                          <a:spcPts val="0"/>
                        </a:spcAft>
                        <a:buNone/>
                      </a:pPr>
                      <a:r>
                        <a:rPr lang="en"/>
                        <a:t>-13</a:t>
                      </a:r>
                      <a:endParaRPr/>
                    </a:p>
                  </a:txBody>
                  <a:tcPr marT="91425" marB="91425" marR="91425" marL="91425"/>
                </a:tc>
              </a:tr>
            </a:tbl>
          </a:graphicData>
        </a:graphic>
      </p:graphicFrame>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615" name="Shape 615"/>
        <p:cNvGrpSpPr/>
        <p:nvPr/>
      </p:nvGrpSpPr>
      <p:grpSpPr>
        <a:xfrm>
          <a:off x="0" y="0"/>
          <a:ext cx="0" cy="0"/>
          <a:chOff x="0" y="0"/>
          <a:chExt cx="0" cy="0"/>
        </a:xfrm>
      </p:grpSpPr>
      <p:sp>
        <p:nvSpPr>
          <p:cNvPr id="616" name="Google Shape;616;p7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617" name="Google Shape;617;p7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You can continue differencing until you reach stationarity (which you can check visually and mathematically)</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Each differencing step comes at the cost of losing a row of data.</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0"/>
              </a:spcAft>
              <a:buNone/>
            </a:pPr>
            <a:r>
              <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1600"/>
              </a:spcAft>
              <a:buNone/>
            </a:pPr>
            <a:r>
              <a:t/>
            </a:r>
            <a:endParaRPr sz="3000">
              <a:solidFill>
                <a:srgbClr val="434343"/>
              </a:solidFill>
              <a:latin typeface="Montserrat"/>
              <a:ea typeface="Montserrat"/>
              <a:cs typeface="Montserrat"/>
              <a:sym typeface="Montserrat"/>
            </a:endParaRPr>
          </a:p>
        </p:txBody>
      </p:sp>
      <p:pic>
        <p:nvPicPr>
          <p:cNvPr descr="watermark.jpg" id="618" name="Google Shape;618;p78"/>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619" name="Google Shape;619;p7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623" name="Shape 623"/>
        <p:cNvGrpSpPr/>
        <p:nvPr/>
      </p:nvGrpSpPr>
      <p:grpSpPr>
        <a:xfrm>
          <a:off x="0" y="0"/>
          <a:ext cx="0" cy="0"/>
          <a:chOff x="0" y="0"/>
          <a:chExt cx="0" cy="0"/>
        </a:xfrm>
      </p:grpSpPr>
      <p:sp>
        <p:nvSpPr>
          <p:cNvPr id="624" name="Google Shape;624;p7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625" name="Google Shape;625;p7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For seasonal data, you can also difference by a season.</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For example, if you had monthly data with yearly seasonality, you could difference by a time unit of 12, instead of just 1.</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0"/>
              </a:spcAft>
              <a:buNone/>
            </a:pPr>
            <a:r>
              <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1600"/>
              </a:spcAft>
              <a:buNone/>
            </a:pPr>
            <a:r>
              <a:t/>
            </a:r>
            <a:endParaRPr sz="3000">
              <a:solidFill>
                <a:srgbClr val="434343"/>
              </a:solidFill>
              <a:latin typeface="Montserrat"/>
              <a:ea typeface="Montserrat"/>
              <a:cs typeface="Montserrat"/>
              <a:sym typeface="Montserrat"/>
            </a:endParaRPr>
          </a:p>
        </p:txBody>
      </p:sp>
      <p:pic>
        <p:nvPicPr>
          <p:cNvPr descr="watermark.jpg" id="626" name="Google Shape;626;p79"/>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627" name="Google Shape;627;p7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631" name="Shape 631"/>
        <p:cNvGrpSpPr/>
        <p:nvPr/>
      </p:nvGrpSpPr>
      <p:grpSpPr>
        <a:xfrm>
          <a:off x="0" y="0"/>
          <a:ext cx="0" cy="0"/>
          <a:chOff x="0" y="0"/>
          <a:chExt cx="0" cy="0"/>
        </a:xfrm>
      </p:grpSpPr>
      <p:sp>
        <p:nvSpPr>
          <p:cNvPr id="632" name="Google Shape;632;p8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633" name="Google Shape;633;p8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Another common technique with seasonal ARIMA models is to combine both methods, taking the seasonal difference of the first difference.</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0"/>
              </a:spcAft>
              <a:buNone/>
            </a:pPr>
            <a:r>
              <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1600"/>
              </a:spcAft>
              <a:buNone/>
            </a:pPr>
            <a:r>
              <a:t/>
            </a:r>
            <a:endParaRPr sz="3000">
              <a:solidFill>
                <a:srgbClr val="434343"/>
              </a:solidFill>
              <a:latin typeface="Montserrat"/>
              <a:ea typeface="Montserrat"/>
              <a:cs typeface="Montserrat"/>
              <a:sym typeface="Montserrat"/>
            </a:endParaRPr>
          </a:p>
        </p:txBody>
      </p:sp>
      <p:pic>
        <p:nvPicPr>
          <p:cNvPr descr="watermark.jpg" id="634" name="Google Shape;634;p80"/>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635" name="Google Shape;635;p8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639" name="Shape 639"/>
        <p:cNvGrpSpPr/>
        <p:nvPr/>
      </p:nvGrpSpPr>
      <p:grpSpPr>
        <a:xfrm>
          <a:off x="0" y="0"/>
          <a:ext cx="0" cy="0"/>
          <a:chOff x="0" y="0"/>
          <a:chExt cx="0" cy="0"/>
        </a:xfrm>
      </p:grpSpPr>
      <p:sp>
        <p:nvSpPr>
          <p:cNvPr id="640" name="Google Shape;640;p8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641" name="Google Shape;641;p8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With your data now stationary it is time to go back and discuss the p,d,q terms and how you choose them.</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A big part of this are AutoCorrelation Plots and Partial AutoCorrelation Plots.</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Let’s move on to discuss them!</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0"/>
              </a:spcAft>
              <a:buNone/>
            </a:pPr>
            <a:r>
              <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1600"/>
              </a:spcAft>
              <a:buNone/>
            </a:pPr>
            <a:r>
              <a:t/>
            </a:r>
            <a:endParaRPr sz="3000">
              <a:solidFill>
                <a:srgbClr val="434343"/>
              </a:solidFill>
              <a:latin typeface="Montserrat"/>
              <a:ea typeface="Montserrat"/>
              <a:cs typeface="Montserrat"/>
              <a:sym typeface="Montserrat"/>
            </a:endParaRPr>
          </a:p>
        </p:txBody>
      </p:sp>
      <p:pic>
        <p:nvPicPr>
          <p:cNvPr descr="watermark.jpg" id="642" name="Google Shape;642;p81"/>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643" name="Google Shape;643;p8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647" name="Shape 647"/>
        <p:cNvGrpSpPr/>
        <p:nvPr/>
      </p:nvGrpSpPr>
      <p:grpSpPr>
        <a:xfrm>
          <a:off x="0" y="0"/>
          <a:ext cx="0" cy="0"/>
          <a:chOff x="0" y="0"/>
          <a:chExt cx="0" cy="0"/>
        </a:xfrm>
      </p:grpSpPr>
      <p:sp>
        <p:nvSpPr>
          <p:cNvPr id="648" name="Google Shape;648;p8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AutoCorrelation Plots</a:t>
            </a:r>
            <a:endParaRPr b="1">
              <a:latin typeface="Montserrat"/>
              <a:ea typeface="Montserrat"/>
              <a:cs typeface="Montserrat"/>
              <a:sym typeface="Montserrat"/>
            </a:endParaRPr>
          </a:p>
        </p:txBody>
      </p:sp>
      <p:sp>
        <p:nvSpPr>
          <p:cNvPr id="649" name="Google Shape;649;p8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pic>
        <p:nvPicPr>
          <p:cNvPr descr="watermark.jpg" id="650" name="Google Shape;650;p82"/>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651" name="Google Shape;651;p8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655" name="Shape 655"/>
        <p:cNvGrpSpPr/>
        <p:nvPr/>
      </p:nvGrpSpPr>
      <p:grpSpPr>
        <a:xfrm>
          <a:off x="0" y="0"/>
          <a:ext cx="0" cy="0"/>
          <a:chOff x="0" y="0"/>
          <a:chExt cx="0" cy="0"/>
        </a:xfrm>
      </p:grpSpPr>
      <p:sp>
        <p:nvSpPr>
          <p:cNvPr id="656" name="Google Shape;656;p8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657" name="Google Shape;657;p8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An autocorrelation plot (also known as a Correlogram ) shows the correlation of the series with itself, lagged by x time units.</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So the y axis is the correlation and the x axis is the number of time units of lag.</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1600"/>
              </a:spcAft>
              <a:buNone/>
            </a:pPr>
            <a:r>
              <a:t/>
            </a:r>
            <a:endParaRPr sz="3000">
              <a:solidFill>
                <a:srgbClr val="434343"/>
              </a:solidFill>
              <a:latin typeface="Montserrat"/>
              <a:ea typeface="Montserrat"/>
              <a:cs typeface="Montserrat"/>
              <a:sym typeface="Montserrat"/>
            </a:endParaRPr>
          </a:p>
        </p:txBody>
      </p:sp>
      <p:pic>
        <p:nvPicPr>
          <p:cNvPr descr="watermark.jpg" id="658" name="Google Shape;658;p83"/>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659" name="Google Shape;659;p8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663" name="Shape 663"/>
        <p:cNvGrpSpPr/>
        <p:nvPr/>
      </p:nvGrpSpPr>
      <p:grpSpPr>
        <a:xfrm>
          <a:off x="0" y="0"/>
          <a:ext cx="0" cy="0"/>
          <a:chOff x="0" y="0"/>
          <a:chExt cx="0" cy="0"/>
        </a:xfrm>
      </p:grpSpPr>
      <p:sp>
        <p:nvSpPr>
          <p:cNvPr id="664" name="Google Shape;664;p8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665" name="Google Shape;665;p8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Let’s explain this idea of correlation with a simple example.</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We’ll start off by trying to imagine how to calculate the plot value for x=1</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1600"/>
              </a:spcAft>
              <a:buNone/>
            </a:pPr>
            <a:r>
              <a:t/>
            </a:r>
            <a:endParaRPr sz="3000">
              <a:solidFill>
                <a:srgbClr val="434343"/>
              </a:solidFill>
              <a:latin typeface="Montserrat"/>
              <a:ea typeface="Montserrat"/>
              <a:cs typeface="Montserrat"/>
              <a:sym typeface="Montserrat"/>
            </a:endParaRPr>
          </a:p>
        </p:txBody>
      </p:sp>
      <p:pic>
        <p:nvPicPr>
          <p:cNvPr descr="watermark.jpg" id="666" name="Google Shape;666;p84"/>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667" name="Google Shape;667;p8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671" name="Shape 671"/>
        <p:cNvGrpSpPr/>
        <p:nvPr/>
      </p:nvGrpSpPr>
      <p:grpSpPr>
        <a:xfrm>
          <a:off x="0" y="0"/>
          <a:ext cx="0" cy="0"/>
          <a:chOff x="0" y="0"/>
          <a:chExt cx="0" cy="0"/>
        </a:xfrm>
      </p:grpSpPr>
      <p:sp>
        <p:nvSpPr>
          <p:cNvPr id="672" name="Google Shape;672;p8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673" name="Google Shape;673;p8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Imagine taking your time series of length T, copying it, and deleting the first observation of copy #1 and the last observation of copy #2. </a:t>
            </a:r>
            <a:endParaRPr sz="3000">
              <a:solidFill>
                <a:srgbClr val="434343"/>
              </a:solidFill>
              <a:latin typeface="Montserrat"/>
              <a:ea typeface="Montserrat"/>
              <a:cs typeface="Montserrat"/>
              <a:sym typeface="Montserrat"/>
            </a:endParaRPr>
          </a:p>
        </p:txBody>
      </p:sp>
      <p:pic>
        <p:nvPicPr>
          <p:cNvPr descr="watermark.jpg" id="674" name="Google Shape;674;p85"/>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675" name="Google Shape;675;p8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679" name="Shape 679"/>
        <p:cNvGrpSpPr/>
        <p:nvPr/>
      </p:nvGrpSpPr>
      <p:grpSpPr>
        <a:xfrm>
          <a:off x="0" y="0"/>
          <a:ext cx="0" cy="0"/>
          <a:chOff x="0" y="0"/>
          <a:chExt cx="0" cy="0"/>
        </a:xfrm>
      </p:grpSpPr>
      <p:sp>
        <p:nvSpPr>
          <p:cNvPr id="680" name="Google Shape;680;p8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681" name="Google Shape;681;p8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Now you have two series of length T−1 for which you calculate a correlation coefficient. </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This is the value of the vertical axis at x=1 in your plots. </a:t>
            </a:r>
            <a:endParaRPr sz="3000">
              <a:solidFill>
                <a:srgbClr val="434343"/>
              </a:solidFill>
              <a:latin typeface="Montserrat"/>
              <a:ea typeface="Montserrat"/>
              <a:cs typeface="Montserrat"/>
              <a:sym typeface="Montserrat"/>
            </a:endParaRPr>
          </a:p>
        </p:txBody>
      </p:sp>
      <p:pic>
        <p:nvPicPr>
          <p:cNvPr descr="watermark.jpg" id="682" name="Google Shape;682;p86"/>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683" name="Google Shape;683;p8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687" name="Shape 687"/>
        <p:cNvGrpSpPr/>
        <p:nvPr/>
      </p:nvGrpSpPr>
      <p:grpSpPr>
        <a:xfrm>
          <a:off x="0" y="0"/>
          <a:ext cx="0" cy="0"/>
          <a:chOff x="0" y="0"/>
          <a:chExt cx="0" cy="0"/>
        </a:xfrm>
      </p:grpSpPr>
      <p:sp>
        <p:nvSpPr>
          <p:cNvPr id="688" name="Google Shape;688;p8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689" name="Google Shape;689;p8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It represents the correlation of the series lagged by one time unit.</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You go on and do this for all possible time lags x and this defines the plot.</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Let’s see some typical examples!</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1600"/>
              </a:spcAft>
              <a:buNone/>
            </a:pPr>
            <a:r>
              <a:t/>
            </a:r>
            <a:endParaRPr sz="3000">
              <a:solidFill>
                <a:srgbClr val="434343"/>
              </a:solidFill>
              <a:latin typeface="Montserrat"/>
              <a:ea typeface="Montserrat"/>
              <a:cs typeface="Montserrat"/>
              <a:sym typeface="Montserrat"/>
            </a:endParaRPr>
          </a:p>
        </p:txBody>
      </p:sp>
      <p:pic>
        <p:nvPicPr>
          <p:cNvPr descr="watermark.jpg" id="690" name="Google Shape;690;p87"/>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691" name="Google Shape;691;p8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695" name="Shape 695"/>
        <p:cNvGrpSpPr/>
        <p:nvPr/>
      </p:nvGrpSpPr>
      <p:grpSpPr>
        <a:xfrm>
          <a:off x="0" y="0"/>
          <a:ext cx="0" cy="0"/>
          <a:chOff x="0" y="0"/>
          <a:chExt cx="0" cy="0"/>
        </a:xfrm>
      </p:grpSpPr>
      <p:sp>
        <p:nvSpPr>
          <p:cNvPr id="696" name="Google Shape;696;p8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697" name="Google Shape;697;p8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Gradual Decline</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1600"/>
              </a:spcAft>
              <a:buNone/>
            </a:pPr>
            <a:r>
              <a:t/>
            </a:r>
            <a:endParaRPr sz="3000">
              <a:solidFill>
                <a:srgbClr val="434343"/>
              </a:solidFill>
              <a:latin typeface="Montserrat"/>
              <a:ea typeface="Montserrat"/>
              <a:cs typeface="Montserrat"/>
              <a:sym typeface="Montserrat"/>
            </a:endParaRPr>
          </a:p>
        </p:txBody>
      </p:sp>
      <p:pic>
        <p:nvPicPr>
          <p:cNvPr descr="watermark.jpg" id="698" name="Google Shape;698;p88"/>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699" name="Google Shape;699;p8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700" name="Google Shape;700;p88"/>
          <p:cNvPicPr preferRelativeResize="0"/>
          <p:nvPr/>
        </p:nvPicPr>
        <p:blipFill>
          <a:blip r:embed="rId4">
            <a:alphaModFix/>
          </a:blip>
          <a:stretch>
            <a:fillRect/>
          </a:stretch>
        </p:blipFill>
        <p:spPr>
          <a:xfrm>
            <a:off x="2767075" y="1982750"/>
            <a:ext cx="3657600" cy="2514600"/>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704" name="Shape 704"/>
        <p:cNvGrpSpPr/>
        <p:nvPr/>
      </p:nvGrpSpPr>
      <p:grpSpPr>
        <a:xfrm>
          <a:off x="0" y="0"/>
          <a:ext cx="0" cy="0"/>
          <a:chOff x="0" y="0"/>
          <a:chExt cx="0" cy="0"/>
        </a:xfrm>
      </p:grpSpPr>
      <p:sp>
        <p:nvSpPr>
          <p:cNvPr id="705" name="Google Shape;705;p8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706" name="Google Shape;706;p8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Sharp Drop-off</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1600"/>
              </a:spcAft>
              <a:buNone/>
            </a:pPr>
            <a:r>
              <a:t/>
            </a:r>
            <a:endParaRPr sz="3000">
              <a:solidFill>
                <a:srgbClr val="434343"/>
              </a:solidFill>
              <a:latin typeface="Montserrat"/>
              <a:ea typeface="Montserrat"/>
              <a:cs typeface="Montserrat"/>
              <a:sym typeface="Montserrat"/>
            </a:endParaRPr>
          </a:p>
        </p:txBody>
      </p:sp>
      <p:pic>
        <p:nvPicPr>
          <p:cNvPr descr="watermark.jpg" id="707" name="Google Shape;707;p89"/>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708" name="Google Shape;708;p8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709" name="Google Shape;709;p89"/>
          <p:cNvPicPr preferRelativeResize="0"/>
          <p:nvPr/>
        </p:nvPicPr>
        <p:blipFill>
          <a:blip r:embed="rId4">
            <a:alphaModFix/>
          </a:blip>
          <a:stretch>
            <a:fillRect/>
          </a:stretch>
        </p:blipFill>
        <p:spPr>
          <a:xfrm>
            <a:off x="2733675" y="2054275"/>
            <a:ext cx="3676650" cy="2514600"/>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713" name="Shape 713"/>
        <p:cNvGrpSpPr/>
        <p:nvPr/>
      </p:nvGrpSpPr>
      <p:grpSpPr>
        <a:xfrm>
          <a:off x="0" y="0"/>
          <a:ext cx="0" cy="0"/>
          <a:chOff x="0" y="0"/>
          <a:chExt cx="0" cy="0"/>
        </a:xfrm>
      </p:grpSpPr>
      <p:sp>
        <p:nvSpPr>
          <p:cNvPr id="714" name="Google Shape;714;p9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715" name="Google Shape;715;p9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The actual interpretation and how it relates to ARIMA models can get a bit complicated, but there are some basic common methods we can use for the ARIMA model. </a:t>
            </a:r>
            <a:endParaRPr sz="3000">
              <a:solidFill>
                <a:srgbClr val="434343"/>
              </a:solidFill>
              <a:latin typeface="Montserrat"/>
              <a:ea typeface="Montserrat"/>
              <a:cs typeface="Montserrat"/>
              <a:sym typeface="Montserrat"/>
            </a:endParaRPr>
          </a:p>
        </p:txBody>
      </p:sp>
      <p:pic>
        <p:nvPicPr>
          <p:cNvPr descr="watermark.jpg" id="716" name="Google Shape;716;p90"/>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717" name="Google Shape;717;p9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721" name="Shape 721"/>
        <p:cNvGrpSpPr/>
        <p:nvPr/>
      </p:nvGrpSpPr>
      <p:grpSpPr>
        <a:xfrm>
          <a:off x="0" y="0"/>
          <a:ext cx="0" cy="0"/>
          <a:chOff x="0" y="0"/>
          <a:chExt cx="0" cy="0"/>
        </a:xfrm>
      </p:grpSpPr>
      <p:sp>
        <p:nvSpPr>
          <p:cNvPr id="722" name="Google Shape;722;p9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723" name="Google Shape;723;p9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Our main priority here is to try to figure out whether we will use the AR or MA components for the ARIMA model (or both!) as well as how many lags we should use. </a:t>
            </a:r>
            <a:endParaRPr sz="3000">
              <a:solidFill>
                <a:srgbClr val="434343"/>
              </a:solidFill>
              <a:latin typeface="Montserrat"/>
              <a:ea typeface="Montserrat"/>
              <a:cs typeface="Montserrat"/>
              <a:sym typeface="Montserrat"/>
            </a:endParaRPr>
          </a:p>
        </p:txBody>
      </p:sp>
      <p:pic>
        <p:nvPicPr>
          <p:cNvPr descr="watermark.jpg" id="724" name="Google Shape;724;p91"/>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725" name="Google Shape;725;p9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729" name="Shape 729"/>
        <p:cNvGrpSpPr/>
        <p:nvPr/>
      </p:nvGrpSpPr>
      <p:grpSpPr>
        <a:xfrm>
          <a:off x="0" y="0"/>
          <a:ext cx="0" cy="0"/>
          <a:chOff x="0" y="0"/>
          <a:chExt cx="0" cy="0"/>
        </a:xfrm>
      </p:grpSpPr>
      <p:sp>
        <p:nvSpPr>
          <p:cNvPr id="730" name="Google Shape;730;p9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731" name="Google Shape;731;p9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In general you would use either AR or MA, using both is less common.</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When actually applying the AR and MA terms, you will set values of p or q.</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1600"/>
              </a:spcAft>
              <a:buNone/>
            </a:pPr>
            <a:r>
              <a:t/>
            </a:r>
            <a:endParaRPr sz="3000">
              <a:solidFill>
                <a:srgbClr val="434343"/>
              </a:solidFill>
              <a:latin typeface="Montserrat"/>
              <a:ea typeface="Montserrat"/>
              <a:cs typeface="Montserrat"/>
              <a:sym typeface="Montserrat"/>
            </a:endParaRPr>
          </a:p>
        </p:txBody>
      </p:sp>
      <p:pic>
        <p:nvPicPr>
          <p:cNvPr descr="watermark.jpg" id="732" name="Google Shape;732;p92"/>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733" name="Google Shape;733;p9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737" name="Shape 737"/>
        <p:cNvGrpSpPr/>
        <p:nvPr/>
      </p:nvGrpSpPr>
      <p:grpSpPr>
        <a:xfrm>
          <a:off x="0" y="0"/>
          <a:ext cx="0" cy="0"/>
          <a:chOff x="0" y="0"/>
          <a:chExt cx="0" cy="0"/>
        </a:xfrm>
      </p:grpSpPr>
      <p:sp>
        <p:nvSpPr>
          <p:cNvPr id="738" name="Google Shape;738;p9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739" name="Google Shape;739;p9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If the autocorrelation plot shows positive autocorrelation at the first lag (lag-1), then it suggests to use the AR terms in relation to the lag</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0"/>
              </a:spcAft>
              <a:buNone/>
            </a:pPr>
            <a:r>
              <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1600"/>
              </a:spcAft>
              <a:buNone/>
            </a:pPr>
            <a:r>
              <a:t/>
            </a:r>
            <a:endParaRPr sz="3000">
              <a:solidFill>
                <a:srgbClr val="434343"/>
              </a:solidFill>
              <a:latin typeface="Montserrat"/>
              <a:ea typeface="Montserrat"/>
              <a:cs typeface="Montserrat"/>
              <a:sym typeface="Montserrat"/>
            </a:endParaRPr>
          </a:p>
        </p:txBody>
      </p:sp>
      <p:pic>
        <p:nvPicPr>
          <p:cNvPr descr="watermark.jpg" id="740" name="Google Shape;740;p93"/>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741" name="Google Shape;741;p9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745" name="Shape 745"/>
        <p:cNvGrpSpPr/>
        <p:nvPr/>
      </p:nvGrpSpPr>
      <p:grpSpPr>
        <a:xfrm>
          <a:off x="0" y="0"/>
          <a:ext cx="0" cy="0"/>
          <a:chOff x="0" y="0"/>
          <a:chExt cx="0" cy="0"/>
        </a:xfrm>
      </p:grpSpPr>
      <p:sp>
        <p:nvSpPr>
          <p:cNvPr id="746" name="Google Shape;746;p9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747" name="Google Shape;747;p9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If the autocorrelation plot shows negative autocorrelation at the first lag, then it suggests using MA terms.</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This will allow you to decide what actual values of p,d, and q to provide your ARIMA model. </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0"/>
              </a:spcAft>
              <a:buNone/>
            </a:pPr>
            <a:r>
              <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1600"/>
              </a:spcAft>
              <a:buNone/>
            </a:pPr>
            <a:r>
              <a:t/>
            </a:r>
            <a:endParaRPr sz="3000">
              <a:solidFill>
                <a:srgbClr val="434343"/>
              </a:solidFill>
              <a:latin typeface="Montserrat"/>
              <a:ea typeface="Montserrat"/>
              <a:cs typeface="Montserrat"/>
              <a:sym typeface="Montserrat"/>
            </a:endParaRPr>
          </a:p>
        </p:txBody>
      </p:sp>
      <p:pic>
        <p:nvPicPr>
          <p:cNvPr descr="watermark.jpg" id="748" name="Google Shape;748;p94"/>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749" name="Google Shape;749;p9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753" name="Shape 753"/>
        <p:cNvGrpSpPr/>
        <p:nvPr/>
      </p:nvGrpSpPr>
      <p:grpSpPr>
        <a:xfrm>
          <a:off x="0" y="0"/>
          <a:ext cx="0" cy="0"/>
          <a:chOff x="0" y="0"/>
          <a:chExt cx="0" cy="0"/>
        </a:xfrm>
      </p:grpSpPr>
      <p:sp>
        <p:nvSpPr>
          <p:cNvPr id="754" name="Google Shape;754;p9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755" name="Google Shape;755;p9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p: The number of lag observations included in the model.</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d: The number of times that the raw observations are differenced</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q: The size of the moving average window, also called the order of moving average.</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0"/>
              </a:spcAft>
              <a:buNone/>
            </a:pPr>
            <a:r>
              <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0"/>
              </a:spcAft>
              <a:buNone/>
            </a:pPr>
            <a:r>
              <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1600"/>
              </a:spcAft>
              <a:buNone/>
            </a:pPr>
            <a:r>
              <a:t/>
            </a:r>
            <a:endParaRPr sz="3000">
              <a:solidFill>
                <a:srgbClr val="434343"/>
              </a:solidFill>
              <a:latin typeface="Montserrat"/>
              <a:ea typeface="Montserrat"/>
              <a:cs typeface="Montserrat"/>
              <a:sym typeface="Montserrat"/>
            </a:endParaRPr>
          </a:p>
        </p:txBody>
      </p:sp>
      <p:pic>
        <p:nvPicPr>
          <p:cNvPr descr="watermark.jpg" id="756" name="Google Shape;756;p95"/>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757" name="Google Shape;757;p9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761" name="Shape 761"/>
        <p:cNvGrpSpPr/>
        <p:nvPr/>
      </p:nvGrpSpPr>
      <p:grpSpPr>
        <a:xfrm>
          <a:off x="0" y="0"/>
          <a:ext cx="0" cy="0"/>
          <a:chOff x="0" y="0"/>
          <a:chExt cx="0" cy="0"/>
        </a:xfrm>
      </p:grpSpPr>
      <p:sp>
        <p:nvSpPr>
          <p:cNvPr id="762" name="Google Shape;762;p9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763" name="Google Shape;763;p9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There are also partial autocorrelation plots!</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These are a little more complicated than autocorrelation plots, but let’s show you the basics.</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0"/>
              </a:spcAft>
              <a:buNone/>
            </a:pPr>
            <a:r>
              <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0"/>
              </a:spcAft>
              <a:buNone/>
            </a:pPr>
            <a:r>
              <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1600"/>
              </a:spcAft>
              <a:buNone/>
            </a:pPr>
            <a:r>
              <a:t/>
            </a:r>
            <a:endParaRPr sz="3000">
              <a:solidFill>
                <a:srgbClr val="434343"/>
              </a:solidFill>
              <a:latin typeface="Montserrat"/>
              <a:ea typeface="Montserrat"/>
              <a:cs typeface="Montserrat"/>
              <a:sym typeface="Montserrat"/>
            </a:endParaRPr>
          </a:p>
        </p:txBody>
      </p:sp>
      <p:pic>
        <p:nvPicPr>
          <p:cNvPr descr="watermark.jpg" id="764" name="Google Shape;764;p96"/>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765" name="Google Shape;765;p9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769" name="Shape 769"/>
        <p:cNvGrpSpPr/>
        <p:nvPr/>
      </p:nvGrpSpPr>
      <p:grpSpPr>
        <a:xfrm>
          <a:off x="0" y="0"/>
          <a:ext cx="0" cy="0"/>
          <a:chOff x="0" y="0"/>
          <a:chExt cx="0" cy="0"/>
        </a:xfrm>
      </p:grpSpPr>
      <p:sp>
        <p:nvSpPr>
          <p:cNvPr id="770" name="Google Shape;770;p9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771" name="Google Shape;771;p9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In general, a partial correlation is a conditional correlation.</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It is the correlation between two variables under the assumption that we know and take into account the values of some other set of variables.</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0"/>
              </a:spcAft>
              <a:buNone/>
            </a:pPr>
            <a:r>
              <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0"/>
              </a:spcAft>
              <a:buNone/>
            </a:pPr>
            <a:r>
              <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0"/>
              </a:spcAft>
              <a:buNone/>
            </a:pPr>
            <a:r>
              <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1600"/>
              </a:spcAft>
              <a:buNone/>
            </a:pPr>
            <a:r>
              <a:t/>
            </a:r>
            <a:endParaRPr sz="3000">
              <a:solidFill>
                <a:srgbClr val="434343"/>
              </a:solidFill>
              <a:latin typeface="Montserrat"/>
              <a:ea typeface="Montserrat"/>
              <a:cs typeface="Montserrat"/>
              <a:sym typeface="Montserrat"/>
            </a:endParaRPr>
          </a:p>
        </p:txBody>
      </p:sp>
      <p:pic>
        <p:nvPicPr>
          <p:cNvPr descr="watermark.jpg" id="772" name="Google Shape;772;p97"/>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773" name="Google Shape;773;p9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777" name="Shape 777"/>
        <p:cNvGrpSpPr/>
        <p:nvPr/>
      </p:nvGrpSpPr>
      <p:grpSpPr>
        <a:xfrm>
          <a:off x="0" y="0"/>
          <a:ext cx="0" cy="0"/>
          <a:chOff x="0" y="0"/>
          <a:chExt cx="0" cy="0"/>
        </a:xfrm>
      </p:grpSpPr>
      <p:sp>
        <p:nvSpPr>
          <p:cNvPr id="778" name="Google Shape;778;p9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779" name="Google Shape;779;p9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For instance, consider a regression context in which y = response variable and x1, x2, and x3 are predictor variables. </a:t>
            </a:r>
            <a:endParaRPr sz="3000">
              <a:solidFill>
                <a:srgbClr val="434343"/>
              </a:solidFill>
              <a:latin typeface="Montserrat"/>
              <a:ea typeface="Montserrat"/>
              <a:cs typeface="Montserrat"/>
              <a:sym typeface="Montserrat"/>
            </a:endParaRPr>
          </a:p>
          <a:p>
            <a:pPr indent="-419100" lvl="0" marL="457200" marR="0" rtl="0" algn="l">
              <a:lnSpc>
                <a:spcPct val="100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The partial correlation between y and x3 is the correlation between the variables determined taking into account how both y and x3 are related to x1 and x2.</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0"/>
              </a:spcAft>
              <a:buNone/>
            </a:pPr>
            <a:r>
              <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0"/>
              </a:spcAft>
              <a:buNone/>
            </a:pPr>
            <a:r>
              <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0"/>
              </a:spcAft>
              <a:buNone/>
            </a:pPr>
            <a:r>
              <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1600"/>
              </a:spcAft>
              <a:buNone/>
            </a:pPr>
            <a:r>
              <a:t/>
            </a:r>
            <a:endParaRPr sz="3000">
              <a:solidFill>
                <a:srgbClr val="434343"/>
              </a:solidFill>
              <a:latin typeface="Montserrat"/>
              <a:ea typeface="Montserrat"/>
              <a:cs typeface="Montserrat"/>
              <a:sym typeface="Montserrat"/>
            </a:endParaRPr>
          </a:p>
        </p:txBody>
      </p:sp>
      <p:pic>
        <p:nvPicPr>
          <p:cNvPr descr="watermark.jpg" id="780" name="Google Shape;780;p98"/>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781" name="Google Shape;781;p9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785" name="Shape 785"/>
        <p:cNvGrpSpPr/>
        <p:nvPr/>
      </p:nvGrpSpPr>
      <p:grpSpPr>
        <a:xfrm>
          <a:off x="0" y="0"/>
          <a:ext cx="0" cy="0"/>
          <a:chOff x="0" y="0"/>
          <a:chExt cx="0" cy="0"/>
        </a:xfrm>
      </p:grpSpPr>
      <p:sp>
        <p:nvSpPr>
          <p:cNvPr id="786" name="Google Shape;786;p9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787" name="Google Shape;787;p9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Let’s see an example of what the plot can look like:</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0"/>
              </a:spcAft>
              <a:buNone/>
            </a:pPr>
            <a:r>
              <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0"/>
              </a:spcAft>
              <a:buNone/>
            </a:pPr>
            <a:r>
              <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0"/>
              </a:spcAft>
              <a:buNone/>
            </a:pPr>
            <a:r>
              <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1600"/>
              </a:spcAft>
              <a:buNone/>
            </a:pPr>
            <a:r>
              <a:t/>
            </a:r>
            <a:endParaRPr sz="3000">
              <a:solidFill>
                <a:srgbClr val="434343"/>
              </a:solidFill>
              <a:latin typeface="Montserrat"/>
              <a:ea typeface="Montserrat"/>
              <a:cs typeface="Montserrat"/>
              <a:sym typeface="Montserrat"/>
            </a:endParaRPr>
          </a:p>
        </p:txBody>
      </p:sp>
      <p:pic>
        <p:nvPicPr>
          <p:cNvPr descr="watermark.jpg" id="788" name="Google Shape;788;p99"/>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789" name="Google Shape;789;p9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790" name="Google Shape;790;p99"/>
          <p:cNvPicPr preferRelativeResize="0"/>
          <p:nvPr/>
        </p:nvPicPr>
        <p:blipFill>
          <a:blip r:embed="rId4">
            <a:alphaModFix/>
          </a:blip>
          <a:stretch>
            <a:fillRect/>
          </a:stretch>
        </p:blipFill>
        <p:spPr>
          <a:xfrm>
            <a:off x="2703850" y="2286775"/>
            <a:ext cx="3676650" cy="2514600"/>
          </a:xfrm>
          <a:prstGeom prst="rect">
            <a:avLst/>
          </a:prstGeom>
          <a:noFill/>
          <a:ln>
            <a:noFill/>
          </a:ln>
        </p:spPr>
      </p:pic>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794" name="Shape 794"/>
        <p:cNvGrpSpPr/>
        <p:nvPr/>
      </p:nvGrpSpPr>
      <p:grpSpPr>
        <a:xfrm>
          <a:off x="0" y="0"/>
          <a:ext cx="0" cy="0"/>
          <a:chOff x="0" y="0"/>
          <a:chExt cx="0" cy="0"/>
        </a:xfrm>
      </p:grpSpPr>
      <p:sp>
        <p:nvSpPr>
          <p:cNvPr id="795" name="Google Shape;795;p10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796" name="Google Shape;796;p10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Typically a sharp drop after lag "k" suggests an AR-k model should be used. </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If there is a gradual decline, it suggests an MA model.</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0"/>
              </a:spcAft>
              <a:buNone/>
            </a:pPr>
            <a:r>
              <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0"/>
              </a:spcAft>
              <a:buNone/>
            </a:pPr>
            <a:r>
              <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0"/>
              </a:spcAft>
              <a:buNone/>
            </a:pPr>
            <a:r>
              <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1600"/>
              </a:spcAft>
              <a:buNone/>
            </a:pPr>
            <a:r>
              <a:t/>
            </a:r>
            <a:endParaRPr sz="3000">
              <a:solidFill>
                <a:srgbClr val="434343"/>
              </a:solidFill>
              <a:latin typeface="Montserrat"/>
              <a:ea typeface="Montserrat"/>
              <a:cs typeface="Montserrat"/>
              <a:sym typeface="Montserrat"/>
            </a:endParaRPr>
          </a:p>
        </p:txBody>
      </p:sp>
      <p:pic>
        <p:nvPicPr>
          <p:cNvPr descr="watermark.jpg" id="797" name="Google Shape;797;p100"/>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798" name="Google Shape;798;p10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802" name="Shape 802"/>
        <p:cNvGrpSpPr/>
        <p:nvPr/>
      </p:nvGrpSpPr>
      <p:grpSpPr>
        <a:xfrm>
          <a:off x="0" y="0"/>
          <a:ext cx="0" cy="0"/>
          <a:chOff x="0" y="0"/>
          <a:chExt cx="0" cy="0"/>
        </a:xfrm>
      </p:grpSpPr>
      <p:sp>
        <p:nvSpPr>
          <p:cNvPr id="803" name="Google Shape;803;p10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804" name="Google Shape;804;p10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Identification of an AR model is often best done with the PACF.</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Identification of an MA model is often best done with the ACF rather than the PACF.</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View the notebook and resource links for more details.</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0"/>
              </a:spcAft>
              <a:buNone/>
            </a:pPr>
            <a:r>
              <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0"/>
              </a:spcAft>
              <a:buNone/>
            </a:pPr>
            <a:r>
              <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0"/>
              </a:spcAft>
              <a:buNone/>
            </a:pPr>
            <a:r>
              <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1600"/>
              </a:spcAft>
              <a:buNone/>
            </a:pPr>
            <a:r>
              <a:t/>
            </a:r>
            <a:endParaRPr sz="3000">
              <a:solidFill>
                <a:srgbClr val="434343"/>
              </a:solidFill>
              <a:latin typeface="Montserrat"/>
              <a:ea typeface="Montserrat"/>
              <a:cs typeface="Montserrat"/>
              <a:sym typeface="Montserrat"/>
            </a:endParaRPr>
          </a:p>
        </p:txBody>
      </p:sp>
      <p:pic>
        <p:nvPicPr>
          <p:cNvPr descr="watermark.jpg" id="805" name="Google Shape;805;p101"/>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806" name="Google Shape;806;p10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810" name="Shape 810"/>
        <p:cNvGrpSpPr/>
        <p:nvPr/>
      </p:nvGrpSpPr>
      <p:grpSpPr>
        <a:xfrm>
          <a:off x="0" y="0"/>
          <a:ext cx="0" cy="0"/>
          <a:chOff x="0" y="0"/>
          <a:chExt cx="0" cy="0"/>
        </a:xfrm>
      </p:grpSpPr>
      <p:sp>
        <p:nvSpPr>
          <p:cNvPr id="811" name="Google Shape;811;p10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812" name="Google Shape;812;p10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Finally once you’ve analyzed your data using ACF and PACF you are ready to begin to apply ARIMA or Seasonal ARIMA, depending on your original data.</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You will provide the p,d, and q terms for the model.</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0"/>
              </a:spcAft>
              <a:buNone/>
            </a:pPr>
            <a:r>
              <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0"/>
              </a:spcAft>
              <a:buNone/>
            </a:pPr>
            <a:r>
              <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0"/>
              </a:spcAft>
              <a:buNone/>
            </a:pPr>
            <a:r>
              <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1600"/>
              </a:spcAft>
              <a:buNone/>
            </a:pPr>
            <a:r>
              <a:t/>
            </a:r>
            <a:endParaRPr sz="3000">
              <a:solidFill>
                <a:srgbClr val="434343"/>
              </a:solidFill>
              <a:latin typeface="Montserrat"/>
              <a:ea typeface="Montserrat"/>
              <a:cs typeface="Montserrat"/>
              <a:sym typeface="Montserrat"/>
            </a:endParaRPr>
          </a:p>
        </p:txBody>
      </p:sp>
      <p:pic>
        <p:nvPicPr>
          <p:cNvPr descr="watermark.jpg" id="813" name="Google Shape;813;p102"/>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814" name="Google Shape;814;p10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818" name="Shape 818"/>
        <p:cNvGrpSpPr/>
        <p:nvPr/>
      </p:nvGrpSpPr>
      <p:grpSpPr>
        <a:xfrm>
          <a:off x="0" y="0"/>
          <a:ext cx="0" cy="0"/>
          <a:chOff x="0" y="0"/>
          <a:chExt cx="0" cy="0"/>
        </a:xfrm>
      </p:grpSpPr>
      <p:sp>
        <p:nvSpPr>
          <p:cNvPr id="819" name="Google Shape;819;p10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820" name="Google Shape;820;p10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An ARIMA will then take three terms p,d, and q. (We’ll see this in the coding example)</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For seasonal ARIMA there will be an additional set of P,D,Q terms that we will see.</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0"/>
              </a:spcAft>
              <a:buNone/>
            </a:pPr>
            <a:r>
              <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0"/>
              </a:spcAft>
              <a:buNone/>
            </a:pPr>
            <a:r>
              <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0"/>
              </a:spcAft>
              <a:buNone/>
            </a:pPr>
            <a:r>
              <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1600"/>
              </a:spcAft>
              <a:buNone/>
            </a:pPr>
            <a:r>
              <a:t/>
            </a:r>
            <a:endParaRPr sz="3000">
              <a:solidFill>
                <a:srgbClr val="434343"/>
              </a:solidFill>
              <a:latin typeface="Montserrat"/>
              <a:ea typeface="Montserrat"/>
              <a:cs typeface="Montserrat"/>
              <a:sym typeface="Montserrat"/>
            </a:endParaRPr>
          </a:p>
        </p:txBody>
      </p:sp>
      <p:pic>
        <p:nvPicPr>
          <p:cNvPr descr="watermark.jpg" id="821" name="Google Shape;821;p103"/>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822" name="Google Shape;822;p10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826" name="Shape 826"/>
        <p:cNvGrpSpPr/>
        <p:nvPr/>
      </p:nvGrpSpPr>
      <p:grpSpPr>
        <a:xfrm>
          <a:off x="0" y="0"/>
          <a:ext cx="0" cy="0"/>
          <a:chOff x="0" y="0"/>
          <a:chExt cx="0" cy="0"/>
        </a:xfrm>
      </p:grpSpPr>
      <p:sp>
        <p:nvSpPr>
          <p:cNvPr id="827" name="Google Shape;827;p10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Python for Finance</a:t>
            </a:r>
            <a:endParaRPr>
              <a:latin typeface="Montserrat"/>
              <a:ea typeface="Montserrat"/>
              <a:cs typeface="Montserrat"/>
              <a:sym typeface="Montserrat"/>
            </a:endParaRPr>
          </a:p>
        </p:txBody>
      </p:sp>
      <p:sp>
        <p:nvSpPr>
          <p:cNvPr id="828" name="Google Shape;828;p10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Alright, now it is time to see all of this in action with Python and statsmodels!</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Let’s get started!</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0"/>
              </a:spcAft>
              <a:buNone/>
            </a:pPr>
            <a:r>
              <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0"/>
              </a:spcAft>
              <a:buNone/>
            </a:pPr>
            <a:r>
              <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0"/>
              </a:spcAft>
              <a:buNone/>
            </a:pPr>
            <a:r>
              <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1600"/>
              </a:spcAft>
              <a:buNone/>
            </a:pPr>
            <a:r>
              <a:t/>
            </a:r>
            <a:endParaRPr sz="3000">
              <a:solidFill>
                <a:srgbClr val="434343"/>
              </a:solidFill>
              <a:latin typeface="Montserrat"/>
              <a:ea typeface="Montserrat"/>
              <a:cs typeface="Montserrat"/>
              <a:sym typeface="Montserrat"/>
            </a:endParaRPr>
          </a:p>
        </p:txBody>
      </p:sp>
      <p:pic>
        <p:nvPicPr>
          <p:cNvPr descr="watermark.jpg" id="829" name="Google Shape;829;p104"/>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830" name="Google Shape;830;p10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834" name="Shape 834"/>
        <p:cNvGrpSpPr/>
        <p:nvPr/>
      </p:nvGrpSpPr>
      <p:grpSpPr>
        <a:xfrm>
          <a:off x="0" y="0"/>
          <a:ext cx="0" cy="0"/>
          <a:chOff x="0" y="0"/>
          <a:chExt cx="0" cy="0"/>
        </a:xfrm>
      </p:grpSpPr>
      <p:sp>
        <p:nvSpPr>
          <p:cNvPr id="835" name="Google Shape;835;p105"/>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ARIMA Code Along</a:t>
            </a:r>
            <a:endParaRPr b="1">
              <a:latin typeface="Montserrat"/>
              <a:ea typeface="Montserrat"/>
              <a:cs typeface="Montserrat"/>
              <a:sym typeface="Montserrat"/>
            </a:endParaRPr>
          </a:p>
        </p:txBody>
      </p:sp>
      <p:sp>
        <p:nvSpPr>
          <p:cNvPr id="836" name="Google Shape;836;p105"/>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Part Four</a:t>
            </a:r>
            <a:endParaRPr/>
          </a:p>
        </p:txBody>
      </p:sp>
      <p:pic>
        <p:nvPicPr>
          <p:cNvPr descr="watermark.jpg" id="837" name="Google Shape;837;p105"/>
          <p:cNvPicPr preferRelativeResize="0"/>
          <p:nvPr/>
        </p:nvPicPr>
        <p:blipFill rotWithShape="1">
          <a:blip r:embed="rId3">
            <a:alphaModFix/>
          </a:blip>
          <a:srcRect b="38251" l="51048" r="35216" t="14424"/>
          <a:stretch/>
        </p:blipFill>
        <p:spPr>
          <a:xfrm>
            <a:off x="152400" y="152400"/>
            <a:ext cx="890025" cy="859476"/>
          </a:xfrm>
          <a:prstGeom prst="rect">
            <a:avLst/>
          </a:prstGeom>
          <a:noFill/>
          <a:ln>
            <a:noFill/>
          </a:ln>
        </p:spPr>
      </p:pic>
      <p:pic>
        <p:nvPicPr>
          <p:cNvPr descr="watermark.jpg" id="838" name="Google Shape;838;p10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